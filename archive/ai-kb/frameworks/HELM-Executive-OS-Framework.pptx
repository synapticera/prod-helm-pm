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66CC"/>
                </a:solidFill>
              </a:rPr>
              <a:t>HELM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</a:rPr>
              <a:t>The Executive Operating System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A6872"/>
                </a:solidFill>
              </a:rPr>
              <a:t>Managing 20 Responsibilities to Drive Strategic Outcomes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66CC"/>
                </a:solidFill>
              </a:rPr>
              <a:t>"Your teams can execute 10x faster with AI. Can you manage 10x faster?"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</a:rPr>
              <a:t>HELM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</a:rPr>
              <a:t>The Complete Executive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The Three-Layer Executive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7315200" cy="1097280"/>
          </a:xfrm>
          <a:prstGeom prst="roundRect">
            <a:avLst>
              <a:gd name="adj" fmla="val 12500"/>
            </a:avLst>
          </a:prstGeom>
          <a:solidFill>
            <a:srgbClr val="0066CC"/>
          </a:solidFill>
          <a:ln w="50800">
            <a:solidFill>
              <a:srgbClr val="00A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Strategic Outcomes (The Why)
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Revenue Growth | Profitability | Market Leadership | Innovation | Excellence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3474720"/>
            <a:ext cx="7315200" cy="1280160"/>
          </a:xfrm>
          <a:prstGeom prst="roundRect">
            <a:avLst>
              <a:gd name="adj" fmla="val 10714"/>
            </a:avLst>
          </a:prstGeom>
          <a:solidFill>
            <a:srgbClr val="F8F9FA"/>
          </a:solidFill>
          <a:ln w="38100">
            <a:solidFill>
              <a:srgbClr val="00A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5661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Executive Management (The How × What)
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4 Functions × 5 Domains = 20 Responsibilities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Sense → Understand → Decide → Execute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Market | Process | People | Technology | Finance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71600" y="4297680"/>
            <a:ext cx="6400800" cy="36576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343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← HELM OPERATES HERE (Maintains Continuous Context) 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5029200"/>
            <a:ext cx="7315200" cy="1097280"/>
          </a:xfrm>
          <a:prstGeom prst="roundRect">
            <a:avLst>
              <a:gd name="adj" fmla="val 12500"/>
            </a:avLst>
          </a:prstGeom>
          <a:solidFill>
            <a:srgbClr val="F1F3F5"/>
          </a:solidFill>
          <a:ln w="50800">
            <a:solidFill>
              <a:srgbClr val="4D94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52120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Resources &amp; Execution (The Inputs)
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Human Resources | Technology (AI Agents, Automation) | Capital | Infrastructure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</a:rPr>
              <a:t>HELM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872"/>
                </a:solidFill>
              </a:rPr>
              <a:t>Executive Management Layer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The Matrix: 20 Executive Responsibilities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/>
              <a:tblGrid>
                <a:gridCol w="1188720"/>
                <a:gridCol w="1760220"/>
                <a:gridCol w="1760220"/>
                <a:gridCol w="1760220"/>
                <a:gridCol w="17602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Domain ↓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 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Sense</a:t>
                      </a:r>
                      <a:endParaRPr lang="en-US" sz="13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Understand</a:t>
                      </a:r>
                      <a:endParaRPr lang="en-US" sz="13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Decide</a:t>
                      </a:r>
                      <a:endParaRPr lang="en-US" sz="13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Execute</a:t>
                      </a:r>
                      <a:endParaRPr lang="en-US" sz="13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Market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Customer signals, competitive moves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Win/loss patterns, market position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Market strategy, positioning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Launches, campaigns, expansion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Process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Performance metrics, bottlenecks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Root causes, waste drivers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Automation priorities, capabilities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Process changes, optimization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People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Team performance, morale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Engagement drivers, culture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Hiring, org design, comp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Development, performance mgmt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Tech trends, adoption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Innovation opportunities, tech debt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Build/buy/partner, roadmap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Deployments, pilots, scaling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Finance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Burn rate, spending, ROI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Unit economics, profitability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Budget allocation, funding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ROI tracking, cash flow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Context is fragmented across all 20. HELM maintains continuous context.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</a:rPr>
              <a:t>HELM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1A1A"/>
                </a:solidFill>
              </a:rPr>
              <a:t>HELM Executive Operating System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6872"/>
                </a:solidFill>
              </a:rPr>
              <a:t>Eliminating the Management Bottleneck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4114800"/>
            <a:ext cx="6400800" cy="1371600"/>
          </a:xfrm>
          <a:prstGeom prst="roundRect">
            <a:avLst>
              <a:gd name="adj" fmla="val 10000"/>
            </a:avLst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42976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10x Execution × 10x Management = 10x Outcomes
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HELM maintains continuous context across all 20 executive responsibilities,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enabling faster decisions and superior strategic outcomes.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Synaptic Era,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HELM Executive Operating System Framework</dc:title>
  <dc:subject>Executive Function Model and HELM Value Proposition</dc:subject>
  <dc:creator>Synaptic</dc:creator>
  <cp:lastModifiedBy>Synaptic</cp:lastModifiedBy>
  <cp:revision>1</cp:revision>
  <dcterms:created xsi:type="dcterms:W3CDTF">2026-01-27T18:39:12Z</dcterms:created>
  <dcterms:modified xsi:type="dcterms:W3CDTF">2026-01-27T18:39:12Z</dcterms:modified>
</cp:coreProperties>
</file>