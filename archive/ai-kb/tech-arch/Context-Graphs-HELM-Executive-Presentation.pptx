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Projected ARR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1A9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Q2 2026
10 customers</c:v>
                  </c:pt>
                  <c:pt idx="1">
                    <c:v>Q3 2026
30 customers</c:v>
                  </c:pt>
                  <c:pt idx="2">
                    <c:v>Q4 2026
100 customers</c:v>
                  </c:pt>
                  <c:pt idx="3">
                    <c:v>Q1 2027
250 customers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15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 / Customer Count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Annual Recurring 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74527"/>
            <a:ext cx="77724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80"/>
              </a:lnSpc>
              <a:spcAft>
                <a:spcPts val="20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Graphs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10000" y="2178397"/>
            <a:ext cx="1524000" cy="63401"/>
          </a:xfrm>
          <a:prstGeom prst="rect">
            <a:avLst/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622798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HELM's Path to Organizational Memory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483173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AI agents from stateless tools</a:t>
            </a:r>
            <a:endParaRPr lang="en-US" sz="18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continuously learning decision-makers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15877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93268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"Amnesiac Agent"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396901"/>
            <a:ext cx="8127950" cy="122530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96901"/>
            <a:ext cx="0" cy="1225302"/>
          </a:xfrm>
          <a:prstGeom prst="line">
            <a:avLst/>
          </a:prstGeom>
          <a:noFill/>
          <a:ln w="76200">
            <a:solidFill>
              <a:srgbClr val="FB4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650802"/>
            <a:ext cx="769482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are deploying AI agents at scale, but hitting critical limitations: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876104"/>
            <a:ext cx="8127950" cy="130046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Organizational Memory: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 can't learn from past decisions or precedents</a:t>
            </a:r>
            <a:endParaRPr lang="en-US" sz="1400" dirty="0"/>
          </a:p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Decisions: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Can't explain "why" an agent made a decision</a:t>
            </a:r>
            <a:endParaRPr lang="en-US" sz="1400" dirty="0"/>
          </a:p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Mistakes: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errors occur because there's no pattern recognition</a:t>
            </a:r>
            <a:endParaRPr lang="en-US" sz="1400" dirty="0"/>
          </a:p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Theater: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 check policies but don't learn from exceptions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15877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93268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HELM's Solution: Context Graphs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396901"/>
            <a:ext cx="8127950" cy="1555552"/>
          </a:xfrm>
          <a:prstGeom prst="rect">
            <a:avLst/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96901"/>
            <a:ext cx="0" cy="1555552"/>
          </a:xfrm>
          <a:prstGeom prst="line">
            <a:avLst/>
          </a:prstGeom>
          <a:noFill/>
          <a:ln w="76200">
            <a:solidFill>
              <a:srgbClr val="01A9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650802"/>
            <a:ext cx="76948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Memory System for AI Agents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8051" y="2127052"/>
            <a:ext cx="7694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automatically builds a queryable context graph from agent executions - capturing not just what agents did, but WHY, with full evidence chains and governance.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50" y="3269903"/>
            <a:ext cx="2709416" cy="1349871"/>
          </a:xfrm>
          <a:prstGeom prst="roundRect">
            <a:avLst>
              <a:gd name="adj" fmla="val 75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5166" y="3460403"/>
            <a:ext cx="237498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75166" y="3971479"/>
            <a:ext cx="2374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Capture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5166" y="4247704"/>
            <a:ext cx="237498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execution enriches the graph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7366" y="3269903"/>
            <a:ext cx="2709267" cy="1349871"/>
          </a:xfrm>
          <a:prstGeom prst="roundRect">
            <a:avLst>
              <a:gd name="adj" fmla="val 75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84584" y="3460403"/>
            <a:ext cx="237483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4584" y="3971479"/>
            <a:ext cx="23748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Precedent-Based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4584" y="4247704"/>
            <a:ext cx="237483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query past decisions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26634" y="3269903"/>
            <a:ext cx="2709267" cy="1349871"/>
          </a:xfrm>
          <a:prstGeom prst="roundRect">
            <a:avLst>
              <a:gd name="adj" fmla="val 75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3851" y="3460403"/>
            <a:ext cx="237483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93851" y="3971479"/>
            <a:ext cx="23748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93851" y="4247704"/>
            <a:ext cx="237483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chains for audits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349276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39801"/>
            <a:ext cx="3810000" cy="116740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Nodes:</a:t>
            </a:r>
            <a:pPr algn="l" indent="0" marL="0">
              <a:lnSpc>
                <a:spcPts val="144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agent execution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Nodes:</a:t>
            </a:r>
            <a:pPr algn="l" indent="0" marL="0">
              <a:lnSpc>
                <a:spcPts val="144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Docs, APIs, tool outputs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Nodes:</a:t>
            </a:r>
            <a:pPr algn="l" indent="0" marL="0">
              <a:lnSpc>
                <a:spcPts val="144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 and compliance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Links:</a:t>
            </a:r>
            <a:pPr algn="l" indent="0" marL="0">
              <a:lnSpc>
                <a:spcPts val="144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decisions were made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Links:</a:t>
            </a:r>
            <a:pPr algn="l" indent="0" marL="0">
              <a:lnSpc>
                <a:spcPts val="144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past cases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3097709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Points: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3488234"/>
            <a:ext cx="3810000" cy="92124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graph writer in execution engine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query engine for retrieval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property graph database</a:t>
            </a:r>
            <a:endParaRPr lang="en-US" sz="1200" dirty="0"/>
          </a:p>
          <a:p>
            <a:pPr algn="l" marL="127000" indent="-127000">
              <a:lnSpc>
                <a:spcPts val="144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Vector search + Graph traversal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81830" y="1715036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01A9DB"/>
          </a:solidFill>
          <a:ln/>
        </p:spPr>
      </p:sp>
      <p:sp>
        <p:nvSpPr>
          <p:cNvPr id="9" name="Text 7"/>
          <p:cNvSpPr/>
          <p:nvPr/>
        </p:nvSpPr>
        <p:spPr>
          <a:xfrm>
            <a:off x="4881830" y="17150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04790" y="2263676"/>
            <a:ext cx="0" cy="27432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81830" y="2537996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7B68EE"/>
          </a:solidFill>
          <a:ln/>
        </p:spPr>
      </p:sp>
      <p:sp>
        <p:nvSpPr>
          <p:cNvPr id="12" name="Text 10"/>
          <p:cNvSpPr/>
          <p:nvPr/>
        </p:nvSpPr>
        <p:spPr>
          <a:xfrm>
            <a:off x="4881830" y="253799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04790" y="3086636"/>
            <a:ext cx="0" cy="27432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81830" y="3360956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B41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81830" y="33609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Graph Store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04790" y="3909596"/>
            <a:ext cx="0" cy="27432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81830" y="4183916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881830" y="41839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04790" y="4732556"/>
            <a:ext cx="0" cy="27432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81830" y="5006876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4881830" y="500687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Assembly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15877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93268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Compliance Query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396901"/>
            <a:ext cx="8127950" cy="87630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96901"/>
            <a:ext cx="0" cy="876300"/>
          </a:xfrm>
          <a:prstGeom prst="line">
            <a:avLst/>
          </a:prstGeom>
          <a:noFill/>
          <a:ln w="76200">
            <a:solidFill>
              <a:srgbClr val="FB4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587401"/>
            <a:ext cx="76948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8051" y="1863626"/>
            <a:ext cx="76948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was Task #T-1234 approved for $10K refund when policy limit is $5K?"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50" y="2527102"/>
            <a:ext cx="8127950" cy="2351633"/>
          </a:xfrm>
          <a:prstGeom prst="roundRect">
            <a:avLst>
              <a:gd name="adj" fmla="val 432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2781002"/>
            <a:ext cx="77725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Graph Returns: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851" y="3171527"/>
            <a:ext cx="7620149" cy="137710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Context: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 limit $5K (REFUND-001 v2.3), exception requires executive approval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had 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outages in 30 days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SLA contract clause (page 12)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Precedent: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case Task #T-0987 (60 days ago) approved for $8.5K with 3 outages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Chain: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Initiated by agent → Reviewed by manager → 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 VP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</a:t>
            </a:r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0.92 (High) - based on clear precedent and documented evidence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15877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93268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396901"/>
            <a:ext cx="8127950" cy="1150441"/>
          </a:xfrm>
          <a:prstGeom prst="roundRect">
            <a:avLst>
              <a:gd name="adj" fmla="val 8831"/>
            </a:avLst>
          </a:prstGeom>
          <a:solidFill>
            <a:srgbClr val="E8F8F5"/>
          </a:solidFill>
          <a:ln w="19050">
            <a:solidFill>
              <a:srgbClr val="01A9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5081" y="1669852"/>
            <a:ext cx="7733690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organizational memory system that makes AI agents trustworthy, auditable, and continuously learning"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50" y="2801243"/>
            <a:ext cx="2709416" cy="91440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2953643"/>
            <a:ext cx="24527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0350" y="3201293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in CRM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0350" y="3420368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 Cross-system memory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17366" y="2801243"/>
            <a:ext cx="2709267" cy="91440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69766" y="2953643"/>
            <a:ext cx="24525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/ AutoGPT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9766" y="3201293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governance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9766" y="3420368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 Governed precedents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26634" y="2801243"/>
            <a:ext cx="2709267" cy="91440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9034" y="2953643"/>
            <a:ext cx="24525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Aporia / Arthur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79034" y="3201293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79034" y="3420368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 Proactive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 &amp; Growth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22177"/>
            <a:ext cx="3555950" cy="1024086"/>
          </a:xfrm>
          <a:prstGeom prst="roundRect">
            <a:avLst>
              <a:gd name="adj" fmla="val 99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374577"/>
            <a:ext cx="33161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HELM License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0350" y="1676102"/>
            <a:ext cx="331617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features, basic governance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1922413"/>
            <a:ext cx="33161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$50K/year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398663"/>
            <a:ext cx="3555950" cy="1024086"/>
          </a:xfrm>
          <a:prstGeom prst="roundRect">
            <a:avLst>
              <a:gd name="adj" fmla="val 99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551063"/>
            <a:ext cx="33161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Graph Add-On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0350" y="2852589"/>
            <a:ext cx="331617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discovery, first 1M decisions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350" y="3098899"/>
            <a:ext cx="33161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$100K/year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575149"/>
            <a:ext cx="3555950" cy="1024086"/>
          </a:xfrm>
          <a:prstGeom prst="roundRect">
            <a:avLst>
              <a:gd name="adj" fmla="val 99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3727549"/>
            <a:ext cx="33161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350" y="4029075"/>
            <a:ext cx="331617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decisions, advanced analytics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0350" y="4275386"/>
            <a:ext cx="33161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$500K/year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444901" y="1222177"/>
          <a:ext cx="4229100" cy="2552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15877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93268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396901"/>
            <a:ext cx="2032099" cy="1837283"/>
          </a:xfrm>
          <a:prstGeom prst="roundRect">
            <a:avLst>
              <a:gd name="adj" fmla="val 553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420713"/>
            <a:ext cx="2032099" cy="0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635026"/>
            <a:ext cx="1684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8450" y="1911251"/>
            <a:ext cx="16841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2181076"/>
            <a:ext cx="1651099" cy="8118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Neo4j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schema design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writer integration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queries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0050" y="1396901"/>
            <a:ext cx="2031950" cy="1837283"/>
          </a:xfrm>
          <a:prstGeom prst="roundRect">
            <a:avLst>
              <a:gd name="adj" fmla="val 553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40050" y="1420713"/>
            <a:ext cx="2031950" cy="0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0550" y="1635026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30550" y="191125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30550" y="2181076"/>
            <a:ext cx="1650950" cy="8118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nodes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tracking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396901"/>
            <a:ext cx="2031950" cy="1837283"/>
          </a:xfrm>
          <a:prstGeom prst="roundRect">
            <a:avLst>
              <a:gd name="adj" fmla="val 553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0" y="1420713"/>
            <a:ext cx="2031950" cy="0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2500" y="1635026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Precedents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62500" y="191125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62500" y="2181076"/>
            <a:ext cx="1650950" cy="8118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calculation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engine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integration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queries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03950" y="1396901"/>
            <a:ext cx="2031950" cy="1837283"/>
          </a:xfrm>
          <a:prstGeom prst="roundRect">
            <a:avLst>
              <a:gd name="adj" fmla="val 553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603950" y="1420713"/>
            <a:ext cx="2031950" cy="0"/>
          </a:xfrm>
          <a:prstGeom prst="line">
            <a:avLst/>
          </a:prstGeom>
          <a:noFill/>
          <a:ln w="47625">
            <a:solidFill>
              <a:srgbClr val="FB4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4450" y="1635026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94450" y="191125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B4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13-16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94450" y="2181076"/>
            <a:ext cx="1650950" cy="81185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reasoning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chains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extraction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62000" y="1406426"/>
            <a:ext cx="7620000" cy="1981795"/>
          </a:xfrm>
          <a:prstGeom prst="rect">
            <a:avLst/>
          </a:prstGeom>
          <a:solidFill>
            <a:srgbClr val="01A9D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0575" y="1406426"/>
            <a:ext cx="0" cy="1981795"/>
          </a:xfrm>
          <a:prstGeom prst="line">
            <a:avLst/>
          </a:prstGeom>
          <a:noFill/>
          <a:ln w="57150">
            <a:solidFill>
              <a:srgbClr val="01A9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9650" y="1596926"/>
            <a:ext cx="73254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9650" y="2044601"/>
            <a:ext cx="7181850" cy="107692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Timing: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 is "year of agent deployment" - enterprises need this NOW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 databases mature, academic research validates approach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Window: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12-18 month head start if we move fast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642122"/>
            <a:ext cx="7620000" cy="781050"/>
          </a:xfrm>
          <a:prstGeom prst="roundRect">
            <a:avLst>
              <a:gd name="adj" fmla="val 13008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8972" y="3870722"/>
            <a:ext cx="7306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compliance tool → organizational brain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Graphs: HELM's Path to Organizational Memory</dc:title>
  <dc:subject>Strategic Technology Initiative</dc:subject>
  <dc:creator>HELM Product Team</dc:creator>
  <cp:lastModifiedBy>HELM Product Team</cp:lastModifiedBy>
  <cp:revision>1</cp:revision>
  <dcterms:created xsi:type="dcterms:W3CDTF">2026-01-26T14:25:32Z</dcterms:created>
  <dcterms:modified xsi:type="dcterms:W3CDTF">2026-01-26T14:25:32Z</dcterms:modified>
</cp:coreProperties>
</file>