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Strategic Path Analysis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1A9DB"/>
                </a:solidFill>
              </a:defRPr>
            </a:pPr>
            <a:r>
              <a:t>Services + Product Business Decision Framework</a:t>
            </a:r>
          </a:p>
          <a:p>
            <a:pPr algn="ctr">
              <a:spcBef>
                <a:spcPts val="4000"/>
              </a:spcBef>
              <a:defRPr sz="1800">
                <a:solidFill>
                  <a:srgbClr val="44546A"/>
                </a:solidFill>
              </a:defRPr>
            </a:pPr>
            <a:r>
              <a:t>January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3250"/>
          </a:solidFill>
          <a:ln>
            <a:solidFill>
              <a:srgbClr val="01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2400">
                <a:solidFill>
                  <a:srgbClr val="FB4100"/>
                </a:solidFill>
              </a:defRPr>
            </a:pPr>
            <a:r>
              <a:t>The Situation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Pivotal decision point with two assets: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1. Services: $4M Salesforce consulting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2. Product (Helm): AI decision infra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Critical Question: Belief in Helm's market timing &amp; execution?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029200" cy="4114800"/>
          </a:xfrm>
          <a:prstGeom prst="roundRect">
            <a:avLst/>
          </a:prstGeom>
          <a:solidFill>
            <a:srgbClr val="14325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2400">
                <a:solidFill>
                  <a:srgbClr val="2ECC71"/>
                </a:solidFill>
              </a:defRPr>
            </a:pPr>
            <a:r>
              <a:t>Recommendation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Path 4: Strategic Leverage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Use services strategically to de-risk product development.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Maintain optionality.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Not full lean, not full liquidation.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A nuanced, phased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Market Context: 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1A9DB"/>
                </a:solidFill>
              </a:defRPr>
            </a:pPr>
            <a:r>
              <a:t>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1A9DB"/>
                </a:solidFill>
              </a:defRPr>
            </a:pPr>
            <a:r>
              <a:t>Data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1A9DB"/>
                </a:solidFill>
              </a:defRPr>
            </a:pPr>
            <a:r>
              <a:t>Implication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10332720" cy="18288"/>
          </a:xfrm>
          <a:prstGeom prst="rect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Agent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40% of enterprise apps by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Massive deployment wave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10332720" cy="18288"/>
          </a:xfrm>
          <a:prstGeom prst="rect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Governance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33% of AI deployments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Mgmt infra is urgent need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00400"/>
            <a:ext cx="10332720" cy="18288"/>
          </a:xfrm>
          <a:prstGeom prst="rect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Spending deferral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91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25% of AI spend moving to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91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CFOs demanding ROI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40480"/>
            <a:ext cx="10332720" cy="18288"/>
          </a:xfrm>
          <a:prstGeom prst="rect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Regulatory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EU AI Act effective Aug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931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Compliance is mandatory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480560"/>
            <a:ext cx="10332720" cy="18288"/>
          </a:xfrm>
          <a:prstGeom prst="rect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VC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72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t>Foundation Cap $4.6T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Decision infra is THE opp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1A9DB"/>
                </a:solidFill>
              </a:defRPr>
            </a:pPr>
            <a:r>
              <a:t>Insight: Market window is 12-24 months. Speed is critical.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Path 1: 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Keep services lean &amp; cash-flow positive. Fund product from profits.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ECC71"/>
                </a:solidFill>
              </a:defRPr>
            </a:pPr>
            <a: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Focus (single direction)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Capital efficiency (no dilution)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Runway to PMF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Optionality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B4100"/>
                </a:solidFill>
              </a:defRPr>
            </a:pPr>
            <a:r>
              <a:t>CONS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Speed disadvantage vs funded competitors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Team morale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Single point of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657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Misses 12-24mo market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371600"/>
          </a:xfrm>
          <a:prstGeom prst="rect">
            <a:avLst/>
          </a:prstGeom>
          <a:solidFill>
            <a:srgbClr val="641E1E"/>
          </a:solidFill>
          <a:ln>
            <a:solidFill>
              <a:srgbClr val="FB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>
                <a:solidFill>
                  <a:srgbClr val="FB4100"/>
                </a:solidFill>
              </a:defRPr>
            </a:pPr>
            <a:r>
              <a:t>ASSESSMENT: High Risk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Underestimates urgency. You might perfect the product just as the window closes.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Path 2: LIQUIDATE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Sell services (~$5M net). Fund product aggressively.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1A9DB"/>
                </a:solidFill>
              </a:defRPr>
            </a:pPr>
            <a:r>
              <a:t>Potential Outcomes:</a:t>
            </a:r>
          </a:p>
          <a:p>
            <a:r>
              <a:t>Low: $5.5M Net</a:t>
            </a:r>
          </a:p>
          <a:p>
            <a:r>
              <a:t>Mid: $7M Net</a:t>
            </a:r>
          </a:p>
          <a:p>
            <a:r>
              <a:t>High: $10M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2ECC71"/>
                </a:solidFill>
              </a:defRPr>
            </a:pPr>
            <a:r>
              <a:t>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Full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Capitalization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Clean Narrative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Transaction distraction (6-12mo)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Cash timing (Earnouts)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All-in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Lose 'Lab'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1274552" cy="1371600"/>
          </a:xfrm>
          <a:prstGeom prst="rect">
            <a:avLst/>
          </a:prstGeom>
          <a:solidFill>
            <a:srgbClr val="503C14"/>
          </a:solidFill>
          <a:ln>
            <a:solidFill>
              <a:srgbClr val="FB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>
                <a:solidFill>
                  <a:srgbClr val="FB4100"/>
                </a:solidFill>
              </a:defRPr>
            </a:pPr>
            <a:r>
              <a:t>ASSESSMENT: High Reward / High Execution Risk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Theoretically optimal but practically risky unless buyer is ready NOW. M&amp;A is a huge distraction.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Path 3: GROWTH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Hire services leader. Raise VC for product. Grow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2ECC71"/>
                </a:solidFill>
              </a:defRPr>
            </a:pPr>
            <a: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Diversification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Services as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Cash flow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B4100"/>
                </a:solidFill>
              </a:defRPr>
            </a:pPr>
            <a:r>
              <a:t>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94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Focus Dilution (Very High)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Capital Intensive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VCs dislike hybrid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Culture clash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11274552" cy="1097280"/>
          </a:xfrm>
          <a:prstGeom prst="roundRect">
            <a:avLst/>
          </a:prstGeom>
          <a:solidFill>
            <a:srgbClr val="1E1E1E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>
                <a:solidFill>
                  <a:srgbClr val="C8C8C8"/>
                </a:solidFill>
              </a:defRPr>
            </a:pPr>
            <a:r>
              <a:t>VC Reality: Pure product companies get 30-40x multiples. Hybrid gets 10-15x. Services revenue drags down valuation.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solidFill>
            <a:srgbClr val="641E1E"/>
          </a:solidFill>
          <a:ln>
            <a:solidFill>
              <a:srgbClr val="FB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>
                <a:solidFill>
                  <a:srgbClr val="FB4100"/>
                </a:solidFill>
              </a:defRPr>
            </a:pPr>
            <a:r>
              <a:t>ASSESSMENT: Overcomplicated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VCs will likely push you to spin off anyway. Synergy is often overstated.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Path 4: STRATEGIC LEVERAGE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1A9DB"/>
                </a:solidFill>
              </a:defRPr>
            </a:pPr>
            <a:r>
              <a:t>Use services as a bridge. Extract value, fund product validation, maintain optionality.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3200400"/>
          </a:xfrm>
          <a:prstGeom prst="roundRect">
            <a:avLst/>
          </a:prstGeom>
          <a:solidFill>
            <a:srgbClr val="143250"/>
          </a:solidFill>
          <a:ln>
            <a:solidFill>
              <a:srgbClr val="01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800">
                <a:solidFill>
                  <a:srgbClr val="01A9DB"/>
                </a:solidFill>
              </a:defRPr>
            </a:pPr>
            <a:r>
              <a:t>Phase 1: Strategic Extraction (Months 1-12)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1. Optimize services for cash (Target 20% EBITDA)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2. Use services as 'Product Lab' (Design partners)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3. Soft-market the services business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4. Fund initial product dev (MVP)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303520" cy="3200400"/>
          </a:xfrm>
          <a:prstGeom prst="roundRect">
            <a:avLst/>
          </a:prstGeom>
          <a:solidFill>
            <a:srgbClr val="14325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800">
                <a:solidFill>
                  <a:srgbClr val="2ECC71"/>
                </a:solidFill>
              </a:defRPr>
            </a:pPr>
            <a:r>
              <a:t>Phase 2: Decision Point (Month 12-18)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A: Product Winning -&gt; Accelerate sale, raise Series A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B: Product Promising -&gt; Maintain hybrid, seed raise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C: Product Struggling -&gt; Pivot or double-down on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B4100"/>
                </a:solidFill>
              </a:defRPr>
            </a:pPr>
            <a:r>
              <a:t>Why: Preserves optionality, uses time wisely, de-risks for VCs, maintains focus.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Expected Value Analysis (3-Year)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Strategic Path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Expected Value (Probability Weighted)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Path 1: Lean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$17.8M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Path 2: Liquidate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$30.5M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Path 3: Growth Both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$32.2M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Path 4: Strategic Leverage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2ECC71"/>
                          </a:solidFill>
                        </a:defRPr>
                      </a:pPr>
                      <a:r>
                        <a:t>$37.8M</a:t>
                      </a:r>
                    </a:p>
                  </a:txBody>
                  <a:tcPr>
                    <a:solidFill>
                      <a:srgbClr val="1E3C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ight Arrow 2"/>
          <p:cNvSpPr/>
          <p:nvPr/>
        </p:nvSpPr>
        <p:spPr>
          <a:xfrm>
            <a:off x="914400" y="2286000"/>
            <a:ext cx="10332720" cy="457200"/>
          </a:xfrm>
          <a:prstGeom prst="rightArrow">
            <a:avLst/>
          </a:prstGeom>
          <a:solidFill>
            <a:srgbClr val="44546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1A9DB"/>
                </a:solidFill>
              </a:defRPr>
            </a:pPr>
            <a:r>
              <a:t>Months 1-3</a:t>
            </a:r>
          </a:p>
          <a:p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017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Optimize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Soft-market Svcs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49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Identify 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1A9DB"/>
                </a:solidFill>
              </a:defRPr>
            </a:pPr>
            <a:r>
              <a:t>Months 4-6</a:t>
            </a:r>
          </a:p>
          <a:p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17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Deploy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Case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749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Investor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1A9DB"/>
                </a:solidFill>
              </a:defRPr>
            </a:pPr>
            <a:r>
              <a:t>Months 7-12</a:t>
            </a:r>
          </a:p>
          <a:p>
            <a:r>
              <a:t>Decision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017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Assess PMF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83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Choose: Sell/Raise/Pivot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1A9DB"/>
                </a:solidFill>
              </a:defRPr>
            </a:pPr>
            <a:r>
              <a:t>Months 13-24</a:t>
            </a:r>
          </a:p>
          <a:p>
            <a:r>
              <a:t>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Scale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• Optimize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1A9DB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5752" cy="2743200"/>
          </a:xfrm>
          <a:prstGeom prst="roundRect">
            <a:avLst/>
          </a:prstGeom>
          <a:solidFill>
            <a:srgbClr val="14325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Don't go lean (too slow). Don't rush to liquidate (too risky). Don't split focus.</a:t>
            </a:r>
          </a:p>
          <a:p>
            <a:pPr algn="ctr">
              <a:spcBef>
                <a:spcPts val="3000"/>
              </a:spcBef>
              <a:defRPr sz="3200" b="1">
                <a:solidFill>
                  <a:srgbClr val="01A9DB"/>
                </a:solidFill>
              </a:defRPr>
            </a:pPr>
            <a:r>
              <a:t>Use services as a strategic bridge to your product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445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B4100"/>
                </a:solidFill>
              </a:defRPr>
            </a:pPr>
            <a:r>
              <a:t>Decisions needed: Cash flow targets? RS buyer status? Product conviction?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