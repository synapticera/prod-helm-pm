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128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4361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82880" y="182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Helm by Synaptic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Executive Agent for Service Leaders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1A9DB"/>
                </a:solidFill>
              </a:rPr>
              <a:t>Give service leaders the insight and control they need to evolve their operations with confidence and impact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Seed Extension Round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1A9DB"/>
                </a:solidFill>
              </a:rPr>
              <a:t>January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46A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182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253D"/>
                </a:solidFill>
              </a:rPr>
              <a:t>Helm by Synaptic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253D"/>
                </a:solidFill>
              </a:rPr>
              <a:t>The AI Agent Explosion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A9DB"/>
                </a:solidFill>
              </a:rPr>
              <a:t>Market Inflection Point (2026)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Gartner: 40% of enterprise apps will feature task-specific AI agents by end of 2026 (vs &lt;5% in 2025)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Microsoft/Stanford HAI: Shift from "AI evangelism" to "pragmatic AI evaluation" in 2026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Industry consensus: Agent adoption moving from pilots to production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A9DB"/>
                </a:solidFill>
              </a:rPr>
              <a:t>Why Customer Service First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158,000 total addressable companies (150K SMB + 8K enterprise)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Highest ROI AI use case: cost per contact, CSAT improvement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Salesforce Service Cloud: 70K+ customers, $9B revenue (~$125K ACV)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33% of deployments failing due to lack of governance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46A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182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253D"/>
                </a:solidFill>
              </a:rPr>
              <a:t>Helm by Synaptic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253D"/>
                </a:solidFill>
              </a:rPr>
              <a:t>The AI Deployment Crisis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4100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33% of service AI deployments fail due to lack of decision context and governance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Companies mistake "deploying an agent" for "managing decisions"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No audit trail for compliance and transparency (increasingly required)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Historic: 95% of AI pilots deliver zero ROI (MIT), 85% fail before value (Gartner)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A9DB"/>
                </a:solidFill>
              </a:rPr>
              <a:t>Why This Matters Now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EU AI Act fully applicable August 2, 2026 (mandatory governance/transparency)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60% of Fortune 100 will appoint Chief AI Officer in 2026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Regulatory pressure forces "meaningful human review" of AI decisions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46A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182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253D"/>
                </a:solidFill>
              </a:rPr>
              <a:t>Helm by Synaptic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253D"/>
                </a:solidFill>
              </a:rPr>
              <a:t>Market Evolution &amp; Emerging Category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A9DB"/>
                </a:solidFill>
              </a:rPr>
              <a:t>Category Crystallization (2026)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Gartner: Decision Intelligence is #1 trend in 2026 Hype Cycle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Forrester: Agent Control Planes becoming essential governance layer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VCs/Foundation Capital: Context Graphs and "Execution Intelligence Layer" as key infrastructure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A9DB"/>
                </a:solidFill>
              </a:rPr>
              <a:t>TAM Expansion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Base TAM: 158,000 companies deploying customer service AI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40% agent adoption by 2026 = billions in software transformation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Revenue TAM: $2-3B annual market opportunity for decision intelligence infrastructure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46A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182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253D"/>
                </a:solidFill>
              </a:rPr>
              <a:t>Helm by Synaptic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253D"/>
                </a:solidFill>
              </a:rPr>
              <a:t>Helm's Unique Approach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A9DB"/>
                </a:solidFill>
              </a:rPr>
              <a:t>What Helm Does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Mine: Captures how decisions are made across your customer service operation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Design: Helps you design better processes and agent workflows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Manage: Continuously monitors and improves with governance guardrails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A9DB"/>
                </a:solidFill>
              </a:rPr>
              <a:t>Key Differentiators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Executive-Friendly: Natural language interface, no technical training required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Fast Time-to-Value: Start free, get insights immediately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AI-Native: Continuously learns and improves from usage patterns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Platform Independent: Works across Salesforce, Zendesk, and any system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46A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182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253D"/>
                </a:solidFill>
              </a:rPr>
              <a:t>Helm by Synaptic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253D"/>
                </a:solidFill>
              </a:rPr>
              <a:t>Four-Module Monetization Journey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182880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7253D"/>
                          </a:solidFill>
                        </a:rPr>
                        <a:t>Module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7253D"/>
                          </a:solidFill>
                        </a:rPr>
                        <a:t>Purpose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7253D"/>
                          </a:solidFill>
                        </a:rPr>
                        <a:t>Price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7253D"/>
                          </a:solidFill>
                        </a:rPr>
                        <a:t>Users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Explore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Build user base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Free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Individual Contributors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Mine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Baseline understanding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$10K-$50K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Directors, VPs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Design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AI-readiness plan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$25K-$100K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VPs, C-Suite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Manage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Continuous improvement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$500-$50K/mo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C-Suite, Operations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546A"/>
                </a:solidFill>
              </a:rPr>
              <a:t>Result: 2% freemium conversion → 50K+ free users → $1-2M Y1 ARR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46A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182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253D"/>
                </a:solidFill>
              </a:rPr>
              <a:t>Helm by Synaptic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253D"/>
                </a:solidFill>
              </a:rPr>
              <a:t>The Unfair Advantage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A9DB"/>
                </a:solidFill>
              </a:rPr>
              <a:t>Four Interconnected Advantages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1. AI-Native Architecture: Every component AI-driven = simplified deployment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2. Platform Independence: Multi-platform aware, unbiased, vendor-neutral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3. Data Network Effects: Fleet learning + peer benchmarks = true moat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4. First-Mover Advantage: Own "Executive Agent" category (12-18 month window)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4100"/>
                </a:solidFill>
              </a:rPr>
              <a:t>Why Competitors Can't Match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Legacy Vendors: Trapped in enterprise model, no network effects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Incumbents (Salesforce): Platform bias, can't be trustworthy governance layer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46A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182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253D"/>
                </a:solidFill>
              </a:rPr>
              <a:t>Helm by Synaptic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253D"/>
                </a:solidFill>
              </a:rPr>
              <a:t>5-Year Financial Trajectory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7253D"/>
                          </a:solidFill>
                        </a:rPr>
                        <a:t>Year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7253D"/>
                          </a:solidFill>
                        </a:rPr>
                        <a:t>Free Users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7253D"/>
                          </a:solidFill>
                        </a:rPr>
                        <a:t>Paying Customers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7253D"/>
                          </a:solidFill>
                        </a:rPr>
                        <a:t>ARR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7253D"/>
                          </a:solidFill>
                        </a:rPr>
                        <a:t>NDR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4546A"/>
                          </a:solidFill>
                        </a:rPr>
                        <a:t>Y1 (2026)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4546A"/>
                          </a:solidFill>
                        </a:rPr>
                        <a:t>50,000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4546A"/>
                          </a:solidFill>
                        </a:rPr>
                        <a:t>500-1K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4546A"/>
                          </a:solidFill>
                        </a:rPr>
                        <a:t>$1-2M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4546A"/>
                          </a:solidFill>
                        </a:rPr>
                        <a:t>110-120%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4546A"/>
                          </a:solidFill>
                        </a:rPr>
                        <a:t>Y2 (2027)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4546A"/>
                          </a:solidFill>
                        </a:rPr>
                        <a:t>200,000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4546A"/>
                          </a:solidFill>
                        </a:rPr>
                        <a:t>2.5-4K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4546A"/>
                          </a:solidFill>
                        </a:rPr>
                        <a:t>$5-10M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4546A"/>
                          </a:solidFill>
                        </a:rPr>
                        <a:t>130-150%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4546A"/>
                          </a:solidFill>
                        </a:rPr>
                        <a:t>Y3 (2028)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4546A"/>
                          </a:solidFill>
                        </a:rPr>
                        <a:t>500,000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4546A"/>
                          </a:solidFill>
                        </a:rPr>
                        <a:t>7-10K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4546A"/>
                          </a:solidFill>
                        </a:rPr>
                        <a:t>$20-40M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4546A"/>
                          </a:solidFill>
                        </a:rPr>
                        <a:t>140-160%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4546A"/>
                          </a:solidFill>
                        </a:rPr>
                        <a:t>Y5 (2030)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4546A"/>
                          </a:solidFill>
                        </a:rPr>
                        <a:t>2M+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4546A"/>
                          </a:solidFill>
                        </a:rPr>
                        <a:t>18-20K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4546A"/>
                          </a:solidFill>
                        </a:rPr>
                        <a:t>$100-150M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4546A"/>
                          </a:solidFill>
                        </a:rPr>
                        <a:t>150-180%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4546A"/>
                </a:solidFill>
              </a:rPr>
              <a:t>Key Driver: 2% freemium conversion + 130-180% NDR = exponential growth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46A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182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253D"/>
                </a:solidFill>
              </a:rPr>
              <a:t>Helm by Synaptic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253D"/>
                </a:solidFill>
              </a:rPr>
              <a:t>Unit Economics &amp; Path to Profitability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1371600"/>
        </p:xfrm>
        <a:graphic>
          <a:graphicData uri="http://schemas.openxmlformats.org/drawingml/2006/table">
            <a:tbl>
              <a:tblPr/>
              <a:tblGrid>
                <a:gridCol w="1719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7253D"/>
                          </a:solidFill>
                        </a:rPr>
                        <a:t>Segment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7253D"/>
                          </a:solidFill>
                        </a:rPr>
                        <a:t>LTV:CAC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7253D"/>
                          </a:solidFill>
                        </a:rPr>
                        <a:t>CAC Payback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7253D"/>
                          </a:solidFill>
                        </a:rPr>
                        <a:t>Gross Margin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7253D"/>
                          </a:solidFill>
                        </a:rPr>
                        <a:t>NDR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SMB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80-250:1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1-2 mo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80-85%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110-120%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Mid-Market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100-300:1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2-4 mo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82-87%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130-150%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Enterprise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100-400:1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3-6 mo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85-90%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140-180%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468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A9DB"/>
                </a:solidFill>
              </a:rPr>
              <a:t>Profitability Timeline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27432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Gross Margin: 80-85% from day 1 (software high margin)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EBITDA Positive: Year 2-3 (when growth moderates)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Path to $100M ARR: Year 5 (sustainable, cash-generative)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46A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182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253D"/>
                </a:solidFill>
              </a:rPr>
              <a:t>Helm by Synaptic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253D"/>
                </a:solidFill>
              </a:rPr>
              <a:t>Three-Phase Market Expansion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A9DB"/>
                </a:solidFill>
              </a:rPr>
              <a:t>Phase 1: SMB Domination (Y1-2)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Beachhead: 150K SMB via Salesforce AppExchange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Target: 50K free → 1K paying → $1-2M ARR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A9DB"/>
                </a:solidFill>
              </a:rPr>
              <a:t>Phase 2: Mid-Market Expansion (Y2-3)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Leverage: 5K+ SMB proof points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Target: 200K free → 4K paying → $5-10M ARR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A9DB"/>
                </a:solidFill>
              </a:rPr>
              <a:t>Phase 3: Enterprise &amp; Vertical Expansion (Y3+)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Grassroots adoption + benchmarking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Target: 500K+ free → 10K+ paying → $20-40M+ ARR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Expand: Finance, IT, HR, Support operations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46A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182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253D"/>
                </a:solidFill>
              </a:rPr>
              <a:t>Helm by Synaptic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253D"/>
                </a:solidFill>
              </a:rPr>
              <a:t>Expansion &amp; Retention Strategy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A9DB"/>
                </a:solidFill>
              </a:rPr>
              <a:t>Expansion Revenue Levers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Explore → Mine: 60% conversion (baseline understanding)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Mine → Design: 40% conversion (roadmap needed)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Design → Manage: 50% conversion (governance required)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Cross-team adoption: Finance, Operations, HR teams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A9DB"/>
                </a:solidFill>
              </a:rPr>
              <a:t>Network Effects &amp; Retention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Peer benchmarking: 130-180% NDR driven by expansion revenue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Fleet learning: Every customer makes product smarter (network effects)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Viral coefficient: Industry benchmarks incentivize sharing (NPS 50+ target)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46A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182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253D"/>
                </a:solidFill>
              </a:rPr>
              <a:t>Helm by Synaptic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253D"/>
                </a:solidFill>
              </a:rPr>
              <a:t>Traction &amp; Early Validation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4100"/>
                </a:solidFill>
              </a:rPr>
              <a:t>Product Status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[To fill in]: MVP status, beta users, pilot customers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[To fill in]: User signups or waitlist size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A9DB"/>
                </a:solidFill>
              </a:rPr>
              <a:t>Triple Validation Framework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Customer Conversations: Service leaders report urgent need for governance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Our Own Products: MAX, Claude Code show teams hitting constraints daily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Market Validation: Ed Sim, Gartner, Forrester publishing same thesis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A9DB"/>
                </a:solidFill>
              </a:rPr>
              <a:t>Product Demonstration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Radar UI Prototype: Interactive visualization of real-time decision patterns (Mine module)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46A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182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253D"/>
                </a:solidFill>
              </a:rPr>
              <a:t>Helm by Synaptic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253D"/>
                </a:solidFill>
              </a:rPr>
              <a:t>Product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A9DB"/>
                </a:solidFill>
              </a:rPr>
              <a:t>Q1 2026 (Current Release)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[To fill in]: MVP feature set and current capabilities shipped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A9DB"/>
                </a:solidFill>
              </a:rPr>
              <a:t>Q2-Q3 2026 (Near-Term)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[To fill in]: Key features and customer feedback integration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A9DB"/>
                </a:solidFill>
              </a:rPr>
              <a:t>Q4 2026 - Q2 2027 (Mid-Term)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[To fill in]: New module capabilities and vertical specialization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A9DB"/>
                </a:solidFill>
              </a:rPr>
              <a:t>2027+ (Long-Term)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[To fill in]: Enterprise features and expansion to adjacent verticals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46A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182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253D"/>
                </a:solidFill>
              </a:rPr>
              <a:t>Helm by Synaptic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253D"/>
                </a:solidFill>
              </a:rPr>
              <a:t>The Ask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4100"/>
                </a:solidFill>
              </a:rPr>
              <a:t>Funding Request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[To fill in]: Amount sought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[To fill in]: Round structure (SAFE, priced, etc.)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A9DB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Engineering/Product: [To fill in: %]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Sales &amp; Marketing: [To fill in: %]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Operations: [To fill in: %]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A9DB"/>
                </a:solidFill>
              </a:rPr>
              <a:t>Key Milestones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</a:rPr>
              <a:t>[To fill in]: 3-4 major objectives and targets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46A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4572000" y="0"/>
            <a:ext cx="4572000" cy="5143500"/>
          </a:xfrm>
          <a:prstGeom prst="rect">
            <a:avLst/>
          </a:prstGeom>
          <a:solidFill>
            <a:srgbClr val="01A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182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Helm by Synaptic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Building the Future of Agent Governance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40% of enterprise apps getting agents by end of 2026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Market need for governance infrastructure is acute and urgent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Category crystallizing as essential infrastructure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46A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1208</Words>
  <Application>Microsoft Macintosh PowerPoint</Application>
  <PresentationFormat>On-screen Show (16:9)</PresentationFormat>
  <Paragraphs>257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Bill Karpovich</cp:lastModifiedBy>
  <cp:revision>2</cp:revision>
  <dcterms:created xsi:type="dcterms:W3CDTF">2026-01-05T23:59:50Z</dcterms:created>
  <dcterms:modified xsi:type="dcterms:W3CDTF">2026-01-06T00:03:35Z</dcterms:modified>
</cp:coreProperties>
</file>