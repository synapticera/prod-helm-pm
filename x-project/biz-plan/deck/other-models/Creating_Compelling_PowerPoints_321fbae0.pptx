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506730" y="1663700"/>
            <a:ext cx="11148060" cy="1625600"/>
          </a:xfrm>
          <a:prstGeom prst="rect">
            <a:avLst/>
          </a:prstGeom>
          <a:noFill/>
          <a:ln/>
        </p:spPr>
        <p:txBody>
          <a:bodyPr wrap="square" lIns="0" tIns="0" rIns="0" bIns="0" rtlCol="0" anchor="ctr"/>
          <a:lstStyle/>
          <a:p>
            <a:pPr algn="ctr" indent="0" marL="0">
              <a:buNone/>
            </a:pPr>
            <a:r>
              <a:rPr lang="en-US" sz="6384" b="1" dirty="0">
                <a:solidFill>
                  <a:srgbClr val="F0F8FF"/>
                </a:solidFill>
                <a:latin typeface="Segoe UI" pitchFamily="34" charset="0"/>
                <a:ea typeface="Segoe UI" pitchFamily="34" charset="-122"/>
                <a:cs typeface="Segoe UI" pitchFamily="34" charset="-120"/>
              </a:rPr>
              <a:t>Executive Agent for Service Leaders</a:t>
            </a:r>
            <a:endParaRPr lang="en-US" sz="6384" dirty="0"/>
          </a:p>
        </p:txBody>
      </p:sp>
      <p:sp>
        <p:nvSpPr>
          <p:cNvPr id="4" name="Text 2"/>
          <p:cNvSpPr txBox="1"/>
          <p:nvPr/>
        </p:nvSpPr>
        <p:spPr>
          <a:xfrm>
            <a:off x="1646873" y="3492500"/>
            <a:ext cx="8867775" cy="609600"/>
          </a:xfrm>
          <a:prstGeom prst="rect">
            <a:avLst/>
          </a:prstGeom>
          <a:noFill/>
          <a:ln/>
        </p:spPr>
        <p:txBody>
          <a:bodyPr wrap="square" lIns="0" tIns="0" rIns="0" bIns="0" rtlCol="0" anchor="ctr"/>
          <a:lstStyle/>
          <a:p>
            <a:pPr algn="ctr" indent="0" marL="0">
              <a:buNone/>
            </a:pPr>
            <a:r>
              <a:rPr lang="en-US" sz="2394" dirty="0">
                <a:solidFill>
                  <a:srgbClr val="68B8D9"/>
                </a:solidFill>
                <a:latin typeface="Century Gothic" pitchFamily="34" charset="0"/>
                <a:ea typeface="Century Gothic" pitchFamily="34" charset="-122"/>
                <a:cs typeface="Century Gothic" pitchFamily="34" charset="-120"/>
              </a:rPr>
              <a:t>Give service leaders the insight and control they need to evolve their operations with confidence and impact</a:t>
            </a:r>
            <a:endParaRPr lang="en-US" sz="2394" dirty="0"/>
          </a:p>
        </p:txBody>
      </p:sp>
      <p:sp>
        <p:nvSpPr>
          <p:cNvPr id="5" name="Text 3"/>
          <p:cNvSpPr txBox="1"/>
          <p:nvPr/>
        </p:nvSpPr>
        <p:spPr>
          <a:xfrm>
            <a:off x="4914390" y="4610100"/>
            <a:ext cx="2332641" cy="254000"/>
          </a:xfrm>
          <a:prstGeom prst="rect">
            <a:avLst/>
          </a:prstGeom>
          <a:noFill/>
          <a:ln/>
        </p:spPr>
        <p:txBody>
          <a:bodyPr wrap="square" lIns="0" tIns="0" rIns="0" bIns="0" rtlCol="0" anchor="ctr"/>
          <a:lstStyle/>
          <a:p>
            <a:pPr algn="l" indent="0" marL="0">
              <a:buNone/>
            </a:pPr>
            <a:r>
              <a:rPr lang="en-US" sz="1795" dirty="0">
                <a:solidFill>
                  <a:srgbClr val="F0F8FF"/>
                </a:solidFill>
                <a:latin typeface="Segoe UI" pitchFamily="34" charset="0"/>
                <a:ea typeface="Segoe UI" pitchFamily="34" charset="-122"/>
                <a:cs typeface="Segoe UI" pitchFamily="34" charset="-120"/>
              </a:rPr>
              <a:t>Seed Extension Round</a:t>
            </a:r>
            <a:endParaRPr lang="en-US" sz="1795" dirty="0"/>
          </a:p>
        </p:txBody>
      </p:sp>
      <p:sp>
        <p:nvSpPr>
          <p:cNvPr id="6" name="Text 4"/>
          <p:cNvSpPr txBox="1"/>
          <p:nvPr/>
        </p:nvSpPr>
        <p:spPr>
          <a:xfrm>
            <a:off x="5504849" y="4965700"/>
            <a:ext cx="1151623" cy="228600"/>
          </a:xfrm>
          <a:prstGeom prst="rect">
            <a:avLst/>
          </a:prstGeom>
          <a:noFill/>
          <a:ln/>
        </p:spPr>
        <p:txBody>
          <a:bodyPr wrap="square" lIns="0" tIns="0" rIns="0" bIns="0" rtlCol="0" anchor="ctr"/>
          <a:lstStyle/>
          <a:p>
            <a:pPr algn="l" indent="0" marL="0">
              <a:buNone/>
            </a:pPr>
            <a:r>
              <a:rPr lang="en-US" sz="1496" dirty="0">
                <a:solidFill>
                  <a:srgbClr val="68B8D9"/>
                </a:solidFill>
                <a:latin typeface="Century Gothic" pitchFamily="34" charset="0"/>
                <a:ea typeface="Century Gothic" pitchFamily="34" charset="-122"/>
                <a:cs typeface="Century Gothic" pitchFamily="34" charset="-120"/>
              </a:rPr>
              <a:t>January 2026</a:t>
            </a:r>
            <a:endParaRPr lang="en-US" sz="1496" dirty="0"/>
          </a:p>
        </p:txBody>
      </p:sp>
      <p:sp>
        <p:nvSpPr>
          <p:cNvPr id="7" name="Text 5"/>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1</a:t>
            </a:r>
            <a:endParaRPr lang="en-US" sz="119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The AI Agent Explosion</a:t>
            </a:r>
            <a:endParaRPr lang="en-US" sz="2993" dirty="0"/>
          </a:p>
        </p:txBody>
      </p:sp>
      <p:sp>
        <p:nvSpPr>
          <p:cNvPr id="4" name="Text 2"/>
          <p:cNvSpPr txBox="1"/>
          <p:nvPr/>
        </p:nvSpPr>
        <p:spPr>
          <a:xfrm>
            <a:off x="405384" y="21082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Market Inflection Point (2026)</a:t>
            </a:r>
            <a:endParaRPr lang="en-US" sz="1795" dirty="0"/>
          </a:p>
        </p:txBody>
      </p:sp>
      <p:sp>
        <p:nvSpPr>
          <p:cNvPr id="5" name="Text 3"/>
          <p:cNvSpPr txBox="1"/>
          <p:nvPr/>
        </p:nvSpPr>
        <p:spPr>
          <a:xfrm>
            <a:off x="405384" y="25146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Gartner:</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40% of enterprise apps will feature task-specific AI agents by end of 2026 (vs &lt;5% in 2025)</a:t>
            </a:r>
            <a:endParaRPr lang="en-US" sz="1496" dirty="0"/>
          </a:p>
        </p:txBody>
      </p:sp>
      <p:sp>
        <p:nvSpPr>
          <p:cNvPr id="6" name="Text 4"/>
          <p:cNvSpPr txBox="1"/>
          <p:nvPr/>
        </p:nvSpPr>
        <p:spPr>
          <a:xfrm>
            <a:off x="405384" y="28448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Microsoft/Stanford HAI:</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Shift from "AI evangelism" to "pragmatic AI evaluation" in 2026</a:t>
            </a:r>
            <a:endParaRPr lang="en-US" sz="1496" dirty="0"/>
          </a:p>
        </p:txBody>
      </p:sp>
      <p:sp>
        <p:nvSpPr>
          <p:cNvPr id="7" name="Text 5"/>
          <p:cNvSpPr txBox="1"/>
          <p:nvPr/>
        </p:nvSpPr>
        <p:spPr>
          <a:xfrm>
            <a:off x="405384" y="31750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Industry consensus:</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Agent adoption moving from pilots to production</a:t>
            </a:r>
            <a:endParaRPr lang="en-US" sz="1496" dirty="0"/>
          </a:p>
        </p:txBody>
      </p:sp>
      <p:sp>
        <p:nvSpPr>
          <p:cNvPr id="8" name="Text 6"/>
          <p:cNvSpPr txBox="1"/>
          <p:nvPr/>
        </p:nvSpPr>
        <p:spPr>
          <a:xfrm>
            <a:off x="405384" y="37084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Why Customer Service First</a:t>
            </a:r>
            <a:endParaRPr lang="en-US" sz="1795" dirty="0"/>
          </a:p>
        </p:txBody>
      </p:sp>
      <p:sp>
        <p:nvSpPr>
          <p:cNvPr id="9" name="Text 7"/>
          <p:cNvSpPr txBox="1"/>
          <p:nvPr/>
        </p:nvSpPr>
        <p:spPr>
          <a:xfrm>
            <a:off x="405384" y="41148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158,000 total addressable companies (150K SMB + 8K enterprise)</a:t>
            </a:r>
            <a:endParaRPr lang="en-US" sz="1496" dirty="0"/>
          </a:p>
        </p:txBody>
      </p:sp>
      <p:sp>
        <p:nvSpPr>
          <p:cNvPr id="10" name="Text 8"/>
          <p:cNvSpPr txBox="1"/>
          <p:nvPr/>
        </p:nvSpPr>
        <p:spPr>
          <a:xfrm>
            <a:off x="405384" y="44450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Highest ROI AI use case: cost per contact, CSAT improvement</a:t>
            </a:r>
            <a:endParaRPr lang="en-US" sz="1496" dirty="0"/>
          </a:p>
        </p:txBody>
      </p:sp>
      <p:sp>
        <p:nvSpPr>
          <p:cNvPr id="11" name="Text 9"/>
          <p:cNvSpPr txBox="1"/>
          <p:nvPr/>
        </p:nvSpPr>
        <p:spPr>
          <a:xfrm>
            <a:off x="405384" y="47752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Salesforce Service Cloud: 70K+ customers, $9B revenue (~$125K ACV)</a:t>
            </a:r>
            <a:endParaRPr lang="en-US" sz="1496" dirty="0"/>
          </a:p>
        </p:txBody>
      </p:sp>
      <p:sp>
        <p:nvSpPr>
          <p:cNvPr id="12" name="Text 10"/>
          <p:cNvSpPr txBox="1"/>
          <p:nvPr/>
        </p:nvSpPr>
        <p:spPr>
          <a:xfrm>
            <a:off x="405384" y="5105400"/>
            <a:ext cx="11350752" cy="228600"/>
          </a:xfrm>
          <a:prstGeom prst="rect">
            <a:avLst/>
          </a:prstGeom>
          <a:noFill/>
          <a:ln/>
        </p:spPr>
        <p:txBody>
          <a:bodyPr wrap="square" lIns="0" tIns="0" rIns="0" bIns="0" rtlCol="0" anchor="ctr"/>
          <a:lstStyle/>
          <a:p>
            <a:pPr algn="l" indent="0" marL="0">
              <a:buNone/>
            </a:pPr>
            <a:r>
              <a:rPr lang="en-US" sz="1496" b="1" dirty="0">
                <a:solidFill>
                  <a:srgbClr val="FB4100"/>
                </a:solidFill>
                <a:latin typeface="Century Gothic" pitchFamily="34" charset="0"/>
                <a:ea typeface="Century Gothic" pitchFamily="34" charset="-122"/>
                <a:cs typeface="Century Gothic" pitchFamily="34" charset="-120"/>
              </a:rPr>
              <a:t>• 33% of deployments failing due to lack of governance</a:t>
            </a:r>
            <a:endParaRPr lang="en-US" sz="1496" dirty="0"/>
          </a:p>
        </p:txBody>
      </p:sp>
      <p:sp>
        <p:nvSpPr>
          <p:cNvPr id="13" name="Text 11"/>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2</a:t>
            </a:r>
            <a:endParaRPr lang="en-US" sz="11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The AI Deployment Crisis</a:t>
            </a:r>
            <a:endParaRPr lang="en-US" sz="2993" dirty="0"/>
          </a:p>
        </p:txBody>
      </p:sp>
      <p:sp>
        <p:nvSpPr>
          <p:cNvPr id="4" name="Text 2"/>
          <p:cNvSpPr txBox="1"/>
          <p:nvPr/>
        </p:nvSpPr>
        <p:spPr>
          <a:xfrm>
            <a:off x="405384" y="2108200"/>
            <a:ext cx="11350752" cy="254000"/>
          </a:xfrm>
          <a:prstGeom prst="rect">
            <a:avLst/>
          </a:prstGeom>
          <a:noFill/>
          <a:ln/>
        </p:spPr>
        <p:txBody>
          <a:bodyPr wrap="square" lIns="0" tIns="0" rIns="0" bIns="0" rtlCol="0" anchor="ctr"/>
          <a:lstStyle/>
          <a:p>
            <a:pPr algn="l" indent="0" marL="0">
              <a:buNone/>
            </a:pPr>
            <a:r>
              <a:rPr lang="en-US" sz="1795" dirty="0">
                <a:solidFill>
                  <a:srgbClr val="FB4100"/>
                </a:solidFill>
                <a:latin typeface="Segoe UI" pitchFamily="34" charset="0"/>
                <a:ea typeface="Segoe UI" pitchFamily="34" charset="-122"/>
                <a:cs typeface="Segoe UI" pitchFamily="34" charset="-120"/>
              </a:rPr>
              <a:t>The Problem</a:t>
            </a:r>
            <a:endParaRPr lang="en-US" sz="1795" dirty="0"/>
          </a:p>
        </p:txBody>
      </p:sp>
      <p:sp>
        <p:nvSpPr>
          <p:cNvPr id="5" name="Text 3"/>
          <p:cNvSpPr txBox="1"/>
          <p:nvPr/>
        </p:nvSpPr>
        <p:spPr>
          <a:xfrm>
            <a:off x="405384" y="25146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FB4100"/>
                </a:solidFill>
                <a:latin typeface="Century Gothic" pitchFamily="34" charset="0"/>
                <a:ea typeface="Century Gothic" pitchFamily="34" charset="-122"/>
                <a:cs typeface="Century Gothic" pitchFamily="34" charset="-120"/>
              </a:rPr>
              <a:t>33% of service AI deployments fail</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due to lack of decision context and governance</a:t>
            </a:r>
            <a:endParaRPr lang="en-US" sz="1496" dirty="0"/>
          </a:p>
        </p:txBody>
      </p:sp>
      <p:sp>
        <p:nvSpPr>
          <p:cNvPr id="6" name="Text 4"/>
          <p:cNvSpPr txBox="1"/>
          <p:nvPr/>
        </p:nvSpPr>
        <p:spPr>
          <a:xfrm>
            <a:off x="405384" y="28448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Companies mistake "deploying an agent" for "managing decisions"</a:t>
            </a:r>
            <a:endParaRPr lang="en-US" sz="1496" dirty="0"/>
          </a:p>
        </p:txBody>
      </p:sp>
      <p:sp>
        <p:nvSpPr>
          <p:cNvPr id="7" name="Text 5"/>
          <p:cNvSpPr txBox="1"/>
          <p:nvPr/>
        </p:nvSpPr>
        <p:spPr>
          <a:xfrm>
            <a:off x="405384" y="31750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No audit trail for compliance and transparency (increasingly required)</a:t>
            </a:r>
            <a:endParaRPr lang="en-US" sz="1496" dirty="0"/>
          </a:p>
        </p:txBody>
      </p:sp>
      <p:sp>
        <p:nvSpPr>
          <p:cNvPr id="8" name="Text 6"/>
          <p:cNvSpPr txBox="1"/>
          <p:nvPr/>
        </p:nvSpPr>
        <p:spPr>
          <a:xfrm>
            <a:off x="405384" y="35052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Historic: </a:t>
            </a:r>
            <a:pPr algn="l" indent="0" marL="0">
              <a:buNone/>
            </a:pPr>
            <a:r>
              <a:rPr lang="en-US" sz="1496" b="1" dirty="0">
                <a:solidFill>
                  <a:srgbClr val="FB4100"/>
                </a:solidFill>
                <a:latin typeface="Century Gothic" pitchFamily="34" charset="0"/>
                <a:ea typeface="Century Gothic" pitchFamily="34" charset="-122"/>
                <a:cs typeface="Century Gothic" pitchFamily="34" charset="-120"/>
              </a:rPr>
              <a:t>95% of AI pilots deliver zero ROI</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(MIT), </a:t>
            </a:r>
            <a:pPr algn="l" indent="0" marL="0">
              <a:buNone/>
            </a:pPr>
            <a:r>
              <a:rPr lang="en-US" sz="1496" b="1" dirty="0">
                <a:solidFill>
                  <a:srgbClr val="FB4100"/>
                </a:solidFill>
                <a:latin typeface="Century Gothic" pitchFamily="34" charset="0"/>
                <a:ea typeface="Century Gothic" pitchFamily="34" charset="-122"/>
                <a:cs typeface="Century Gothic" pitchFamily="34" charset="-120"/>
              </a:rPr>
              <a:t>85% fail before value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(Gartner)</a:t>
            </a:r>
            <a:endParaRPr lang="en-US" sz="1496" dirty="0"/>
          </a:p>
        </p:txBody>
      </p:sp>
      <p:sp>
        <p:nvSpPr>
          <p:cNvPr id="9" name="Text 7"/>
          <p:cNvSpPr txBox="1"/>
          <p:nvPr/>
        </p:nvSpPr>
        <p:spPr>
          <a:xfrm>
            <a:off x="405384" y="40386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Why This Matters Now</a:t>
            </a:r>
            <a:endParaRPr lang="en-US" sz="1795" dirty="0"/>
          </a:p>
        </p:txBody>
      </p:sp>
      <p:sp>
        <p:nvSpPr>
          <p:cNvPr id="10" name="Text 8"/>
          <p:cNvSpPr txBox="1"/>
          <p:nvPr/>
        </p:nvSpPr>
        <p:spPr>
          <a:xfrm>
            <a:off x="405384" y="44450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EU AI Act</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fully applicable August 2, 2026 (mandatory governance/transparency)</a:t>
            </a:r>
            <a:endParaRPr lang="en-US" sz="1496" dirty="0"/>
          </a:p>
        </p:txBody>
      </p:sp>
      <p:sp>
        <p:nvSpPr>
          <p:cNvPr id="11" name="Text 9"/>
          <p:cNvSpPr txBox="1"/>
          <p:nvPr/>
        </p:nvSpPr>
        <p:spPr>
          <a:xfrm>
            <a:off x="405384" y="47752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60% of Fortune 100</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will appoint Chief AI Officer in 2026</a:t>
            </a:r>
            <a:endParaRPr lang="en-US" sz="1496" dirty="0"/>
          </a:p>
        </p:txBody>
      </p:sp>
      <p:sp>
        <p:nvSpPr>
          <p:cNvPr id="12" name="Text 10"/>
          <p:cNvSpPr txBox="1"/>
          <p:nvPr/>
        </p:nvSpPr>
        <p:spPr>
          <a:xfrm>
            <a:off x="405384" y="51054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Regulatory pressure forces "meaningful human review" of AI decisions</a:t>
            </a:r>
            <a:endParaRPr lang="en-US" sz="1496" dirty="0"/>
          </a:p>
        </p:txBody>
      </p:sp>
      <p:sp>
        <p:nvSpPr>
          <p:cNvPr id="13" name="Text 11"/>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3</a:t>
            </a:r>
            <a:endParaRPr lang="en-US" sz="11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Market Evolution &amp; Emerging Category</a:t>
            </a:r>
            <a:endParaRPr lang="en-US" sz="2993" dirty="0"/>
          </a:p>
        </p:txBody>
      </p:sp>
      <p:sp>
        <p:nvSpPr>
          <p:cNvPr id="4" name="Text 2"/>
          <p:cNvSpPr txBox="1"/>
          <p:nvPr/>
        </p:nvSpPr>
        <p:spPr>
          <a:xfrm>
            <a:off x="405384" y="22733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Category Crystallization (2026)</a:t>
            </a:r>
            <a:endParaRPr lang="en-US" sz="1795" dirty="0"/>
          </a:p>
        </p:txBody>
      </p:sp>
      <p:sp>
        <p:nvSpPr>
          <p:cNvPr id="5" name="Text 3"/>
          <p:cNvSpPr txBox="1"/>
          <p:nvPr/>
        </p:nvSpPr>
        <p:spPr>
          <a:xfrm>
            <a:off x="405384" y="26797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Gartner:</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Decision Intelligence is #1 trend in 2026 Hype Cycle</a:t>
            </a:r>
            <a:endParaRPr lang="en-US" sz="1496" dirty="0"/>
          </a:p>
        </p:txBody>
      </p:sp>
      <p:sp>
        <p:nvSpPr>
          <p:cNvPr id="6" name="Text 4"/>
          <p:cNvSpPr txBox="1"/>
          <p:nvPr/>
        </p:nvSpPr>
        <p:spPr>
          <a:xfrm>
            <a:off x="405384" y="30099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Forrester:</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Agent Control Planes becoming essential governance layer</a:t>
            </a:r>
            <a:endParaRPr lang="en-US" sz="1496" dirty="0"/>
          </a:p>
        </p:txBody>
      </p:sp>
      <p:sp>
        <p:nvSpPr>
          <p:cNvPr id="7" name="Text 5"/>
          <p:cNvSpPr txBox="1"/>
          <p:nvPr/>
        </p:nvSpPr>
        <p:spPr>
          <a:xfrm>
            <a:off x="405384" y="33401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VCs/Foundation Capital:</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Context Graphs and "Execution Intelligence Layer" as key infrastructure</a:t>
            </a:r>
            <a:endParaRPr lang="en-US" sz="1496" dirty="0"/>
          </a:p>
        </p:txBody>
      </p:sp>
      <p:sp>
        <p:nvSpPr>
          <p:cNvPr id="8" name="Text 6"/>
          <p:cNvSpPr txBox="1"/>
          <p:nvPr/>
        </p:nvSpPr>
        <p:spPr>
          <a:xfrm>
            <a:off x="405384" y="38735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TAM Expansion</a:t>
            </a:r>
            <a:endParaRPr lang="en-US" sz="1795" dirty="0"/>
          </a:p>
        </p:txBody>
      </p:sp>
      <p:sp>
        <p:nvSpPr>
          <p:cNvPr id="9" name="Text 7"/>
          <p:cNvSpPr txBox="1"/>
          <p:nvPr/>
        </p:nvSpPr>
        <p:spPr>
          <a:xfrm>
            <a:off x="405384" y="42799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Base TAM: 158,000 companies deploying customer service AI</a:t>
            </a:r>
            <a:endParaRPr lang="en-US" sz="1496" dirty="0"/>
          </a:p>
        </p:txBody>
      </p:sp>
      <p:sp>
        <p:nvSpPr>
          <p:cNvPr id="10" name="Text 8"/>
          <p:cNvSpPr txBox="1"/>
          <p:nvPr/>
        </p:nvSpPr>
        <p:spPr>
          <a:xfrm>
            <a:off x="405384" y="46101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40% agent adoption by 2026 = billions in software transformation</a:t>
            </a:r>
            <a:endParaRPr lang="en-US" sz="1496" dirty="0"/>
          </a:p>
        </p:txBody>
      </p:sp>
      <p:sp>
        <p:nvSpPr>
          <p:cNvPr id="11" name="Text 9"/>
          <p:cNvSpPr txBox="1"/>
          <p:nvPr/>
        </p:nvSpPr>
        <p:spPr>
          <a:xfrm>
            <a:off x="405384" y="49403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Revenue TAM: $2-3B annual market opportunity</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for decision intelligence infrastructure in CS alone</a:t>
            </a:r>
            <a:endParaRPr lang="en-US" sz="1496" dirty="0"/>
          </a:p>
        </p:txBody>
      </p:sp>
      <p:sp>
        <p:nvSpPr>
          <p:cNvPr id="12" name="Text 10"/>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4</a:t>
            </a:r>
            <a:endParaRPr lang="en-US" sz="11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Helm's Unique Approach</a:t>
            </a:r>
            <a:endParaRPr lang="en-US" sz="2993" dirty="0"/>
          </a:p>
        </p:txBody>
      </p:sp>
      <p:sp>
        <p:nvSpPr>
          <p:cNvPr id="4" name="Text 2"/>
          <p:cNvSpPr txBox="1"/>
          <p:nvPr/>
        </p:nvSpPr>
        <p:spPr>
          <a:xfrm>
            <a:off x="405384" y="17526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What Helm Does</a:t>
            </a:r>
            <a:endParaRPr lang="en-US" sz="1795" dirty="0"/>
          </a:p>
        </p:txBody>
      </p:sp>
      <p:sp>
        <p:nvSpPr>
          <p:cNvPr id="5" name="Shape 3"/>
          <p:cNvSpPr/>
          <p:nvPr/>
        </p:nvSpPr>
        <p:spPr>
          <a:xfrm>
            <a:off x="405384" y="2209800"/>
            <a:ext cx="3648456" cy="1676400"/>
          </a:xfrm>
          <a:prstGeom prst="roundRect">
            <a:avLst>
              <a:gd name="adj" fmla="val 4959"/>
            </a:avLst>
          </a:prstGeom>
          <a:solidFill>
            <a:srgbClr val="0077BE">
              <a:alpha val="10000"/>
            </a:srgbClr>
          </a:solidFill>
          <a:ln/>
        </p:spPr>
      </p:sp>
      <p:pic>
        <p:nvPicPr>
          <p:cNvPr id="6" name="Image 0" descr="preencoded.png">    </p:cNvPr>
          <p:cNvPicPr>
            <a:picLocks noChangeAspect="1"/>
          </p:cNvPicPr>
          <p:nvPr/>
        </p:nvPicPr>
        <p:blipFill>
          <a:blip r:embed="rId1"/>
          <a:srcRect l="0" r="0" t="0" b="0"/>
          <a:stretch/>
        </p:blipFill>
        <p:spPr>
          <a:xfrm>
            <a:off x="2026920" y="2413000"/>
            <a:ext cx="405384" cy="406400"/>
          </a:xfrm>
          <a:prstGeom prst="rect">
            <a:avLst/>
          </a:prstGeom>
        </p:spPr>
      </p:pic>
      <p:sp>
        <p:nvSpPr>
          <p:cNvPr id="7" name="Text 4"/>
          <p:cNvSpPr txBox="1"/>
          <p:nvPr/>
        </p:nvSpPr>
        <p:spPr>
          <a:xfrm>
            <a:off x="1969814" y="2921000"/>
            <a:ext cx="519497" cy="254000"/>
          </a:xfrm>
          <a:prstGeom prst="rect">
            <a:avLst/>
          </a:prstGeom>
          <a:noFill/>
          <a:ln/>
        </p:spPr>
        <p:txBody>
          <a:bodyPr wrap="square" lIns="0" tIns="0" rIns="0" bIns="0" rtlCol="0" anchor="ctr"/>
          <a:lstStyle/>
          <a:p>
            <a:pPr algn="ctr" indent="0" marL="0">
              <a:buNone/>
            </a:pPr>
            <a:r>
              <a:rPr lang="en-US" sz="1795" b="1" dirty="0">
                <a:solidFill>
                  <a:srgbClr val="68B8D9"/>
                </a:solidFill>
                <a:latin typeface="Segoe UI" pitchFamily="34" charset="0"/>
                <a:ea typeface="Segoe UI" pitchFamily="34" charset="-122"/>
                <a:cs typeface="Segoe UI" pitchFamily="34" charset="-120"/>
              </a:rPr>
              <a:t>Mine</a:t>
            </a:r>
            <a:endParaRPr lang="en-US" sz="1795" dirty="0"/>
          </a:p>
        </p:txBody>
      </p:sp>
      <p:sp>
        <p:nvSpPr>
          <p:cNvPr id="8" name="Text 5"/>
          <p:cNvSpPr txBox="1"/>
          <p:nvPr/>
        </p:nvSpPr>
        <p:spPr>
          <a:xfrm>
            <a:off x="608076" y="3276600"/>
            <a:ext cx="3243072" cy="406400"/>
          </a:xfrm>
          <a:prstGeom prst="rect">
            <a:avLst/>
          </a:prstGeom>
          <a:noFill/>
          <a:ln/>
        </p:spPr>
        <p:txBody>
          <a:bodyPr wrap="square" lIns="0" tIns="0" rIns="0" bIns="0" rtlCol="0" anchor="ctr"/>
          <a:lstStyle/>
          <a:p>
            <a:pPr algn="ctr" indent="0" marL="0">
              <a:buNone/>
            </a:pPr>
            <a:r>
              <a:rPr lang="en-US" sz="1197" dirty="0">
                <a:solidFill>
                  <a:srgbClr val="F0F8FF"/>
                </a:solidFill>
                <a:latin typeface="Century Gothic" pitchFamily="34" charset="0"/>
                <a:ea typeface="Century Gothic" pitchFamily="34" charset="-122"/>
                <a:cs typeface="Century Gothic" pitchFamily="34" charset="-120"/>
              </a:rPr>
              <a:t>Captures how decisions are made across your customer service operation</a:t>
            </a:r>
            <a:endParaRPr lang="en-US" sz="1197" dirty="0"/>
          </a:p>
        </p:txBody>
      </p:sp>
      <p:sp>
        <p:nvSpPr>
          <p:cNvPr id="9" name="Shape 6"/>
          <p:cNvSpPr/>
          <p:nvPr/>
        </p:nvSpPr>
        <p:spPr>
          <a:xfrm>
            <a:off x="4256532" y="2209800"/>
            <a:ext cx="3648456" cy="1676400"/>
          </a:xfrm>
          <a:prstGeom prst="roundRect">
            <a:avLst>
              <a:gd name="adj" fmla="val 4959"/>
            </a:avLst>
          </a:prstGeom>
          <a:solidFill>
            <a:srgbClr val="0077BE">
              <a:alpha val="10000"/>
            </a:srgbClr>
          </a:solidFill>
          <a:ln/>
        </p:spPr>
      </p:sp>
      <p:pic>
        <p:nvPicPr>
          <p:cNvPr id="10" name="Image 1" descr="preencoded.png">    </p:cNvPr>
          <p:cNvPicPr>
            <a:picLocks noChangeAspect="1"/>
          </p:cNvPicPr>
          <p:nvPr/>
        </p:nvPicPr>
        <p:blipFill>
          <a:blip r:embed="rId2"/>
          <a:srcRect l="0" r="0" t="0" b="0"/>
          <a:stretch/>
        </p:blipFill>
        <p:spPr>
          <a:xfrm>
            <a:off x="5878068" y="2413000"/>
            <a:ext cx="405384" cy="406400"/>
          </a:xfrm>
          <a:prstGeom prst="rect">
            <a:avLst/>
          </a:prstGeom>
        </p:spPr>
      </p:pic>
      <p:sp>
        <p:nvSpPr>
          <p:cNvPr id="11" name="Text 7"/>
          <p:cNvSpPr txBox="1"/>
          <p:nvPr/>
        </p:nvSpPr>
        <p:spPr>
          <a:xfrm>
            <a:off x="5700614" y="2921000"/>
            <a:ext cx="760293" cy="254000"/>
          </a:xfrm>
          <a:prstGeom prst="rect">
            <a:avLst/>
          </a:prstGeom>
          <a:noFill/>
          <a:ln/>
        </p:spPr>
        <p:txBody>
          <a:bodyPr wrap="square" lIns="0" tIns="0" rIns="0" bIns="0" rtlCol="0" anchor="ctr"/>
          <a:lstStyle/>
          <a:p>
            <a:pPr algn="ctr" indent="0" marL="0">
              <a:buNone/>
            </a:pPr>
            <a:r>
              <a:rPr lang="en-US" sz="1795" b="1" dirty="0">
                <a:solidFill>
                  <a:srgbClr val="68B8D9"/>
                </a:solidFill>
                <a:latin typeface="Segoe UI" pitchFamily="34" charset="0"/>
                <a:ea typeface="Segoe UI" pitchFamily="34" charset="-122"/>
                <a:cs typeface="Segoe UI" pitchFamily="34" charset="-120"/>
              </a:rPr>
              <a:t>Design</a:t>
            </a:r>
            <a:endParaRPr lang="en-US" sz="1795" dirty="0"/>
          </a:p>
        </p:txBody>
      </p:sp>
      <p:sp>
        <p:nvSpPr>
          <p:cNvPr id="12" name="Text 8"/>
          <p:cNvSpPr txBox="1"/>
          <p:nvPr/>
        </p:nvSpPr>
        <p:spPr>
          <a:xfrm>
            <a:off x="4459224" y="3276600"/>
            <a:ext cx="3243072" cy="406400"/>
          </a:xfrm>
          <a:prstGeom prst="rect">
            <a:avLst/>
          </a:prstGeom>
          <a:noFill/>
          <a:ln/>
        </p:spPr>
        <p:txBody>
          <a:bodyPr wrap="square" lIns="0" tIns="0" rIns="0" bIns="0" rtlCol="0" anchor="ctr"/>
          <a:lstStyle/>
          <a:p>
            <a:pPr algn="ctr" indent="0" marL="0">
              <a:buNone/>
            </a:pPr>
            <a:r>
              <a:rPr lang="en-US" sz="1197" dirty="0">
                <a:solidFill>
                  <a:srgbClr val="F0F8FF"/>
                </a:solidFill>
                <a:latin typeface="Century Gothic" pitchFamily="34" charset="0"/>
                <a:ea typeface="Century Gothic" pitchFamily="34" charset="-122"/>
                <a:cs typeface="Century Gothic" pitchFamily="34" charset="-120"/>
              </a:rPr>
              <a:t>Helps you design better processes and agent workflows</a:t>
            </a:r>
            <a:endParaRPr lang="en-US" sz="1197" dirty="0"/>
          </a:p>
        </p:txBody>
      </p:sp>
      <p:sp>
        <p:nvSpPr>
          <p:cNvPr id="13" name="Shape 9"/>
          <p:cNvSpPr/>
          <p:nvPr/>
        </p:nvSpPr>
        <p:spPr>
          <a:xfrm>
            <a:off x="8107680" y="2209800"/>
            <a:ext cx="3648456" cy="1676400"/>
          </a:xfrm>
          <a:prstGeom prst="roundRect">
            <a:avLst>
              <a:gd name="adj" fmla="val 4959"/>
            </a:avLst>
          </a:prstGeom>
          <a:solidFill>
            <a:srgbClr val="0077BE">
              <a:alpha val="10000"/>
            </a:srgbClr>
          </a:solidFill>
          <a:ln/>
        </p:spPr>
      </p:sp>
      <p:pic>
        <p:nvPicPr>
          <p:cNvPr id="14" name="Image 2" descr="preencoded.png">    </p:cNvPr>
          <p:cNvPicPr>
            <a:picLocks noChangeAspect="1"/>
          </p:cNvPicPr>
          <p:nvPr/>
        </p:nvPicPr>
        <p:blipFill>
          <a:blip r:embed="rId3"/>
          <a:srcRect l="0" r="0" t="0" b="0"/>
          <a:stretch/>
        </p:blipFill>
        <p:spPr>
          <a:xfrm>
            <a:off x="9729216" y="2413000"/>
            <a:ext cx="405384" cy="406400"/>
          </a:xfrm>
          <a:prstGeom prst="rect">
            <a:avLst/>
          </a:prstGeom>
        </p:spPr>
      </p:pic>
      <p:sp>
        <p:nvSpPr>
          <p:cNvPr id="15" name="Text 10"/>
          <p:cNvSpPr txBox="1"/>
          <p:nvPr/>
        </p:nvSpPr>
        <p:spPr>
          <a:xfrm>
            <a:off x="9507324" y="2921000"/>
            <a:ext cx="849070" cy="254000"/>
          </a:xfrm>
          <a:prstGeom prst="rect">
            <a:avLst/>
          </a:prstGeom>
          <a:noFill/>
          <a:ln/>
        </p:spPr>
        <p:txBody>
          <a:bodyPr wrap="square" lIns="0" tIns="0" rIns="0" bIns="0" rtlCol="0" anchor="ctr"/>
          <a:lstStyle/>
          <a:p>
            <a:pPr algn="ctr" indent="0" marL="0">
              <a:buNone/>
            </a:pPr>
            <a:r>
              <a:rPr lang="en-US" sz="1795" b="1" dirty="0">
                <a:solidFill>
                  <a:srgbClr val="68B8D9"/>
                </a:solidFill>
                <a:latin typeface="Segoe UI" pitchFamily="34" charset="0"/>
                <a:ea typeface="Segoe UI" pitchFamily="34" charset="-122"/>
                <a:cs typeface="Segoe UI" pitchFamily="34" charset="-120"/>
              </a:rPr>
              <a:t>Manage</a:t>
            </a:r>
            <a:endParaRPr lang="en-US" sz="1795" dirty="0"/>
          </a:p>
        </p:txBody>
      </p:sp>
      <p:sp>
        <p:nvSpPr>
          <p:cNvPr id="16" name="Text 11"/>
          <p:cNvSpPr txBox="1"/>
          <p:nvPr/>
        </p:nvSpPr>
        <p:spPr>
          <a:xfrm>
            <a:off x="8310372" y="3276600"/>
            <a:ext cx="3243072" cy="406400"/>
          </a:xfrm>
          <a:prstGeom prst="rect">
            <a:avLst/>
          </a:prstGeom>
          <a:noFill/>
          <a:ln/>
        </p:spPr>
        <p:txBody>
          <a:bodyPr wrap="square" lIns="0" tIns="0" rIns="0" bIns="0" rtlCol="0" anchor="ctr"/>
          <a:lstStyle/>
          <a:p>
            <a:pPr algn="ctr" indent="0" marL="0">
              <a:buNone/>
            </a:pPr>
            <a:r>
              <a:rPr lang="en-US" sz="1197" dirty="0">
                <a:solidFill>
                  <a:srgbClr val="F0F8FF"/>
                </a:solidFill>
                <a:latin typeface="Century Gothic" pitchFamily="34" charset="0"/>
                <a:ea typeface="Century Gothic" pitchFamily="34" charset="-122"/>
                <a:cs typeface="Century Gothic" pitchFamily="34" charset="-120"/>
              </a:rPr>
              <a:t>Continuously monitors and improves with governance guardrails</a:t>
            </a:r>
            <a:endParaRPr lang="en-US" sz="1197" dirty="0"/>
          </a:p>
        </p:txBody>
      </p:sp>
      <p:sp>
        <p:nvSpPr>
          <p:cNvPr id="17" name="Text 12"/>
          <p:cNvSpPr txBox="1"/>
          <p:nvPr/>
        </p:nvSpPr>
        <p:spPr>
          <a:xfrm>
            <a:off x="405384" y="41402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Key Differentiators</a:t>
            </a:r>
            <a:endParaRPr lang="en-US" sz="1795" dirty="0"/>
          </a:p>
        </p:txBody>
      </p:sp>
      <p:sp>
        <p:nvSpPr>
          <p:cNvPr id="18" name="Text 13"/>
          <p:cNvSpPr txBox="1"/>
          <p:nvPr/>
        </p:nvSpPr>
        <p:spPr>
          <a:xfrm>
            <a:off x="405384" y="45466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Executive-Friendly:</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Natural language interface, no technical training required</a:t>
            </a:r>
            <a:endParaRPr lang="en-US" sz="1496" dirty="0"/>
          </a:p>
        </p:txBody>
      </p:sp>
      <p:sp>
        <p:nvSpPr>
          <p:cNvPr id="19" name="Text 14"/>
          <p:cNvSpPr txBox="1"/>
          <p:nvPr/>
        </p:nvSpPr>
        <p:spPr>
          <a:xfrm>
            <a:off x="405384" y="48514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Fast Time-to-Value: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Start free, get insights immediately (Mine in days, not months)</a:t>
            </a:r>
            <a:endParaRPr lang="en-US" sz="1496" dirty="0"/>
          </a:p>
        </p:txBody>
      </p:sp>
      <p:sp>
        <p:nvSpPr>
          <p:cNvPr id="20" name="Text 15"/>
          <p:cNvSpPr txBox="1"/>
          <p:nvPr/>
        </p:nvSpPr>
        <p:spPr>
          <a:xfrm>
            <a:off x="405384" y="51562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AI-Native: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Continuously learns and improves from usage patterns and outcomes</a:t>
            </a:r>
            <a:endParaRPr lang="en-US" sz="1496" dirty="0"/>
          </a:p>
        </p:txBody>
      </p:sp>
      <p:sp>
        <p:nvSpPr>
          <p:cNvPr id="21" name="Text 16"/>
          <p:cNvSpPr txBox="1"/>
          <p:nvPr/>
        </p:nvSpPr>
        <p:spPr>
          <a:xfrm>
            <a:off x="405384" y="54610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Platform Independent:</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Works across Salesforce, Zendesk, and any customer service system</a:t>
            </a:r>
            <a:endParaRPr lang="en-US" sz="1496" dirty="0"/>
          </a:p>
        </p:txBody>
      </p:sp>
      <p:sp>
        <p:nvSpPr>
          <p:cNvPr id="22" name="Text 17"/>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5</a:t>
            </a:r>
            <a:endParaRPr lang="en-US" sz="11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Four-Module Monetization Journey</a:t>
            </a:r>
            <a:endParaRPr lang="en-US" sz="2993" dirty="0"/>
          </a:p>
        </p:txBody>
      </p:sp>
      <p:sp>
        <p:nvSpPr>
          <p:cNvPr id="4" name="Text 2"/>
          <p:cNvSpPr txBox="1"/>
          <p:nvPr/>
        </p:nvSpPr>
        <p:spPr>
          <a:xfrm>
            <a:off x="557403" y="2362200"/>
            <a:ext cx="1329770"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Module</a:t>
            </a:r>
            <a:endParaRPr lang="en-US" sz="1496" dirty="0"/>
          </a:p>
        </p:txBody>
      </p:sp>
      <p:sp>
        <p:nvSpPr>
          <p:cNvPr id="5" name="Text 3"/>
          <p:cNvSpPr txBox="1"/>
          <p:nvPr/>
        </p:nvSpPr>
        <p:spPr>
          <a:xfrm>
            <a:off x="2191211" y="2362200"/>
            <a:ext cx="4336104"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Purpose</a:t>
            </a:r>
            <a:endParaRPr lang="en-US" sz="1496" dirty="0"/>
          </a:p>
        </p:txBody>
      </p:sp>
      <p:sp>
        <p:nvSpPr>
          <p:cNvPr id="6" name="Text 4"/>
          <p:cNvSpPr txBox="1"/>
          <p:nvPr/>
        </p:nvSpPr>
        <p:spPr>
          <a:xfrm>
            <a:off x="6831354" y="2362200"/>
            <a:ext cx="1838579"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Price</a:t>
            </a:r>
            <a:endParaRPr lang="en-US" sz="1496" dirty="0"/>
          </a:p>
        </p:txBody>
      </p:sp>
      <p:sp>
        <p:nvSpPr>
          <p:cNvPr id="7" name="Text 5"/>
          <p:cNvSpPr txBox="1"/>
          <p:nvPr/>
        </p:nvSpPr>
        <p:spPr>
          <a:xfrm>
            <a:off x="8973971" y="2362200"/>
            <a:ext cx="2630146"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Users</a:t>
            </a:r>
            <a:endParaRPr lang="en-US" sz="1496" dirty="0"/>
          </a:p>
        </p:txBody>
      </p:sp>
      <p:sp>
        <p:nvSpPr>
          <p:cNvPr id="8" name="Text 6"/>
          <p:cNvSpPr txBox="1"/>
          <p:nvPr/>
        </p:nvSpPr>
        <p:spPr>
          <a:xfrm>
            <a:off x="557403" y="2895600"/>
            <a:ext cx="132977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Explore</a:t>
            </a:r>
            <a:endParaRPr lang="en-US" sz="1496" dirty="0"/>
          </a:p>
        </p:txBody>
      </p:sp>
      <p:sp>
        <p:nvSpPr>
          <p:cNvPr id="9" name="Text 7"/>
          <p:cNvSpPr txBox="1"/>
          <p:nvPr/>
        </p:nvSpPr>
        <p:spPr>
          <a:xfrm>
            <a:off x="2191211" y="2908300"/>
            <a:ext cx="4336104"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Build user base, education</a:t>
            </a:r>
            <a:endParaRPr lang="en-US" sz="1197" dirty="0"/>
          </a:p>
        </p:txBody>
      </p:sp>
      <p:sp>
        <p:nvSpPr>
          <p:cNvPr id="10" name="Text 8"/>
          <p:cNvSpPr txBox="1"/>
          <p:nvPr/>
        </p:nvSpPr>
        <p:spPr>
          <a:xfrm>
            <a:off x="6831354" y="2908300"/>
            <a:ext cx="1838579"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Free</a:t>
            </a:r>
            <a:endParaRPr lang="en-US" sz="1197" dirty="0"/>
          </a:p>
        </p:txBody>
      </p:sp>
      <p:sp>
        <p:nvSpPr>
          <p:cNvPr id="11" name="Text 9"/>
          <p:cNvSpPr txBox="1"/>
          <p:nvPr/>
        </p:nvSpPr>
        <p:spPr>
          <a:xfrm>
            <a:off x="8973971" y="2908300"/>
            <a:ext cx="2630146"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Individual Contributors</a:t>
            </a:r>
            <a:endParaRPr lang="en-US" sz="1197" dirty="0"/>
          </a:p>
        </p:txBody>
      </p:sp>
      <p:sp>
        <p:nvSpPr>
          <p:cNvPr id="12" name="Text 10"/>
          <p:cNvSpPr txBox="1"/>
          <p:nvPr/>
        </p:nvSpPr>
        <p:spPr>
          <a:xfrm>
            <a:off x="557403" y="3435350"/>
            <a:ext cx="132977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Mine</a:t>
            </a:r>
            <a:endParaRPr lang="en-US" sz="1496" dirty="0"/>
          </a:p>
        </p:txBody>
      </p:sp>
      <p:sp>
        <p:nvSpPr>
          <p:cNvPr id="13" name="Text 11"/>
          <p:cNvSpPr txBox="1"/>
          <p:nvPr/>
        </p:nvSpPr>
        <p:spPr>
          <a:xfrm>
            <a:off x="2191211" y="3448050"/>
            <a:ext cx="4336104"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Baseline understanding, quick wins</a:t>
            </a:r>
            <a:endParaRPr lang="en-US" sz="1197" dirty="0"/>
          </a:p>
        </p:txBody>
      </p:sp>
      <p:sp>
        <p:nvSpPr>
          <p:cNvPr id="14" name="Text 12"/>
          <p:cNvSpPr txBox="1"/>
          <p:nvPr/>
        </p:nvSpPr>
        <p:spPr>
          <a:xfrm>
            <a:off x="6831354" y="3448050"/>
            <a:ext cx="1838579"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$10K-$50K</a:t>
            </a:r>
            <a:endParaRPr lang="en-US" sz="1197" dirty="0"/>
          </a:p>
        </p:txBody>
      </p:sp>
      <p:sp>
        <p:nvSpPr>
          <p:cNvPr id="15" name="Text 13"/>
          <p:cNvSpPr txBox="1"/>
          <p:nvPr/>
        </p:nvSpPr>
        <p:spPr>
          <a:xfrm>
            <a:off x="8973971" y="3448050"/>
            <a:ext cx="2630146"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Directors, VPs</a:t>
            </a:r>
            <a:endParaRPr lang="en-US" sz="1197" dirty="0"/>
          </a:p>
        </p:txBody>
      </p:sp>
      <p:sp>
        <p:nvSpPr>
          <p:cNvPr id="16" name="Text 14"/>
          <p:cNvSpPr txBox="1"/>
          <p:nvPr/>
        </p:nvSpPr>
        <p:spPr>
          <a:xfrm>
            <a:off x="557403" y="3975100"/>
            <a:ext cx="132977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Design</a:t>
            </a:r>
            <a:endParaRPr lang="en-US" sz="1496" dirty="0"/>
          </a:p>
        </p:txBody>
      </p:sp>
      <p:sp>
        <p:nvSpPr>
          <p:cNvPr id="17" name="Text 15"/>
          <p:cNvSpPr txBox="1"/>
          <p:nvPr/>
        </p:nvSpPr>
        <p:spPr>
          <a:xfrm>
            <a:off x="2191211" y="3987800"/>
            <a:ext cx="4336104"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AI-readiness plan, roadmap</a:t>
            </a:r>
            <a:endParaRPr lang="en-US" sz="1197" dirty="0"/>
          </a:p>
        </p:txBody>
      </p:sp>
      <p:sp>
        <p:nvSpPr>
          <p:cNvPr id="18" name="Text 16"/>
          <p:cNvSpPr txBox="1"/>
          <p:nvPr/>
        </p:nvSpPr>
        <p:spPr>
          <a:xfrm>
            <a:off x="6831354" y="3987800"/>
            <a:ext cx="1838579"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$25K-$100K</a:t>
            </a:r>
            <a:endParaRPr lang="en-US" sz="1197" dirty="0"/>
          </a:p>
        </p:txBody>
      </p:sp>
      <p:sp>
        <p:nvSpPr>
          <p:cNvPr id="19" name="Text 17"/>
          <p:cNvSpPr txBox="1"/>
          <p:nvPr/>
        </p:nvSpPr>
        <p:spPr>
          <a:xfrm>
            <a:off x="8973971" y="3987800"/>
            <a:ext cx="2630146"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VPs, C-Suite</a:t>
            </a:r>
            <a:endParaRPr lang="en-US" sz="1197" dirty="0"/>
          </a:p>
        </p:txBody>
      </p:sp>
      <p:sp>
        <p:nvSpPr>
          <p:cNvPr id="20" name="Text 18"/>
          <p:cNvSpPr txBox="1"/>
          <p:nvPr/>
        </p:nvSpPr>
        <p:spPr>
          <a:xfrm>
            <a:off x="557403" y="4514850"/>
            <a:ext cx="132977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Manage</a:t>
            </a:r>
            <a:endParaRPr lang="en-US" sz="1496" dirty="0"/>
          </a:p>
        </p:txBody>
      </p:sp>
      <p:sp>
        <p:nvSpPr>
          <p:cNvPr id="21" name="Text 19"/>
          <p:cNvSpPr txBox="1"/>
          <p:nvPr/>
        </p:nvSpPr>
        <p:spPr>
          <a:xfrm>
            <a:off x="2191211" y="4527550"/>
            <a:ext cx="4336104"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Continuous improvement, governance</a:t>
            </a:r>
            <a:endParaRPr lang="en-US" sz="1197" dirty="0"/>
          </a:p>
        </p:txBody>
      </p:sp>
      <p:sp>
        <p:nvSpPr>
          <p:cNvPr id="22" name="Text 20"/>
          <p:cNvSpPr txBox="1"/>
          <p:nvPr/>
        </p:nvSpPr>
        <p:spPr>
          <a:xfrm>
            <a:off x="6831354" y="4527550"/>
            <a:ext cx="1838579"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$500-$50K/mo</a:t>
            </a:r>
            <a:endParaRPr lang="en-US" sz="1197" dirty="0"/>
          </a:p>
        </p:txBody>
      </p:sp>
      <p:sp>
        <p:nvSpPr>
          <p:cNvPr id="23" name="Text 21"/>
          <p:cNvSpPr txBox="1"/>
          <p:nvPr/>
        </p:nvSpPr>
        <p:spPr>
          <a:xfrm>
            <a:off x="8973971" y="4527550"/>
            <a:ext cx="2630146"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C-Suite, Operations</a:t>
            </a:r>
            <a:endParaRPr lang="en-US" sz="1197" dirty="0"/>
          </a:p>
        </p:txBody>
      </p:sp>
      <p:sp>
        <p:nvSpPr>
          <p:cNvPr id="24" name="Text 22"/>
          <p:cNvSpPr txBox="1"/>
          <p:nvPr/>
        </p:nvSpPr>
        <p:spPr>
          <a:xfrm>
            <a:off x="405384" y="5207000"/>
            <a:ext cx="11350752" cy="228600"/>
          </a:xfrm>
          <a:prstGeom prst="rect">
            <a:avLst/>
          </a:prstGeom>
          <a:noFill/>
          <a:ln/>
        </p:spPr>
        <p:txBody>
          <a:bodyPr wrap="square" lIns="0" tIns="0" rIns="0" bIns="0" rtlCol="0" anchor="ctr"/>
          <a:lstStyle/>
          <a:p>
            <a:pPr algn="ctr" indent="0" marL="0">
              <a:buNone/>
            </a:pPr>
            <a:r>
              <a:rPr lang="en-US" sz="1496" b="1" dirty="0">
                <a:solidFill>
                  <a:srgbClr val="F0F8FF"/>
                </a:solidFill>
                <a:latin typeface="Century Gothic" pitchFamily="34" charset="0"/>
                <a:ea typeface="Century Gothic" pitchFamily="34" charset="-122"/>
                <a:cs typeface="Century Gothic" pitchFamily="34" charset="-120"/>
              </a:rPr>
              <a:t>Result:</a:t>
            </a:r>
            <a:pPr algn="ctr" indent="0" marL="0">
              <a:buNone/>
            </a:pPr>
            <a:r>
              <a:rPr lang="en-US" sz="1496" dirty="0">
                <a:solidFill>
                  <a:srgbClr val="F0F8FF"/>
                </a:solidFill>
                <a:latin typeface="Century Gothic" pitchFamily="34" charset="0"/>
                <a:ea typeface="Century Gothic" pitchFamily="34" charset="-122"/>
                <a:cs typeface="Century Gothic" pitchFamily="34" charset="-120"/>
              </a:rPr>
              <a:t> 2% freemium conversion → 50K+ free users → </a:t>
            </a:r>
            <a:pPr algn="ctr" indent="0" marL="0">
              <a:buNone/>
            </a:pPr>
            <a:r>
              <a:rPr lang="en-US" sz="1496" b="1" dirty="0">
                <a:solidFill>
                  <a:srgbClr val="68B8D9"/>
                </a:solidFill>
                <a:latin typeface="Century Gothic" pitchFamily="34" charset="0"/>
                <a:ea typeface="Century Gothic" pitchFamily="34" charset="-122"/>
                <a:cs typeface="Century Gothic" pitchFamily="34" charset="-120"/>
              </a:rPr>
              <a:t>$1-2M Y1 ARR</a:t>
            </a:r>
            <a:endParaRPr lang="en-US" sz="1496" dirty="0"/>
          </a:p>
        </p:txBody>
      </p:sp>
      <p:sp>
        <p:nvSpPr>
          <p:cNvPr id="25" name="Text 23"/>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6</a:t>
            </a:r>
            <a:endParaRPr lang="en-US" sz="11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The Unfair Advantage</a:t>
            </a:r>
            <a:endParaRPr lang="en-US" sz="2993" dirty="0"/>
          </a:p>
        </p:txBody>
      </p:sp>
      <p:sp>
        <p:nvSpPr>
          <p:cNvPr id="4" name="Text 2"/>
          <p:cNvSpPr txBox="1"/>
          <p:nvPr/>
        </p:nvSpPr>
        <p:spPr>
          <a:xfrm>
            <a:off x="405384" y="22479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Four Interconnected Advantages</a:t>
            </a:r>
            <a:endParaRPr lang="en-US" sz="1795" dirty="0"/>
          </a:p>
        </p:txBody>
      </p:sp>
      <p:sp>
        <p:nvSpPr>
          <p:cNvPr id="5" name="Text 3"/>
          <p:cNvSpPr txBox="1"/>
          <p:nvPr/>
        </p:nvSpPr>
        <p:spPr>
          <a:xfrm>
            <a:off x="405384" y="2654300"/>
            <a:ext cx="11350752"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Century Gothic" pitchFamily="34" charset="0"/>
                <a:ea typeface="Century Gothic" pitchFamily="34" charset="-122"/>
                <a:cs typeface="Century Gothic" pitchFamily="34" charset="-120"/>
              </a:rPr>
              <a:t>1.</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AI-Native Architecture: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Every component AI-driven = simplified deployment + experiences competitors can't match</a:t>
            </a:r>
            <a:endParaRPr lang="en-US" sz="1795" dirty="0"/>
          </a:p>
        </p:txBody>
      </p:sp>
      <p:sp>
        <p:nvSpPr>
          <p:cNvPr id="6" name="Text 4"/>
          <p:cNvSpPr txBox="1"/>
          <p:nvPr/>
        </p:nvSpPr>
        <p:spPr>
          <a:xfrm>
            <a:off x="405384" y="3009900"/>
            <a:ext cx="11350752"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Century Gothic" pitchFamily="34" charset="0"/>
                <a:ea typeface="Century Gothic" pitchFamily="34" charset="-122"/>
                <a:cs typeface="Century Gothic" pitchFamily="34" charset="-120"/>
              </a:rPr>
              <a:t>2.</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Platform Independence: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Multi-platform aware, unbiased, vendor-neutral position (customers maintain optionality)</a:t>
            </a:r>
            <a:endParaRPr lang="en-US" sz="1795" dirty="0"/>
          </a:p>
        </p:txBody>
      </p:sp>
      <p:sp>
        <p:nvSpPr>
          <p:cNvPr id="7" name="Text 5"/>
          <p:cNvSpPr txBox="1"/>
          <p:nvPr/>
        </p:nvSpPr>
        <p:spPr>
          <a:xfrm>
            <a:off x="405384" y="3365500"/>
            <a:ext cx="11350752"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Century Gothic" pitchFamily="34" charset="0"/>
                <a:ea typeface="Century Gothic" pitchFamily="34" charset="-122"/>
                <a:cs typeface="Century Gothic" pitchFamily="34" charset="-120"/>
              </a:rPr>
              <a:t>3.</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Data Network Effects:</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Fleet learning + peer benchmarks from customer segment = true network effects moat</a:t>
            </a:r>
            <a:endParaRPr lang="en-US" sz="1795" dirty="0"/>
          </a:p>
        </p:txBody>
      </p:sp>
      <p:sp>
        <p:nvSpPr>
          <p:cNvPr id="8" name="Text 6"/>
          <p:cNvSpPr txBox="1"/>
          <p:nvPr/>
        </p:nvSpPr>
        <p:spPr>
          <a:xfrm>
            <a:off x="405384" y="3721100"/>
            <a:ext cx="11350752"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Century Gothic" pitchFamily="34" charset="0"/>
                <a:ea typeface="Century Gothic" pitchFamily="34" charset="-122"/>
                <a:cs typeface="Century Gothic" pitchFamily="34" charset="-120"/>
              </a:rPr>
              <a:t>4.</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First-Mover Advantage: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Own "Executive Agent" category before competitors recognize the opportunity (12-18 month window)</a:t>
            </a:r>
            <a:endParaRPr lang="en-US" sz="1795" dirty="0"/>
          </a:p>
        </p:txBody>
      </p:sp>
      <p:sp>
        <p:nvSpPr>
          <p:cNvPr id="9" name="Text 7"/>
          <p:cNvSpPr txBox="1"/>
          <p:nvPr/>
        </p:nvSpPr>
        <p:spPr>
          <a:xfrm>
            <a:off x="405384" y="4229100"/>
            <a:ext cx="11350752" cy="254000"/>
          </a:xfrm>
          <a:prstGeom prst="rect">
            <a:avLst/>
          </a:prstGeom>
          <a:noFill/>
          <a:ln/>
        </p:spPr>
        <p:txBody>
          <a:bodyPr wrap="square" lIns="0" tIns="0" rIns="0" bIns="0" rtlCol="0" anchor="ctr"/>
          <a:lstStyle/>
          <a:p>
            <a:pPr algn="l" indent="0" marL="0">
              <a:buNone/>
            </a:pPr>
            <a:r>
              <a:rPr lang="en-US" sz="1795" dirty="0">
                <a:solidFill>
                  <a:srgbClr val="FB4100"/>
                </a:solidFill>
                <a:latin typeface="Segoe UI" pitchFamily="34" charset="0"/>
                <a:ea typeface="Segoe UI" pitchFamily="34" charset="-122"/>
                <a:cs typeface="Segoe UI" pitchFamily="34" charset="-120"/>
              </a:rPr>
              <a:t>Why Competitors Can't Match</a:t>
            </a:r>
            <a:endParaRPr lang="en-US" sz="1795" dirty="0"/>
          </a:p>
        </p:txBody>
      </p:sp>
      <p:sp>
        <p:nvSpPr>
          <p:cNvPr id="10" name="Text 8"/>
          <p:cNvSpPr txBox="1"/>
          <p:nvPr/>
        </p:nvSpPr>
        <p:spPr>
          <a:xfrm>
            <a:off x="405384" y="4635500"/>
            <a:ext cx="11350752" cy="228600"/>
          </a:xfrm>
          <a:prstGeom prst="rect">
            <a:avLst/>
          </a:prstGeom>
          <a:noFill/>
          <a:ln/>
        </p:spPr>
        <p:txBody>
          <a:bodyPr wrap="square" lIns="0" tIns="0" rIns="0" bIns="0" rtlCol="0" anchor="ctr"/>
          <a:lstStyle/>
          <a:p>
            <a:pPr algn="l" indent="0" marL="0">
              <a:buNone/>
            </a:pPr>
            <a:r>
              <a:rPr lang="en-US" sz="1496" b="1" dirty="0">
                <a:solidFill>
                  <a:srgbClr val="F0F8FF"/>
                </a:solidFill>
                <a:latin typeface="Century Gothic" pitchFamily="34" charset="0"/>
                <a:ea typeface="Century Gothic" pitchFamily="34" charset="-122"/>
                <a:cs typeface="Century Gothic" pitchFamily="34" charset="-120"/>
              </a:rPr>
              <a:t>• Legacy Vendors:</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Trapped in enterprise model, revenue locked in upfront analytics, no network effects</a:t>
            </a:r>
            <a:endParaRPr lang="en-US" sz="1496" dirty="0"/>
          </a:p>
        </p:txBody>
      </p:sp>
      <p:sp>
        <p:nvSpPr>
          <p:cNvPr id="11" name="Text 9"/>
          <p:cNvSpPr txBox="1"/>
          <p:nvPr/>
        </p:nvSpPr>
        <p:spPr>
          <a:xfrm>
            <a:off x="405384" y="4965700"/>
            <a:ext cx="11350752" cy="228600"/>
          </a:xfrm>
          <a:prstGeom prst="rect">
            <a:avLst/>
          </a:prstGeom>
          <a:noFill/>
          <a:ln/>
        </p:spPr>
        <p:txBody>
          <a:bodyPr wrap="square" lIns="0" tIns="0" rIns="0" bIns="0" rtlCol="0" anchor="ctr"/>
          <a:lstStyle/>
          <a:p>
            <a:pPr algn="l" indent="0" marL="0">
              <a:buNone/>
            </a:pPr>
            <a:r>
              <a:rPr lang="en-US" sz="1496" b="1" dirty="0">
                <a:solidFill>
                  <a:srgbClr val="F0F8FF"/>
                </a:solidFill>
                <a:latin typeface="Century Gothic" pitchFamily="34" charset="0"/>
                <a:ea typeface="Century Gothic" pitchFamily="34" charset="-122"/>
                <a:cs typeface="Century Gothic" pitchFamily="34" charset="-120"/>
              </a:rPr>
              <a:t>• Incumbents (Salesforce):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Platform bias, can't be trustworthy governance layer, lack specialization</a:t>
            </a:r>
            <a:endParaRPr lang="en-US" sz="1496" dirty="0"/>
          </a:p>
        </p:txBody>
      </p:sp>
      <p:sp>
        <p:nvSpPr>
          <p:cNvPr id="12" name="Text 10"/>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7</a:t>
            </a:r>
            <a:endParaRPr lang="en-US" sz="11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5-Year Financial Trajectory</a:t>
            </a:r>
            <a:endParaRPr lang="en-US" sz="2993" dirty="0"/>
          </a:p>
        </p:txBody>
      </p:sp>
      <p:sp>
        <p:nvSpPr>
          <p:cNvPr id="4" name="Text 2"/>
          <p:cNvSpPr txBox="1"/>
          <p:nvPr/>
        </p:nvSpPr>
        <p:spPr>
          <a:xfrm>
            <a:off x="557403" y="2362200"/>
            <a:ext cx="1693983"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Year</a:t>
            </a:r>
            <a:endParaRPr lang="en-US" sz="1496" dirty="0"/>
          </a:p>
        </p:txBody>
      </p:sp>
      <p:sp>
        <p:nvSpPr>
          <p:cNvPr id="5" name="Text 3"/>
          <p:cNvSpPr txBox="1"/>
          <p:nvPr/>
        </p:nvSpPr>
        <p:spPr>
          <a:xfrm>
            <a:off x="2555424" y="2362200"/>
            <a:ext cx="1953682"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Free Users</a:t>
            </a:r>
            <a:endParaRPr lang="en-US" sz="1496" dirty="0"/>
          </a:p>
        </p:txBody>
      </p:sp>
      <p:sp>
        <p:nvSpPr>
          <p:cNvPr id="6" name="Text 4"/>
          <p:cNvSpPr txBox="1"/>
          <p:nvPr/>
        </p:nvSpPr>
        <p:spPr>
          <a:xfrm>
            <a:off x="4813143" y="2362200"/>
            <a:ext cx="3157660"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Paying Customers</a:t>
            </a:r>
            <a:endParaRPr lang="en-US" sz="1496" dirty="0"/>
          </a:p>
        </p:txBody>
      </p:sp>
      <p:sp>
        <p:nvSpPr>
          <p:cNvPr id="7" name="Text 5"/>
          <p:cNvSpPr txBox="1"/>
          <p:nvPr/>
        </p:nvSpPr>
        <p:spPr>
          <a:xfrm>
            <a:off x="8274842" y="2362200"/>
            <a:ext cx="1579177"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ARR</a:t>
            </a:r>
            <a:endParaRPr lang="en-US" sz="1496" dirty="0"/>
          </a:p>
        </p:txBody>
      </p:sp>
      <p:sp>
        <p:nvSpPr>
          <p:cNvPr id="8" name="Text 6"/>
          <p:cNvSpPr txBox="1"/>
          <p:nvPr/>
        </p:nvSpPr>
        <p:spPr>
          <a:xfrm>
            <a:off x="10158056" y="2362200"/>
            <a:ext cx="1446061"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NDR</a:t>
            </a:r>
            <a:endParaRPr lang="en-US" sz="1496" dirty="0"/>
          </a:p>
        </p:txBody>
      </p:sp>
      <p:sp>
        <p:nvSpPr>
          <p:cNvPr id="9" name="Text 7"/>
          <p:cNvSpPr txBox="1"/>
          <p:nvPr/>
        </p:nvSpPr>
        <p:spPr>
          <a:xfrm>
            <a:off x="557403" y="2895600"/>
            <a:ext cx="1693983"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Y1 (2026)</a:t>
            </a:r>
            <a:endParaRPr lang="en-US" sz="1496" dirty="0"/>
          </a:p>
        </p:txBody>
      </p:sp>
      <p:sp>
        <p:nvSpPr>
          <p:cNvPr id="10" name="Text 8"/>
          <p:cNvSpPr txBox="1"/>
          <p:nvPr/>
        </p:nvSpPr>
        <p:spPr>
          <a:xfrm>
            <a:off x="2555424" y="2908300"/>
            <a:ext cx="1953682"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50,000</a:t>
            </a:r>
            <a:endParaRPr lang="en-US" sz="1197" dirty="0"/>
          </a:p>
        </p:txBody>
      </p:sp>
      <p:sp>
        <p:nvSpPr>
          <p:cNvPr id="11" name="Text 9"/>
          <p:cNvSpPr txBox="1"/>
          <p:nvPr/>
        </p:nvSpPr>
        <p:spPr>
          <a:xfrm>
            <a:off x="4813143" y="2908300"/>
            <a:ext cx="3157660"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500-1,000</a:t>
            </a:r>
            <a:endParaRPr lang="en-US" sz="1197" dirty="0"/>
          </a:p>
        </p:txBody>
      </p:sp>
      <p:sp>
        <p:nvSpPr>
          <p:cNvPr id="12" name="Text 10"/>
          <p:cNvSpPr txBox="1"/>
          <p:nvPr/>
        </p:nvSpPr>
        <p:spPr>
          <a:xfrm>
            <a:off x="8274842" y="2908300"/>
            <a:ext cx="1579177"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$1-2M</a:t>
            </a:r>
            <a:endParaRPr lang="en-US" sz="1197" dirty="0"/>
          </a:p>
        </p:txBody>
      </p:sp>
      <p:sp>
        <p:nvSpPr>
          <p:cNvPr id="13" name="Text 11"/>
          <p:cNvSpPr txBox="1"/>
          <p:nvPr/>
        </p:nvSpPr>
        <p:spPr>
          <a:xfrm>
            <a:off x="10158056" y="2908300"/>
            <a:ext cx="1446061" cy="203200"/>
          </a:xfrm>
          <a:prstGeom prst="rect">
            <a:avLst/>
          </a:prstGeom>
          <a:noFill/>
          <a:ln/>
        </p:spPr>
        <p:txBody>
          <a:bodyPr wrap="square" lIns="0" tIns="0" rIns="0" bIns="0" rtlCol="0" anchor="ctr"/>
          <a:lstStyle/>
          <a:p>
            <a:pPr algn="l" indent="0" marL="0">
              <a:buNone/>
            </a:pPr>
            <a:r>
              <a:rPr lang="en-US" sz="1197" dirty="0">
                <a:solidFill>
                  <a:srgbClr val="68B8D9"/>
                </a:solidFill>
                <a:latin typeface="Century Gothic" pitchFamily="34" charset="0"/>
                <a:ea typeface="Century Gothic" pitchFamily="34" charset="-122"/>
                <a:cs typeface="Century Gothic" pitchFamily="34" charset="-120"/>
              </a:rPr>
              <a:t>110-120%</a:t>
            </a:r>
            <a:endParaRPr lang="en-US" sz="1197" dirty="0"/>
          </a:p>
        </p:txBody>
      </p:sp>
      <p:sp>
        <p:nvSpPr>
          <p:cNvPr id="14" name="Text 12"/>
          <p:cNvSpPr txBox="1"/>
          <p:nvPr/>
        </p:nvSpPr>
        <p:spPr>
          <a:xfrm>
            <a:off x="557403" y="3435350"/>
            <a:ext cx="1693983"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Y2 (2027)</a:t>
            </a:r>
            <a:endParaRPr lang="en-US" sz="1496" dirty="0"/>
          </a:p>
        </p:txBody>
      </p:sp>
      <p:sp>
        <p:nvSpPr>
          <p:cNvPr id="15" name="Text 13"/>
          <p:cNvSpPr txBox="1"/>
          <p:nvPr/>
        </p:nvSpPr>
        <p:spPr>
          <a:xfrm>
            <a:off x="2555424" y="3448050"/>
            <a:ext cx="1953682"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200,000</a:t>
            </a:r>
            <a:endParaRPr lang="en-US" sz="1197" dirty="0"/>
          </a:p>
        </p:txBody>
      </p:sp>
      <p:sp>
        <p:nvSpPr>
          <p:cNvPr id="16" name="Text 14"/>
          <p:cNvSpPr txBox="1"/>
          <p:nvPr/>
        </p:nvSpPr>
        <p:spPr>
          <a:xfrm>
            <a:off x="4813143" y="3448050"/>
            <a:ext cx="3157660"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2,500-4,000</a:t>
            </a:r>
            <a:endParaRPr lang="en-US" sz="1197" dirty="0"/>
          </a:p>
        </p:txBody>
      </p:sp>
      <p:sp>
        <p:nvSpPr>
          <p:cNvPr id="17" name="Text 15"/>
          <p:cNvSpPr txBox="1"/>
          <p:nvPr/>
        </p:nvSpPr>
        <p:spPr>
          <a:xfrm>
            <a:off x="8274842" y="3448050"/>
            <a:ext cx="1579177"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$5-10M</a:t>
            </a:r>
            <a:endParaRPr lang="en-US" sz="1197" dirty="0"/>
          </a:p>
        </p:txBody>
      </p:sp>
      <p:sp>
        <p:nvSpPr>
          <p:cNvPr id="18" name="Text 16"/>
          <p:cNvSpPr txBox="1"/>
          <p:nvPr/>
        </p:nvSpPr>
        <p:spPr>
          <a:xfrm>
            <a:off x="10158056" y="3448050"/>
            <a:ext cx="1446061" cy="203200"/>
          </a:xfrm>
          <a:prstGeom prst="rect">
            <a:avLst/>
          </a:prstGeom>
          <a:noFill/>
          <a:ln/>
        </p:spPr>
        <p:txBody>
          <a:bodyPr wrap="square" lIns="0" tIns="0" rIns="0" bIns="0" rtlCol="0" anchor="ctr"/>
          <a:lstStyle/>
          <a:p>
            <a:pPr algn="l" indent="0" marL="0">
              <a:buNone/>
            </a:pPr>
            <a:r>
              <a:rPr lang="en-US" sz="1197" dirty="0">
                <a:solidFill>
                  <a:srgbClr val="68B8D9"/>
                </a:solidFill>
                <a:latin typeface="Century Gothic" pitchFamily="34" charset="0"/>
                <a:ea typeface="Century Gothic" pitchFamily="34" charset="-122"/>
                <a:cs typeface="Century Gothic" pitchFamily="34" charset="-120"/>
              </a:rPr>
              <a:t>130-150%</a:t>
            </a:r>
            <a:endParaRPr lang="en-US" sz="1197" dirty="0"/>
          </a:p>
        </p:txBody>
      </p:sp>
      <p:sp>
        <p:nvSpPr>
          <p:cNvPr id="19" name="Text 17"/>
          <p:cNvSpPr txBox="1"/>
          <p:nvPr/>
        </p:nvSpPr>
        <p:spPr>
          <a:xfrm>
            <a:off x="557403" y="3975100"/>
            <a:ext cx="1693983"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Y3 (2028)</a:t>
            </a:r>
            <a:endParaRPr lang="en-US" sz="1496" dirty="0"/>
          </a:p>
        </p:txBody>
      </p:sp>
      <p:sp>
        <p:nvSpPr>
          <p:cNvPr id="20" name="Text 18"/>
          <p:cNvSpPr txBox="1"/>
          <p:nvPr/>
        </p:nvSpPr>
        <p:spPr>
          <a:xfrm>
            <a:off x="2555424" y="3987800"/>
            <a:ext cx="1953682"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500,000</a:t>
            </a:r>
            <a:endParaRPr lang="en-US" sz="1197" dirty="0"/>
          </a:p>
        </p:txBody>
      </p:sp>
      <p:sp>
        <p:nvSpPr>
          <p:cNvPr id="21" name="Text 19"/>
          <p:cNvSpPr txBox="1"/>
          <p:nvPr/>
        </p:nvSpPr>
        <p:spPr>
          <a:xfrm>
            <a:off x="4813143" y="3987800"/>
            <a:ext cx="3157660"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7,000-10,000</a:t>
            </a:r>
            <a:endParaRPr lang="en-US" sz="1197" dirty="0"/>
          </a:p>
        </p:txBody>
      </p:sp>
      <p:sp>
        <p:nvSpPr>
          <p:cNvPr id="22" name="Text 20"/>
          <p:cNvSpPr txBox="1"/>
          <p:nvPr/>
        </p:nvSpPr>
        <p:spPr>
          <a:xfrm>
            <a:off x="8274842" y="3987800"/>
            <a:ext cx="1579177"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$20-40M</a:t>
            </a:r>
            <a:endParaRPr lang="en-US" sz="1197" dirty="0"/>
          </a:p>
        </p:txBody>
      </p:sp>
      <p:sp>
        <p:nvSpPr>
          <p:cNvPr id="23" name="Text 21"/>
          <p:cNvSpPr txBox="1"/>
          <p:nvPr/>
        </p:nvSpPr>
        <p:spPr>
          <a:xfrm>
            <a:off x="10158056" y="3987800"/>
            <a:ext cx="1446061" cy="203200"/>
          </a:xfrm>
          <a:prstGeom prst="rect">
            <a:avLst/>
          </a:prstGeom>
          <a:noFill/>
          <a:ln/>
        </p:spPr>
        <p:txBody>
          <a:bodyPr wrap="square" lIns="0" tIns="0" rIns="0" bIns="0" rtlCol="0" anchor="ctr"/>
          <a:lstStyle/>
          <a:p>
            <a:pPr algn="l" indent="0" marL="0">
              <a:buNone/>
            </a:pPr>
            <a:r>
              <a:rPr lang="en-US" sz="1197" dirty="0">
                <a:solidFill>
                  <a:srgbClr val="68B8D9"/>
                </a:solidFill>
                <a:latin typeface="Century Gothic" pitchFamily="34" charset="0"/>
                <a:ea typeface="Century Gothic" pitchFamily="34" charset="-122"/>
                <a:cs typeface="Century Gothic" pitchFamily="34" charset="-120"/>
              </a:rPr>
              <a:t>140-160%</a:t>
            </a:r>
            <a:endParaRPr lang="en-US" sz="1197" dirty="0"/>
          </a:p>
        </p:txBody>
      </p:sp>
      <p:sp>
        <p:nvSpPr>
          <p:cNvPr id="24" name="Text 22"/>
          <p:cNvSpPr txBox="1"/>
          <p:nvPr/>
        </p:nvSpPr>
        <p:spPr>
          <a:xfrm>
            <a:off x="557403" y="4514850"/>
            <a:ext cx="1693983"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Y5 (2030)</a:t>
            </a:r>
            <a:endParaRPr lang="en-US" sz="1496" dirty="0"/>
          </a:p>
        </p:txBody>
      </p:sp>
      <p:sp>
        <p:nvSpPr>
          <p:cNvPr id="25" name="Text 23"/>
          <p:cNvSpPr txBox="1"/>
          <p:nvPr/>
        </p:nvSpPr>
        <p:spPr>
          <a:xfrm>
            <a:off x="2555424" y="4527550"/>
            <a:ext cx="1953682"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2,000,000+</a:t>
            </a:r>
            <a:endParaRPr lang="en-US" sz="1197" dirty="0"/>
          </a:p>
        </p:txBody>
      </p:sp>
      <p:sp>
        <p:nvSpPr>
          <p:cNvPr id="26" name="Text 24"/>
          <p:cNvSpPr txBox="1"/>
          <p:nvPr/>
        </p:nvSpPr>
        <p:spPr>
          <a:xfrm>
            <a:off x="4813143" y="4527550"/>
            <a:ext cx="3157660"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18,000-20,000</a:t>
            </a:r>
            <a:endParaRPr lang="en-US" sz="1197" dirty="0"/>
          </a:p>
        </p:txBody>
      </p:sp>
      <p:sp>
        <p:nvSpPr>
          <p:cNvPr id="27" name="Text 25"/>
          <p:cNvSpPr txBox="1"/>
          <p:nvPr/>
        </p:nvSpPr>
        <p:spPr>
          <a:xfrm>
            <a:off x="8274842" y="4527550"/>
            <a:ext cx="1579177"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$100-150M</a:t>
            </a:r>
            <a:endParaRPr lang="en-US" sz="1197" dirty="0"/>
          </a:p>
        </p:txBody>
      </p:sp>
      <p:sp>
        <p:nvSpPr>
          <p:cNvPr id="28" name="Text 26"/>
          <p:cNvSpPr txBox="1"/>
          <p:nvPr/>
        </p:nvSpPr>
        <p:spPr>
          <a:xfrm>
            <a:off x="10158056" y="4527550"/>
            <a:ext cx="1446061" cy="203200"/>
          </a:xfrm>
          <a:prstGeom prst="rect">
            <a:avLst/>
          </a:prstGeom>
          <a:noFill/>
          <a:ln/>
        </p:spPr>
        <p:txBody>
          <a:bodyPr wrap="square" lIns="0" tIns="0" rIns="0" bIns="0" rtlCol="0" anchor="ctr"/>
          <a:lstStyle/>
          <a:p>
            <a:pPr algn="l" indent="0" marL="0">
              <a:buNone/>
            </a:pPr>
            <a:r>
              <a:rPr lang="en-US" sz="1197" dirty="0">
                <a:solidFill>
                  <a:srgbClr val="68B8D9"/>
                </a:solidFill>
                <a:latin typeface="Century Gothic" pitchFamily="34" charset="0"/>
                <a:ea typeface="Century Gothic" pitchFamily="34" charset="-122"/>
                <a:cs typeface="Century Gothic" pitchFamily="34" charset="-120"/>
              </a:rPr>
              <a:t>150-180%</a:t>
            </a:r>
            <a:endParaRPr lang="en-US" sz="1197" dirty="0"/>
          </a:p>
        </p:txBody>
      </p:sp>
      <p:sp>
        <p:nvSpPr>
          <p:cNvPr id="29" name="Text 27"/>
          <p:cNvSpPr txBox="1"/>
          <p:nvPr/>
        </p:nvSpPr>
        <p:spPr>
          <a:xfrm>
            <a:off x="405384" y="5207000"/>
            <a:ext cx="11350752" cy="228600"/>
          </a:xfrm>
          <a:prstGeom prst="rect">
            <a:avLst/>
          </a:prstGeom>
          <a:noFill/>
          <a:ln/>
        </p:spPr>
        <p:txBody>
          <a:bodyPr wrap="square" lIns="0" tIns="0" rIns="0" bIns="0" rtlCol="0" anchor="ctr"/>
          <a:lstStyle/>
          <a:p>
            <a:pPr algn="ctr" indent="0" marL="0">
              <a:buNone/>
            </a:pPr>
            <a:r>
              <a:rPr lang="en-US" sz="1496" b="1" dirty="0">
                <a:solidFill>
                  <a:srgbClr val="F0F8FF"/>
                </a:solidFill>
                <a:latin typeface="Century Gothic" pitchFamily="34" charset="0"/>
                <a:ea typeface="Century Gothic" pitchFamily="34" charset="-122"/>
                <a:cs typeface="Century Gothic" pitchFamily="34" charset="-120"/>
              </a:rPr>
              <a:t>Key Driver:</a:t>
            </a:r>
            <a:pPr algn="ctr"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ctr" indent="0" marL="0">
              <a:buNone/>
            </a:pPr>
            <a:r>
              <a:rPr lang="en-US" sz="1496" b="1" dirty="0">
                <a:solidFill>
                  <a:srgbClr val="68B8D9"/>
                </a:solidFill>
                <a:latin typeface="Century Gothic" pitchFamily="34" charset="0"/>
                <a:ea typeface="Century Gothic" pitchFamily="34" charset="-122"/>
                <a:cs typeface="Century Gothic" pitchFamily="34" charset="-120"/>
              </a:rPr>
              <a:t>2% freemium conversion</a:t>
            </a:r>
            <a:pPr algn="ctr" indent="0" marL="0">
              <a:buNone/>
            </a:pPr>
            <a:r>
              <a:rPr lang="en-US" sz="1496" dirty="0">
                <a:solidFill>
                  <a:srgbClr val="F0F8FF"/>
                </a:solidFill>
                <a:latin typeface="Century Gothic" pitchFamily="34" charset="0"/>
                <a:ea typeface="Century Gothic" pitchFamily="34" charset="-122"/>
                <a:cs typeface="Century Gothic" pitchFamily="34" charset="-120"/>
              </a:rPr>
              <a:t> + </a:t>
            </a:r>
            <a:pPr algn="ctr" indent="0" marL="0">
              <a:buNone/>
            </a:pPr>
            <a:r>
              <a:rPr lang="en-US" sz="1496" b="1" dirty="0">
                <a:solidFill>
                  <a:srgbClr val="68B8D9"/>
                </a:solidFill>
                <a:latin typeface="Century Gothic" pitchFamily="34" charset="0"/>
                <a:ea typeface="Century Gothic" pitchFamily="34" charset="-122"/>
                <a:cs typeface="Century Gothic" pitchFamily="34" charset="-120"/>
              </a:rPr>
              <a:t>130-180% NDR</a:t>
            </a:r>
            <a:pPr algn="ctr" indent="0" marL="0">
              <a:buNone/>
            </a:pPr>
            <a:r>
              <a:rPr lang="en-US" sz="1496" dirty="0">
                <a:solidFill>
                  <a:srgbClr val="F0F8FF"/>
                </a:solidFill>
                <a:latin typeface="Century Gothic" pitchFamily="34" charset="0"/>
                <a:ea typeface="Century Gothic" pitchFamily="34" charset="-122"/>
                <a:cs typeface="Century Gothic" pitchFamily="34" charset="-120"/>
              </a:rPr>
              <a:t> = </a:t>
            </a:r>
            <a:pPr algn="ctr" indent="0" marL="0">
              <a:buNone/>
            </a:pPr>
            <a:r>
              <a:rPr lang="en-US" sz="1496" b="1" dirty="0">
                <a:solidFill>
                  <a:srgbClr val="68B8D9"/>
                </a:solidFill>
                <a:latin typeface="Century Gothic" pitchFamily="34" charset="0"/>
                <a:ea typeface="Century Gothic" pitchFamily="34" charset="-122"/>
                <a:cs typeface="Century Gothic" pitchFamily="34" charset="-120"/>
              </a:rPr>
              <a:t>exponential growth trajectory</a:t>
            </a:r>
            <a:endParaRPr lang="en-US" sz="1496" dirty="0"/>
          </a:p>
        </p:txBody>
      </p:sp>
      <p:sp>
        <p:nvSpPr>
          <p:cNvPr id="30" name="Text 28"/>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8</a:t>
            </a:r>
            <a:endParaRPr lang="en-US" sz="11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Unit Economics &amp; Path to Profitability</a:t>
            </a:r>
            <a:endParaRPr lang="en-US" sz="2993" dirty="0"/>
          </a:p>
        </p:txBody>
      </p:sp>
      <p:sp>
        <p:nvSpPr>
          <p:cNvPr id="4" name="Text 2"/>
          <p:cNvSpPr txBox="1"/>
          <p:nvPr/>
        </p:nvSpPr>
        <p:spPr>
          <a:xfrm>
            <a:off x="532067" y="2225675"/>
            <a:ext cx="2034640"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Segment</a:t>
            </a:r>
            <a:endParaRPr lang="en-US" sz="1496" dirty="0"/>
          </a:p>
        </p:txBody>
      </p:sp>
      <p:sp>
        <p:nvSpPr>
          <p:cNvPr id="5" name="Text 3"/>
          <p:cNvSpPr txBox="1"/>
          <p:nvPr/>
        </p:nvSpPr>
        <p:spPr>
          <a:xfrm>
            <a:off x="2820071" y="2225675"/>
            <a:ext cx="1681809"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LTV:CAC</a:t>
            </a:r>
            <a:endParaRPr lang="en-US" sz="1496" dirty="0"/>
          </a:p>
        </p:txBody>
      </p:sp>
      <p:sp>
        <p:nvSpPr>
          <p:cNvPr id="6" name="Text 4"/>
          <p:cNvSpPr txBox="1"/>
          <p:nvPr/>
        </p:nvSpPr>
        <p:spPr>
          <a:xfrm>
            <a:off x="4755245" y="2225675"/>
            <a:ext cx="2458432"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CAC Payback</a:t>
            </a:r>
            <a:endParaRPr lang="en-US" sz="1496" dirty="0"/>
          </a:p>
        </p:txBody>
      </p:sp>
      <p:sp>
        <p:nvSpPr>
          <p:cNvPr id="7" name="Text 5"/>
          <p:cNvSpPr txBox="1"/>
          <p:nvPr/>
        </p:nvSpPr>
        <p:spPr>
          <a:xfrm>
            <a:off x="7467043" y="2225675"/>
            <a:ext cx="2438638"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Gross Margin</a:t>
            </a:r>
            <a:endParaRPr lang="en-US" sz="1496" dirty="0"/>
          </a:p>
        </p:txBody>
      </p:sp>
      <p:sp>
        <p:nvSpPr>
          <p:cNvPr id="8" name="Text 6"/>
          <p:cNvSpPr txBox="1"/>
          <p:nvPr/>
        </p:nvSpPr>
        <p:spPr>
          <a:xfrm>
            <a:off x="10159046" y="2225675"/>
            <a:ext cx="1470408" cy="228600"/>
          </a:xfrm>
          <a:prstGeom prst="rect">
            <a:avLst/>
          </a:prstGeom>
          <a:noFill/>
          <a:ln/>
        </p:spPr>
        <p:txBody>
          <a:bodyPr wrap="square" lIns="0" tIns="0" rIns="0" bIns="0" rtlCol="0" anchor="ctr"/>
          <a:lstStyle/>
          <a:p>
            <a:pPr algn="l" indent="0" marL="0">
              <a:buNone/>
            </a:pPr>
            <a:r>
              <a:rPr lang="en-US" sz="1496" dirty="0">
                <a:solidFill>
                  <a:srgbClr val="F0F8FF"/>
                </a:solidFill>
                <a:latin typeface="Segoe UI" pitchFamily="34" charset="0"/>
                <a:ea typeface="Segoe UI" pitchFamily="34" charset="-122"/>
                <a:cs typeface="Segoe UI" pitchFamily="34" charset="-120"/>
              </a:rPr>
              <a:t>NDR</a:t>
            </a:r>
            <a:endParaRPr lang="en-US" sz="1496" dirty="0"/>
          </a:p>
        </p:txBody>
      </p:sp>
      <p:sp>
        <p:nvSpPr>
          <p:cNvPr id="9" name="Text 7"/>
          <p:cNvSpPr txBox="1"/>
          <p:nvPr/>
        </p:nvSpPr>
        <p:spPr>
          <a:xfrm>
            <a:off x="532067" y="2708275"/>
            <a:ext cx="203464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SMB</a:t>
            </a:r>
            <a:endParaRPr lang="en-US" sz="1496" dirty="0"/>
          </a:p>
        </p:txBody>
      </p:sp>
      <p:sp>
        <p:nvSpPr>
          <p:cNvPr id="10" name="Text 8"/>
          <p:cNvSpPr txBox="1"/>
          <p:nvPr/>
        </p:nvSpPr>
        <p:spPr>
          <a:xfrm>
            <a:off x="2820071" y="2720975"/>
            <a:ext cx="1681809"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80-250:1</a:t>
            </a:r>
            <a:endParaRPr lang="en-US" sz="1197" dirty="0"/>
          </a:p>
        </p:txBody>
      </p:sp>
      <p:sp>
        <p:nvSpPr>
          <p:cNvPr id="11" name="Text 9"/>
          <p:cNvSpPr txBox="1"/>
          <p:nvPr/>
        </p:nvSpPr>
        <p:spPr>
          <a:xfrm>
            <a:off x="4755245" y="2720975"/>
            <a:ext cx="2458432"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1-2 mo</a:t>
            </a:r>
            <a:endParaRPr lang="en-US" sz="1197" dirty="0"/>
          </a:p>
        </p:txBody>
      </p:sp>
      <p:sp>
        <p:nvSpPr>
          <p:cNvPr id="12" name="Text 10"/>
          <p:cNvSpPr txBox="1"/>
          <p:nvPr/>
        </p:nvSpPr>
        <p:spPr>
          <a:xfrm>
            <a:off x="7467043" y="2720975"/>
            <a:ext cx="2438638"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80-85%</a:t>
            </a:r>
            <a:endParaRPr lang="en-US" sz="1197" dirty="0"/>
          </a:p>
        </p:txBody>
      </p:sp>
      <p:sp>
        <p:nvSpPr>
          <p:cNvPr id="13" name="Text 11"/>
          <p:cNvSpPr txBox="1"/>
          <p:nvPr/>
        </p:nvSpPr>
        <p:spPr>
          <a:xfrm>
            <a:off x="10159046" y="2720975"/>
            <a:ext cx="1470408" cy="203200"/>
          </a:xfrm>
          <a:prstGeom prst="rect">
            <a:avLst/>
          </a:prstGeom>
          <a:noFill/>
          <a:ln/>
        </p:spPr>
        <p:txBody>
          <a:bodyPr wrap="square" lIns="0" tIns="0" rIns="0" bIns="0" rtlCol="0" anchor="ctr"/>
          <a:lstStyle/>
          <a:p>
            <a:pPr algn="l" indent="0" marL="0">
              <a:buNone/>
            </a:pPr>
            <a:r>
              <a:rPr lang="en-US" sz="1197" dirty="0">
                <a:solidFill>
                  <a:srgbClr val="68B8D9"/>
                </a:solidFill>
                <a:latin typeface="Century Gothic" pitchFamily="34" charset="0"/>
                <a:ea typeface="Century Gothic" pitchFamily="34" charset="-122"/>
                <a:cs typeface="Century Gothic" pitchFamily="34" charset="-120"/>
              </a:rPr>
              <a:t>110-120%</a:t>
            </a:r>
            <a:endParaRPr lang="en-US" sz="1197" dirty="0"/>
          </a:p>
        </p:txBody>
      </p:sp>
      <p:sp>
        <p:nvSpPr>
          <p:cNvPr id="14" name="Text 12"/>
          <p:cNvSpPr txBox="1"/>
          <p:nvPr/>
        </p:nvSpPr>
        <p:spPr>
          <a:xfrm>
            <a:off x="532067" y="3197225"/>
            <a:ext cx="203464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Mid-Market</a:t>
            </a:r>
            <a:endParaRPr lang="en-US" sz="1496" dirty="0"/>
          </a:p>
        </p:txBody>
      </p:sp>
      <p:sp>
        <p:nvSpPr>
          <p:cNvPr id="15" name="Text 13"/>
          <p:cNvSpPr txBox="1"/>
          <p:nvPr/>
        </p:nvSpPr>
        <p:spPr>
          <a:xfrm>
            <a:off x="2820071" y="3209925"/>
            <a:ext cx="1681809"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100-300:1</a:t>
            </a:r>
            <a:endParaRPr lang="en-US" sz="1197" dirty="0"/>
          </a:p>
        </p:txBody>
      </p:sp>
      <p:sp>
        <p:nvSpPr>
          <p:cNvPr id="16" name="Text 14"/>
          <p:cNvSpPr txBox="1"/>
          <p:nvPr/>
        </p:nvSpPr>
        <p:spPr>
          <a:xfrm>
            <a:off x="4755245" y="3209925"/>
            <a:ext cx="2458432"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2-4 mo</a:t>
            </a:r>
            <a:endParaRPr lang="en-US" sz="1197" dirty="0"/>
          </a:p>
        </p:txBody>
      </p:sp>
      <p:sp>
        <p:nvSpPr>
          <p:cNvPr id="17" name="Text 15"/>
          <p:cNvSpPr txBox="1"/>
          <p:nvPr/>
        </p:nvSpPr>
        <p:spPr>
          <a:xfrm>
            <a:off x="7467043" y="3209925"/>
            <a:ext cx="2438638"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82-87%</a:t>
            </a:r>
            <a:endParaRPr lang="en-US" sz="1197" dirty="0"/>
          </a:p>
        </p:txBody>
      </p:sp>
      <p:sp>
        <p:nvSpPr>
          <p:cNvPr id="18" name="Text 16"/>
          <p:cNvSpPr txBox="1"/>
          <p:nvPr/>
        </p:nvSpPr>
        <p:spPr>
          <a:xfrm>
            <a:off x="10159046" y="3209925"/>
            <a:ext cx="1470408" cy="203200"/>
          </a:xfrm>
          <a:prstGeom prst="rect">
            <a:avLst/>
          </a:prstGeom>
          <a:noFill/>
          <a:ln/>
        </p:spPr>
        <p:txBody>
          <a:bodyPr wrap="square" lIns="0" tIns="0" rIns="0" bIns="0" rtlCol="0" anchor="ctr"/>
          <a:lstStyle/>
          <a:p>
            <a:pPr algn="l" indent="0" marL="0">
              <a:buNone/>
            </a:pPr>
            <a:r>
              <a:rPr lang="en-US" sz="1197" dirty="0">
                <a:solidFill>
                  <a:srgbClr val="68B8D9"/>
                </a:solidFill>
                <a:latin typeface="Century Gothic" pitchFamily="34" charset="0"/>
                <a:ea typeface="Century Gothic" pitchFamily="34" charset="-122"/>
                <a:cs typeface="Century Gothic" pitchFamily="34" charset="-120"/>
              </a:rPr>
              <a:t>130-150%</a:t>
            </a:r>
            <a:endParaRPr lang="en-US" sz="1197" dirty="0"/>
          </a:p>
        </p:txBody>
      </p:sp>
      <p:sp>
        <p:nvSpPr>
          <p:cNvPr id="19" name="Text 17"/>
          <p:cNvSpPr txBox="1"/>
          <p:nvPr/>
        </p:nvSpPr>
        <p:spPr>
          <a:xfrm>
            <a:off x="532067" y="3686175"/>
            <a:ext cx="203464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Segoe UI" pitchFamily="34" charset="0"/>
                <a:ea typeface="Segoe UI" pitchFamily="34" charset="-122"/>
                <a:cs typeface="Segoe UI" pitchFamily="34" charset="-120"/>
              </a:rPr>
              <a:t>Enterprise</a:t>
            </a:r>
            <a:endParaRPr lang="en-US" sz="1496" dirty="0"/>
          </a:p>
        </p:txBody>
      </p:sp>
      <p:sp>
        <p:nvSpPr>
          <p:cNvPr id="20" name="Text 18"/>
          <p:cNvSpPr txBox="1"/>
          <p:nvPr/>
        </p:nvSpPr>
        <p:spPr>
          <a:xfrm>
            <a:off x="2820071" y="3698875"/>
            <a:ext cx="1681809" cy="203200"/>
          </a:xfrm>
          <a:prstGeom prst="rect">
            <a:avLst/>
          </a:prstGeom>
          <a:noFill/>
          <a:ln/>
        </p:spPr>
        <p:txBody>
          <a:bodyPr wrap="square" lIns="0" tIns="0" rIns="0" bIns="0" rtlCol="0" anchor="ctr"/>
          <a:lstStyle/>
          <a:p>
            <a:pPr algn="l" indent="0" marL="0">
              <a:buNone/>
            </a:pPr>
            <a:r>
              <a:rPr lang="en-US" sz="1197" b="1" dirty="0">
                <a:solidFill>
                  <a:srgbClr val="68B8D9"/>
                </a:solidFill>
                <a:latin typeface="Century Gothic" pitchFamily="34" charset="0"/>
                <a:ea typeface="Century Gothic" pitchFamily="34" charset="-122"/>
                <a:cs typeface="Century Gothic" pitchFamily="34" charset="-120"/>
              </a:rPr>
              <a:t>100-400:1</a:t>
            </a:r>
            <a:endParaRPr lang="en-US" sz="1197" dirty="0"/>
          </a:p>
        </p:txBody>
      </p:sp>
      <p:sp>
        <p:nvSpPr>
          <p:cNvPr id="21" name="Text 19"/>
          <p:cNvSpPr txBox="1"/>
          <p:nvPr/>
        </p:nvSpPr>
        <p:spPr>
          <a:xfrm>
            <a:off x="4755245" y="3698875"/>
            <a:ext cx="2458432"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3-6 mo</a:t>
            </a:r>
            <a:endParaRPr lang="en-US" sz="1197" dirty="0"/>
          </a:p>
        </p:txBody>
      </p:sp>
      <p:sp>
        <p:nvSpPr>
          <p:cNvPr id="22" name="Text 20"/>
          <p:cNvSpPr txBox="1"/>
          <p:nvPr/>
        </p:nvSpPr>
        <p:spPr>
          <a:xfrm>
            <a:off x="7467043" y="3698875"/>
            <a:ext cx="2438638" cy="203200"/>
          </a:xfrm>
          <a:prstGeom prst="rect">
            <a:avLst/>
          </a:prstGeom>
          <a:noFill/>
          <a:ln/>
        </p:spPr>
        <p:txBody>
          <a:bodyPr wrap="square" lIns="0" tIns="0" rIns="0" bIns="0" rtlCol="0" anchor="ctr"/>
          <a:lstStyle/>
          <a:p>
            <a:pPr algn="l" indent="0" marL="0">
              <a:buNone/>
            </a:pPr>
            <a:r>
              <a:rPr lang="en-US" sz="1197" dirty="0">
                <a:solidFill>
                  <a:srgbClr val="F0F8FF"/>
                </a:solidFill>
                <a:latin typeface="Century Gothic" pitchFamily="34" charset="0"/>
                <a:ea typeface="Century Gothic" pitchFamily="34" charset="-122"/>
                <a:cs typeface="Century Gothic" pitchFamily="34" charset="-120"/>
              </a:rPr>
              <a:t>85-90%</a:t>
            </a:r>
            <a:endParaRPr lang="en-US" sz="1197" dirty="0"/>
          </a:p>
        </p:txBody>
      </p:sp>
      <p:sp>
        <p:nvSpPr>
          <p:cNvPr id="23" name="Text 21"/>
          <p:cNvSpPr txBox="1"/>
          <p:nvPr/>
        </p:nvSpPr>
        <p:spPr>
          <a:xfrm>
            <a:off x="10159046" y="3698875"/>
            <a:ext cx="1470408" cy="203200"/>
          </a:xfrm>
          <a:prstGeom prst="rect">
            <a:avLst/>
          </a:prstGeom>
          <a:noFill/>
          <a:ln/>
        </p:spPr>
        <p:txBody>
          <a:bodyPr wrap="square" lIns="0" tIns="0" rIns="0" bIns="0" rtlCol="0" anchor="ctr"/>
          <a:lstStyle/>
          <a:p>
            <a:pPr algn="l" indent="0" marL="0">
              <a:buNone/>
            </a:pPr>
            <a:r>
              <a:rPr lang="en-US" sz="1197" dirty="0">
                <a:solidFill>
                  <a:srgbClr val="68B8D9"/>
                </a:solidFill>
                <a:latin typeface="Century Gothic" pitchFamily="34" charset="0"/>
                <a:ea typeface="Century Gothic" pitchFamily="34" charset="-122"/>
                <a:cs typeface="Century Gothic" pitchFamily="34" charset="-120"/>
              </a:rPr>
              <a:t>140-180%</a:t>
            </a:r>
            <a:endParaRPr lang="en-US" sz="1197" dirty="0"/>
          </a:p>
        </p:txBody>
      </p:sp>
      <p:sp>
        <p:nvSpPr>
          <p:cNvPr id="24" name="Text 22"/>
          <p:cNvSpPr txBox="1"/>
          <p:nvPr/>
        </p:nvSpPr>
        <p:spPr>
          <a:xfrm>
            <a:off x="405384" y="4251325"/>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Profitability Timeline</a:t>
            </a:r>
            <a:endParaRPr lang="en-US" sz="1795" dirty="0"/>
          </a:p>
        </p:txBody>
      </p:sp>
      <p:sp>
        <p:nvSpPr>
          <p:cNvPr id="25" name="Text 23"/>
          <p:cNvSpPr txBox="1"/>
          <p:nvPr/>
        </p:nvSpPr>
        <p:spPr>
          <a:xfrm>
            <a:off x="405384" y="4657725"/>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Gross Margin: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80-85% from day 1 (software high margin)</a:t>
            </a:r>
            <a:endParaRPr lang="en-US" sz="1496" dirty="0"/>
          </a:p>
        </p:txBody>
      </p:sp>
      <p:sp>
        <p:nvSpPr>
          <p:cNvPr id="26" name="Text 24"/>
          <p:cNvSpPr txBox="1"/>
          <p:nvPr/>
        </p:nvSpPr>
        <p:spPr>
          <a:xfrm>
            <a:off x="405384" y="4987925"/>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EBITDA Positive: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Year 2-3 (when growth moderates)</a:t>
            </a:r>
            <a:endParaRPr lang="en-US" sz="1496" dirty="0"/>
          </a:p>
        </p:txBody>
      </p:sp>
      <p:sp>
        <p:nvSpPr>
          <p:cNvPr id="27" name="Text 25"/>
          <p:cNvSpPr txBox="1"/>
          <p:nvPr/>
        </p:nvSpPr>
        <p:spPr>
          <a:xfrm>
            <a:off x="405384" y="5318125"/>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Path to $100M ARR:</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Year 5 (sustainable, cash-generative)</a:t>
            </a:r>
            <a:endParaRPr lang="en-US" sz="1496" dirty="0"/>
          </a:p>
        </p:txBody>
      </p:sp>
      <p:sp>
        <p:nvSpPr>
          <p:cNvPr id="28" name="Text 26"/>
          <p:cNvSpPr txBox="1"/>
          <p:nvPr/>
        </p:nvSpPr>
        <p:spPr>
          <a:xfrm>
            <a:off x="11886876" y="6464300"/>
            <a:ext cx="84620"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9</a:t>
            </a:r>
            <a:endParaRPr lang="en-US" sz="11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Three-Phase Market Expansion</a:t>
            </a:r>
            <a:endParaRPr lang="en-US" sz="2993" dirty="0"/>
          </a:p>
        </p:txBody>
      </p:sp>
      <p:sp>
        <p:nvSpPr>
          <p:cNvPr id="4" name="Shape 2"/>
          <p:cNvSpPr/>
          <p:nvPr/>
        </p:nvSpPr>
        <p:spPr>
          <a:xfrm>
            <a:off x="405384" y="1193800"/>
            <a:ext cx="11350752" cy="1651000"/>
          </a:xfrm>
          <a:prstGeom prst="roundRect">
            <a:avLst>
              <a:gd name="adj" fmla="val 5112"/>
            </a:avLst>
          </a:prstGeom>
          <a:solidFill>
            <a:srgbClr val="0077BE">
              <a:alpha val="10000"/>
            </a:srgbClr>
          </a:solidFill>
          <a:ln/>
        </p:spPr>
      </p:sp>
      <p:sp>
        <p:nvSpPr>
          <p:cNvPr id="5" name="Text 3"/>
          <p:cNvSpPr txBox="1"/>
          <p:nvPr/>
        </p:nvSpPr>
        <p:spPr>
          <a:xfrm>
            <a:off x="608076" y="1587500"/>
            <a:ext cx="10945368"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Segoe UI" pitchFamily="34" charset="0"/>
                <a:ea typeface="Segoe UI" pitchFamily="34" charset="-122"/>
                <a:cs typeface="Segoe UI" pitchFamily="34" charset="-120"/>
              </a:rPr>
              <a:t>Phase 1: SMB Domination (Y1-2)</a:t>
            </a:r>
            <a:endParaRPr lang="en-US" sz="1795" dirty="0"/>
          </a:p>
        </p:txBody>
      </p:sp>
      <p:sp>
        <p:nvSpPr>
          <p:cNvPr id="6" name="Text 4"/>
          <p:cNvSpPr txBox="1"/>
          <p:nvPr/>
        </p:nvSpPr>
        <p:spPr>
          <a:xfrm>
            <a:off x="608076" y="1943100"/>
            <a:ext cx="10945368"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Beachhead: 150,000 SMB companies via Salesforce AppExchange</a:t>
            </a:r>
            <a:endParaRPr lang="en-US" sz="1496" dirty="0"/>
          </a:p>
        </p:txBody>
      </p:sp>
      <p:sp>
        <p:nvSpPr>
          <p:cNvPr id="7" name="Text 5"/>
          <p:cNvSpPr txBox="1"/>
          <p:nvPr/>
        </p:nvSpPr>
        <p:spPr>
          <a:xfrm>
            <a:off x="608076" y="2222500"/>
            <a:ext cx="10945368"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Target: 50K free → 1K paying →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$1-2M ARR</a:t>
            </a:r>
            <a:endParaRPr lang="en-US" sz="1496" dirty="0"/>
          </a:p>
        </p:txBody>
      </p:sp>
      <p:sp>
        <p:nvSpPr>
          <p:cNvPr id="8" name="Shape 6"/>
          <p:cNvSpPr/>
          <p:nvPr/>
        </p:nvSpPr>
        <p:spPr>
          <a:xfrm>
            <a:off x="405384" y="2997200"/>
            <a:ext cx="11350752" cy="1651000"/>
          </a:xfrm>
          <a:prstGeom prst="roundRect">
            <a:avLst>
              <a:gd name="adj" fmla="val 5112"/>
            </a:avLst>
          </a:prstGeom>
          <a:solidFill>
            <a:srgbClr val="0077BE">
              <a:alpha val="10000"/>
            </a:srgbClr>
          </a:solidFill>
          <a:ln/>
        </p:spPr>
      </p:sp>
      <p:sp>
        <p:nvSpPr>
          <p:cNvPr id="9" name="Text 7"/>
          <p:cNvSpPr txBox="1"/>
          <p:nvPr/>
        </p:nvSpPr>
        <p:spPr>
          <a:xfrm>
            <a:off x="608076" y="3390900"/>
            <a:ext cx="10945368"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Segoe UI" pitchFamily="34" charset="0"/>
                <a:ea typeface="Segoe UI" pitchFamily="34" charset="-122"/>
                <a:cs typeface="Segoe UI" pitchFamily="34" charset="-120"/>
              </a:rPr>
              <a:t>Phase 2: Mid-Market Expansion (Y2-3)</a:t>
            </a:r>
            <a:endParaRPr lang="en-US" sz="1795" dirty="0"/>
          </a:p>
        </p:txBody>
      </p:sp>
      <p:sp>
        <p:nvSpPr>
          <p:cNvPr id="10" name="Text 8"/>
          <p:cNvSpPr txBox="1"/>
          <p:nvPr/>
        </p:nvSpPr>
        <p:spPr>
          <a:xfrm>
            <a:off x="608076" y="3746500"/>
            <a:ext cx="10945368"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Leverage: 5,000+ SMB proof points → "If it works for them, why not us?"</a:t>
            </a:r>
            <a:endParaRPr lang="en-US" sz="1496" dirty="0"/>
          </a:p>
        </p:txBody>
      </p:sp>
      <p:sp>
        <p:nvSpPr>
          <p:cNvPr id="11" name="Text 9"/>
          <p:cNvSpPr txBox="1"/>
          <p:nvPr/>
        </p:nvSpPr>
        <p:spPr>
          <a:xfrm>
            <a:off x="608076" y="4025900"/>
            <a:ext cx="10945368"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Target: 200K free → 4K paying →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$5-10M ARR</a:t>
            </a:r>
            <a:endParaRPr lang="en-US" sz="1496" dirty="0"/>
          </a:p>
        </p:txBody>
      </p:sp>
      <p:sp>
        <p:nvSpPr>
          <p:cNvPr id="12" name="Shape 10"/>
          <p:cNvSpPr/>
          <p:nvPr/>
        </p:nvSpPr>
        <p:spPr>
          <a:xfrm>
            <a:off x="405384" y="4800600"/>
            <a:ext cx="11350752" cy="1651000"/>
          </a:xfrm>
          <a:prstGeom prst="roundRect">
            <a:avLst>
              <a:gd name="adj" fmla="val 5112"/>
            </a:avLst>
          </a:prstGeom>
          <a:solidFill>
            <a:srgbClr val="0077BE">
              <a:alpha val="10000"/>
            </a:srgbClr>
          </a:solidFill>
          <a:ln/>
        </p:spPr>
      </p:sp>
      <p:sp>
        <p:nvSpPr>
          <p:cNvPr id="13" name="Text 11"/>
          <p:cNvSpPr txBox="1"/>
          <p:nvPr/>
        </p:nvSpPr>
        <p:spPr>
          <a:xfrm>
            <a:off x="608076" y="5054600"/>
            <a:ext cx="10945368"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Segoe UI" pitchFamily="34" charset="0"/>
                <a:ea typeface="Segoe UI" pitchFamily="34" charset="-122"/>
                <a:cs typeface="Segoe UI" pitchFamily="34" charset="-120"/>
              </a:rPr>
              <a:t>Phase 3: Enterprise &amp; Vertical Expansion (Y3+)</a:t>
            </a:r>
            <a:endParaRPr lang="en-US" sz="1795" dirty="0"/>
          </a:p>
        </p:txBody>
      </p:sp>
      <p:sp>
        <p:nvSpPr>
          <p:cNvPr id="14" name="Text 12"/>
          <p:cNvSpPr txBox="1"/>
          <p:nvPr/>
        </p:nvSpPr>
        <p:spPr>
          <a:xfrm>
            <a:off x="608076" y="5410200"/>
            <a:ext cx="10945368"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Strategy: Grassroots adoption + unmatched peer benchmarking (competitive moat)</a:t>
            </a:r>
            <a:endParaRPr lang="en-US" sz="1496" dirty="0"/>
          </a:p>
        </p:txBody>
      </p:sp>
      <p:sp>
        <p:nvSpPr>
          <p:cNvPr id="15" name="Text 13"/>
          <p:cNvSpPr txBox="1"/>
          <p:nvPr/>
        </p:nvSpPr>
        <p:spPr>
          <a:xfrm>
            <a:off x="608076" y="5689600"/>
            <a:ext cx="10945368"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Target: 500K+ free → 10K+ paying → </a:t>
            </a:r>
            <a:pPr algn="l" indent="0" marL="0">
              <a:buNone/>
            </a:pPr>
            <a:r>
              <a:rPr lang="en-US" sz="1496" b="1" dirty="0">
                <a:solidFill>
                  <a:srgbClr val="68B8D9"/>
                </a:solidFill>
                <a:latin typeface="Century Gothic" pitchFamily="34" charset="0"/>
                <a:ea typeface="Century Gothic" pitchFamily="34" charset="-122"/>
                <a:cs typeface="Century Gothic" pitchFamily="34" charset="-120"/>
              </a:rPr>
              <a:t>$20-40M+ ARR</a:t>
            </a:r>
            <a:endParaRPr lang="en-US" sz="1496" dirty="0"/>
          </a:p>
        </p:txBody>
      </p:sp>
      <p:sp>
        <p:nvSpPr>
          <p:cNvPr id="16" name="Text 14"/>
          <p:cNvSpPr txBox="1"/>
          <p:nvPr/>
        </p:nvSpPr>
        <p:spPr>
          <a:xfrm>
            <a:off x="608076" y="5969000"/>
            <a:ext cx="10945368"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Expand: Finance, IT, HR, Support operations</a:t>
            </a:r>
            <a:endParaRPr lang="en-US" sz="1496" dirty="0"/>
          </a:p>
        </p:txBody>
      </p:sp>
      <p:sp>
        <p:nvSpPr>
          <p:cNvPr id="17" name="Text 15"/>
          <p:cNvSpPr txBox="1"/>
          <p:nvPr/>
        </p:nvSpPr>
        <p:spPr>
          <a:xfrm>
            <a:off x="11802355" y="6464300"/>
            <a:ext cx="169141"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10</a:t>
            </a:r>
            <a:endParaRPr lang="en-US" sz="119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Expansion &amp; Retention Strategy</a:t>
            </a:r>
            <a:endParaRPr lang="en-US" sz="2993" dirty="0"/>
          </a:p>
        </p:txBody>
      </p:sp>
      <p:sp>
        <p:nvSpPr>
          <p:cNvPr id="4" name="Text 2"/>
          <p:cNvSpPr txBox="1"/>
          <p:nvPr/>
        </p:nvSpPr>
        <p:spPr>
          <a:xfrm>
            <a:off x="405384" y="20955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Expansion Revenue Levers</a:t>
            </a:r>
            <a:endParaRPr lang="en-US" sz="1795" dirty="0"/>
          </a:p>
        </p:txBody>
      </p:sp>
      <p:sp>
        <p:nvSpPr>
          <p:cNvPr id="5" name="Text 3"/>
          <p:cNvSpPr txBox="1"/>
          <p:nvPr/>
        </p:nvSpPr>
        <p:spPr>
          <a:xfrm>
            <a:off x="405384" y="2501900"/>
            <a:ext cx="697051"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Explore</a:t>
            </a:r>
            <a:endParaRPr lang="en-US" sz="1496" dirty="0"/>
          </a:p>
        </p:txBody>
      </p:sp>
      <p:pic>
        <p:nvPicPr>
          <p:cNvPr id="6" name="Image 0" descr="preencoded.png">    </p:cNvPr>
          <p:cNvPicPr>
            <a:picLocks noChangeAspect="1"/>
          </p:cNvPicPr>
          <p:nvPr/>
        </p:nvPicPr>
        <p:blipFill>
          <a:blip r:embed="rId1"/>
          <a:srcRect l="0" r="0" t="0" b="0"/>
          <a:stretch/>
        </p:blipFill>
        <p:spPr>
          <a:xfrm>
            <a:off x="1203781" y="2514600"/>
            <a:ext cx="202692" cy="203200"/>
          </a:xfrm>
          <a:prstGeom prst="rect">
            <a:avLst/>
          </a:prstGeom>
        </p:spPr>
      </p:pic>
      <p:sp>
        <p:nvSpPr>
          <p:cNvPr id="7" name="Text 4"/>
          <p:cNvSpPr txBox="1"/>
          <p:nvPr/>
        </p:nvSpPr>
        <p:spPr>
          <a:xfrm>
            <a:off x="1507819" y="2501900"/>
            <a:ext cx="49614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Mine:</a:t>
            </a:r>
            <a:endParaRPr lang="en-US" sz="1496" dirty="0"/>
          </a:p>
        </p:txBody>
      </p:sp>
      <p:sp>
        <p:nvSpPr>
          <p:cNvPr id="8" name="Text 5"/>
          <p:cNvSpPr txBox="1"/>
          <p:nvPr/>
        </p:nvSpPr>
        <p:spPr>
          <a:xfrm>
            <a:off x="2105305" y="2501900"/>
            <a:ext cx="6031671"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60% conversion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(baseline understanding triggers deeper engagement)</a:t>
            </a:r>
            <a:endParaRPr lang="en-US" sz="1496" dirty="0"/>
          </a:p>
        </p:txBody>
      </p:sp>
      <p:sp>
        <p:nvSpPr>
          <p:cNvPr id="9" name="Text 6"/>
          <p:cNvSpPr txBox="1"/>
          <p:nvPr/>
        </p:nvSpPr>
        <p:spPr>
          <a:xfrm>
            <a:off x="405384" y="2832100"/>
            <a:ext cx="432898"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Mine</a:t>
            </a:r>
            <a:endParaRPr lang="en-US" sz="1496" dirty="0"/>
          </a:p>
        </p:txBody>
      </p:sp>
      <p:pic>
        <p:nvPicPr>
          <p:cNvPr id="10" name="Image 1" descr="preencoded.png">    </p:cNvPr>
          <p:cNvPicPr>
            <a:picLocks noChangeAspect="1"/>
          </p:cNvPicPr>
          <p:nvPr/>
        </p:nvPicPr>
        <p:blipFill>
          <a:blip r:embed="rId2"/>
          <a:srcRect l="0" r="0" t="0" b="0"/>
          <a:stretch/>
        </p:blipFill>
        <p:spPr>
          <a:xfrm>
            <a:off x="939628" y="2844800"/>
            <a:ext cx="202692" cy="203200"/>
          </a:xfrm>
          <a:prstGeom prst="rect">
            <a:avLst/>
          </a:prstGeom>
        </p:spPr>
      </p:pic>
      <p:sp>
        <p:nvSpPr>
          <p:cNvPr id="11" name="Text 7"/>
          <p:cNvSpPr txBox="1"/>
          <p:nvPr/>
        </p:nvSpPr>
        <p:spPr>
          <a:xfrm>
            <a:off x="1243666" y="2832100"/>
            <a:ext cx="696853"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Design:</a:t>
            </a:r>
            <a:endParaRPr lang="en-US" sz="1496" dirty="0"/>
          </a:p>
        </p:txBody>
      </p:sp>
      <p:sp>
        <p:nvSpPr>
          <p:cNvPr id="12" name="Text 8"/>
          <p:cNvSpPr txBox="1"/>
          <p:nvPr/>
        </p:nvSpPr>
        <p:spPr>
          <a:xfrm>
            <a:off x="2041865" y="2832100"/>
            <a:ext cx="5862431"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40% conversion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(roadmap needed after understanding current state)</a:t>
            </a:r>
            <a:endParaRPr lang="en-US" sz="1496" dirty="0"/>
          </a:p>
        </p:txBody>
      </p:sp>
      <p:sp>
        <p:nvSpPr>
          <p:cNvPr id="13" name="Text 9"/>
          <p:cNvSpPr txBox="1"/>
          <p:nvPr/>
        </p:nvSpPr>
        <p:spPr>
          <a:xfrm>
            <a:off x="405384" y="3162300"/>
            <a:ext cx="633610"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Design</a:t>
            </a:r>
            <a:endParaRPr lang="en-US" sz="1496" dirty="0"/>
          </a:p>
        </p:txBody>
      </p:sp>
      <p:pic>
        <p:nvPicPr>
          <p:cNvPr id="14" name="Image 2" descr="preencoded.png">    </p:cNvPr>
          <p:cNvPicPr>
            <a:picLocks noChangeAspect="1"/>
          </p:cNvPicPr>
          <p:nvPr/>
        </p:nvPicPr>
        <p:blipFill>
          <a:blip r:embed="rId3"/>
          <a:srcRect l="0" r="0" t="0" b="0"/>
          <a:stretch/>
        </p:blipFill>
        <p:spPr>
          <a:xfrm>
            <a:off x="1140340" y="3175000"/>
            <a:ext cx="202692" cy="203200"/>
          </a:xfrm>
          <a:prstGeom prst="rect">
            <a:avLst/>
          </a:prstGeom>
        </p:spPr>
      </p:pic>
      <p:sp>
        <p:nvSpPr>
          <p:cNvPr id="15" name="Text 10"/>
          <p:cNvSpPr txBox="1"/>
          <p:nvPr/>
        </p:nvSpPr>
        <p:spPr>
          <a:xfrm>
            <a:off x="1444378" y="3162300"/>
            <a:ext cx="770784"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Manage:</a:t>
            </a:r>
            <a:endParaRPr lang="en-US" sz="1496" dirty="0"/>
          </a:p>
        </p:txBody>
      </p:sp>
      <p:sp>
        <p:nvSpPr>
          <p:cNvPr id="16" name="Text 11"/>
          <p:cNvSpPr txBox="1"/>
          <p:nvPr/>
        </p:nvSpPr>
        <p:spPr>
          <a:xfrm>
            <a:off x="2316508" y="3162300"/>
            <a:ext cx="6094418"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50% conversion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(transformation success requires ongoing governance)</a:t>
            </a:r>
            <a:endParaRPr lang="en-US" sz="1496" dirty="0"/>
          </a:p>
        </p:txBody>
      </p:sp>
      <p:sp>
        <p:nvSpPr>
          <p:cNvPr id="17" name="Text 12"/>
          <p:cNvSpPr txBox="1"/>
          <p:nvPr/>
        </p:nvSpPr>
        <p:spPr>
          <a:xfrm>
            <a:off x="405384" y="35433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F0F8FF"/>
                </a:solidFill>
                <a:latin typeface="Century Gothic" pitchFamily="34" charset="0"/>
                <a:ea typeface="Century Gothic" pitchFamily="34" charset="-122"/>
                <a:cs typeface="Century Gothic" pitchFamily="34" charset="-120"/>
              </a:rPr>
              <a:t>Cross-team adoption: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Finance, Operations, HR teams using Helm independently</a:t>
            </a:r>
            <a:endParaRPr lang="en-US" sz="1496" dirty="0"/>
          </a:p>
        </p:txBody>
      </p:sp>
      <p:sp>
        <p:nvSpPr>
          <p:cNvPr id="18" name="Text 13"/>
          <p:cNvSpPr txBox="1"/>
          <p:nvPr/>
        </p:nvSpPr>
        <p:spPr>
          <a:xfrm>
            <a:off x="405384" y="40259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Network Effects &amp; Retention</a:t>
            </a:r>
            <a:endParaRPr lang="en-US" sz="1795" dirty="0"/>
          </a:p>
        </p:txBody>
      </p:sp>
      <p:sp>
        <p:nvSpPr>
          <p:cNvPr id="19" name="Text 14"/>
          <p:cNvSpPr txBox="1"/>
          <p:nvPr/>
        </p:nvSpPr>
        <p:spPr>
          <a:xfrm>
            <a:off x="405384" y="4432300"/>
            <a:ext cx="11350752" cy="2540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Peer benchmarking:</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795" b="1" dirty="0">
                <a:solidFill>
                  <a:srgbClr val="68B8D9"/>
                </a:solidFill>
                <a:latin typeface="Century Gothic" pitchFamily="34" charset="0"/>
                <a:ea typeface="Century Gothic" pitchFamily="34" charset="-122"/>
                <a:cs typeface="Century Gothic" pitchFamily="34" charset="-120"/>
              </a:rPr>
              <a:t>130-180% NDR</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driven by expansion revenue</a:t>
            </a:r>
            <a:endParaRPr lang="en-US" sz="1496" dirty="0"/>
          </a:p>
        </p:txBody>
      </p:sp>
      <p:sp>
        <p:nvSpPr>
          <p:cNvPr id="20" name="Text 15"/>
          <p:cNvSpPr txBox="1"/>
          <p:nvPr/>
        </p:nvSpPr>
        <p:spPr>
          <a:xfrm>
            <a:off x="405384" y="47879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Fleet learning:</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Every new customer makes product smarter for all (true network effects)</a:t>
            </a:r>
            <a:endParaRPr lang="en-US" sz="1496" dirty="0"/>
          </a:p>
        </p:txBody>
      </p:sp>
      <p:sp>
        <p:nvSpPr>
          <p:cNvPr id="21" name="Text 16"/>
          <p:cNvSpPr txBox="1"/>
          <p:nvPr/>
        </p:nvSpPr>
        <p:spPr>
          <a:xfrm>
            <a:off x="405384" y="51181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Viral coefficient:</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Industry benchmarks incentivize sharing (NPS 50+ target)</a:t>
            </a:r>
            <a:endParaRPr lang="en-US" sz="1496" dirty="0"/>
          </a:p>
        </p:txBody>
      </p:sp>
      <p:sp>
        <p:nvSpPr>
          <p:cNvPr id="22" name="Text 17"/>
          <p:cNvSpPr txBox="1"/>
          <p:nvPr/>
        </p:nvSpPr>
        <p:spPr>
          <a:xfrm>
            <a:off x="11813638" y="6464300"/>
            <a:ext cx="157858"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11</a:t>
            </a:r>
            <a:endParaRPr lang="en-US" sz="11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Traction &amp; Early Validation</a:t>
            </a:r>
            <a:endParaRPr lang="en-US" sz="2993" dirty="0"/>
          </a:p>
        </p:txBody>
      </p:sp>
      <p:sp>
        <p:nvSpPr>
          <p:cNvPr id="4" name="Text 2"/>
          <p:cNvSpPr txBox="1"/>
          <p:nvPr/>
        </p:nvSpPr>
        <p:spPr>
          <a:xfrm>
            <a:off x="405384" y="2019300"/>
            <a:ext cx="11350752" cy="254000"/>
          </a:xfrm>
          <a:prstGeom prst="rect">
            <a:avLst/>
          </a:prstGeom>
          <a:noFill/>
          <a:ln/>
        </p:spPr>
        <p:txBody>
          <a:bodyPr wrap="square" lIns="0" tIns="0" rIns="0" bIns="0" rtlCol="0" anchor="ctr"/>
          <a:lstStyle/>
          <a:p>
            <a:pPr algn="l" indent="0" marL="0">
              <a:buNone/>
            </a:pPr>
            <a:r>
              <a:rPr lang="en-US" sz="1795" dirty="0">
                <a:solidFill>
                  <a:srgbClr val="FB4100"/>
                </a:solidFill>
                <a:latin typeface="Segoe UI" pitchFamily="34" charset="0"/>
                <a:ea typeface="Segoe UI" pitchFamily="34" charset="-122"/>
                <a:cs typeface="Segoe UI" pitchFamily="34" charset="-120"/>
              </a:rPr>
              <a:t>Product Status</a:t>
            </a:r>
            <a:endParaRPr lang="en-US" sz="1795" dirty="0"/>
          </a:p>
        </p:txBody>
      </p:sp>
      <p:sp>
        <p:nvSpPr>
          <p:cNvPr id="5" name="Text 3"/>
          <p:cNvSpPr txBox="1"/>
          <p:nvPr/>
        </p:nvSpPr>
        <p:spPr>
          <a:xfrm>
            <a:off x="405384" y="24257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MVP status, beta users, pilot customers</a:t>
            </a:r>
            <a:endParaRPr lang="en-US" sz="1496" dirty="0"/>
          </a:p>
        </p:txBody>
      </p:sp>
      <p:sp>
        <p:nvSpPr>
          <p:cNvPr id="6" name="Text 4"/>
          <p:cNvSpPr txBox="1"/>
          <p:nvPr/>
        </p:nvSpPr>
        <p:spPr>
          <a:xfrm>
            <a:off x="405384" y="27559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User signups or waitlist size</a:t>
            </a:r>
            <a:endParaRPr lang="en-US" sz="1496" dirty="0"/>
          </a:p>
        </p:txBody>
      </p:sp>
      <p:sp>
        <p:nvSpPr>
          <p:cNvPr id="7" name="Text 5"/>
          <p:cNvSpPr txBox="1"/>
          <p:nvPr/>
        </p:nvSpPr>
        <p:spPr>
          <a:xfrm>
            <a:off x="405384" y="32385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Triple Validation Framework</a:t>
            </a:r>
            <a:endParaRPr lang="en-US" sz="1795" dirty="0"/>
          </a:p>
        </p:txBody>
      </p:sp>
      <p:pic>
        <p:nvPicPr>
          <p:cNvPr id="8" name="Image 0" descr="preencoded.png">    </p:cNvPr>
          <p:cNvPicPr>
            <a:picLocks noChangeAspect="1"/>
          </p:cNvPicPr>
          <p:nvPr/>
        </p:nvPicPr>
        <p:blipFill>
          <a:blip r:embed="rId1"/>
          <a:srcRect l="0" r="0" t="0" b="0"/>
          <a:stretch/>
        </p:blipFill>
        <p:spPr>
          <a:xfrm>
            <a:off x="405384" y="3670300"/>
            <a:ext cx="202692" cy="203200"/>
          </a:xfrm>
          <a:prstGeom prst="rect">
            <a:avLst/>
          </a:prstGeom>
        </p:spPr>
      </p:pic>
      <p:sp>
        <p:nvSpPr>
          <p:cNvPr id="9" name="Text 6"/>
          <p:cNvSpPr txBox="1"/>
          <p:nvPr/>
        </p:nvSpPr>
        <p:spPr>
          <a:xfrm>
            <a:off x="709422" y="3644900"/>
            <a:ext cx="7937351"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Customer Conversations:</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Service leaders report urgent need for governance + transparency</a:t>
            </a:r>
            <a:endParaRPr lang="en-US" sz="1496" dirty="0"/>
          </a:p>
        </p:txBody>
      </p:sp>
      <p:pic>
        <p:nvPicPr>
          <p:cNvPr id="10" name="Image 1" descr="preencoded.png">    </p:cNvPr>
          <p:cNvPicPr>
            <a:picLocks noChangeAspect="1"/>
          </p:cNvPicPr>
          <p:nvPr/>
        </p:nvPicPr>
        <p:blipFill>
          <a:blip r:embed="rId2"/>
          <a:srcRect l="0" r="0" t="0" b="0"/>
          <a:stretch/>
        </p:blipFill>
        <p:spPr>
          <a:xfrm>
            <a:off x="405384" y="4000500"/>
            <a:ext cx="202692" cy="203200"/>
          </a:xfrm>
          <a:prstGeom prst="rect">
            <a:avLst/>
          </a:prstGeom>
        </p:spPr>
      </p:pic>
      <p:sp>
        <p:nvSpPr>
          <p:cNvPr id="11" name="Text 7"/>
          <p:cNvSpPr txBox="1"/>
          <p:nvPr/>
        </p:nvSpPr>
        <p:spPr>
          <a:xfrm>
            <a:off x="709422" y="3975100"/>
            <a:ext cx="7530186"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Our Own Products:</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MAX, Claude Code show teams hitting management constraint daily</a:t>
            </a:r>
            <a:endParaRPr lang="en-US" sz="1496" dirty="0"/>
          </a:p>
        </p:txBody>
      </p:sp>
      <p:pic>
        <p:nvPicPr>
          <p:cNvPr id="12" name="Image 2" descr="preencoded.png">    </p:cNvPr>
          <p:cNvPicPr>
            <a:picLocks noChangeAspect="1"/>
          </p:cNvPicPr>
          <p:nvPr/>
        </p:nvPicPr>
        <p:blipFill>
          <a:blip r:embed="rId3"/>
          <a:srcRect l="0" r="0" t="0" b="0"/>
          <a:stretch/>
        </p:blipFill>
        <p:spPr>
          <a:xfrm>
            <a:off x="405384" y="4330700"/>
            <a:ext cx="202692" cy="203200"/>
          </a:xfrm>
          <a:prstGeom prst="rect">
            <a:avLst/>
          </a:prstGeom>
        </p:spPr>
      </p:pic>
      <p:sp>
        <p:nvSpPr>
          <p:cNvPr id="13" name="Text 8"/>
          <p:cNvSpPr txBox="1"/>
          <p:nvPr/>
        </p:nvSpPr>
        <p:spPr>
          <a:xfrm>
            <a:off x="709422" y="4305300"/>
            <a:ext cx="7709521"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Market Validation: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Ed Sim, Gartner, Forrester publishing same thesis (industry converging)</a:t>
            </a:r>
            <a:endParaRPr lang="en-US" sz="1496" dirty="0"/>
          </a:p>
        </p:txBody>
      </p:sp>
      <p:sp>
        <p:nvSpPr>
          <p:cNvPr id="14" name="Text 9"/>
          <p:cNvSpPr txBox="1"/>
          <p:nvPr/>
        </p:nvSpPr>
        <p:spPr>
          <a:xfrm>
            <a:off x="405384" y="47879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Product Demonstration</a:t>
            </a:r>
            <a:endParaRPr lang="en-US" sz="1795" dirty="0"/>
          </a:p>
        </p:txBody>
      </p:sp>
      <p:sp>
        <p:nvSpPr>
          <p:cNvPr id="15" name="Text 10"/>
          <p:cNvSpPr txBox="1"/>
          <p:nvPr/>
        </p:nvSpPr>
        <p:spPr>
          <a:xfrm>
            <a:off x="405384" y="51943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Radar UI Prototype:</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Interactive visualization of real-time decision patterns (Mine module capability)</a:t>
            </a:r>
            <a:endParaRPr lang="en-US" sz="1496" dirty="0"/>
          </a:p>
        </p:txBody>
      </p:sp>
      <p:sp>
        <p:nvSpPr>
          <p:cNvPr id="16" name="Text 11"/>
          <p:cNvSpPr txBox="1"/>
          <p:nvPr/>
        </p:nvSpPr>
        <p:spPr>
          <a:xfrm>
            <a:off x="11802355" y="6464300"/>
            <a:ext cx="169141"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12</a:t>
            </a:r>
            <a:endParaRPr lang="en-US" sz="119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Product Roadmap</a:t>
            </a:r>
            <a:endParaRPr lang="en-US" sz="2993" dirty="0"/>
          </a:p>
        </p:txBody>
      </p:sp>
      <p:sp>
        <p:nvSpPr>
          <p:cNvPr id="4" name="Shape 2"/>
          <p:cNvSpPr/>
          <p:nvPr/>
        </p:nvSpPr>
        <p:spPr>
          <a:xfrm>
            <a:off x="405384" y="1193800"/>
            <a:ext cx="5599367" cy="2552700"/>
          </a:xfrm>
          <a:prstGeom prst="roundRect">
            <a:avLst>
              <a:gd name="adj" fmla="val 2139"/>
            </a:avLst>
          </a:prstGeom>
          <a:solidFill>
            <a:srgbClr val="0077BE">
              <a:alpha val="10000"/>
            </a:srgbClr>
          </a:solidFill>
          <a:ln/>
        </p:spPr>
      </p:sp>
      <p:sp>
        <p:nvSpPr>
          <p:cNvPr id="5" name="Text 3"/>
          <p:cNvSpPr txBox="1"/>
          <p:nvPr/>
        </p:nvSpPr>
        <p:spPr>
          <a:xfrm>
            <a:off x="608076" y="1397000"/>
            <a:ext cx="5193983"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Segoe UI" pitchFamily="34" charset="0"/>
                <a:ea typeface="Segoe UI" pitchFamily="34" charset="-122"/>
                <a:cs typeface="Segoe UI" pitchFamily="34" charset="-120"/>
              </a:rPr>
              <a:t>Q1 2026 (Current Release)</a:t>
            </a:r>
            <a:endParaRPr lang="en-US" sz="1795" dirty="0"/>
          </a:p>
        </p:txBody>
      </p:sp>
      <p:sp>
        <p:nvSpPr>
          <p:cNvPr id="6" name="Text 4"/>
          <p:cNvSpPr txBox="1"/>
          <p:nvPr/>
        </p:nvSpPr>
        <p:spPr>
          <a:xfrm>
            <a:off x="608076" y="1752600"/>
            <a:ext cx="5193983" cy="203200"/>
          </a:xfrm>
          <a:prstGeom prst="rect">
            <a:avLst/>
          </a:prstGeom>
          <a:noFill/>
          <a:ln/>
        </p:spPr>
        <p:txBody>
          <a:bodyPr wrap="square" lIns="0" tIns="0" rIns="0" bIns="0" rtlCol="0" anchor="ctr"/>
          <a:lstStyle/>
          <a:p>
            <a:pPr algn="l" indent="0" marL="0">
              <a:buNone/>
            </a:pPr>
            <a:r>
              <a:rPr lang="en-US" sz="1197"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197" dirty="0">
                <a:solidFill>
                  <a:srgbClr val="F0F8FF"/>
                </a:solidFill>
                <a:latin typeface="Century Gothic" pitchFamily="34" charset="0"/>
                <a:ea typeface="Century Gothic" pitchFamily="34" charset="-122"/>
                <a:cs typeface="Century Gothic" pitchFamily="34" charset="-120"/>
              </a:rPr>
              <a:t> MVP feature set and current capabilities shipped</a:t>
            </a:r>
            <a:endParaRPr lang="en-US" sz="1197" dirty="0"/>
          </a:p>
        </p:txBody>
      </p:sp>
      <p:sp>
        <p:nvSpPr>
          <p:cNvPr id="7" name="Shape 5"/>
          <p:cNvSpPr/>
          <p:nvPr/>
        </p:nvSpPr>
        <p:spPr>
          <a:xfrm>
            <a:off x="6156770" y="1193800"/>
            <a:ext cx="5599367" cy="2552700"/>
          </a:xfrm>
          <a:prstGeom prst="roundRect">
            <a:avLst>
              <a:gd name="adj" fmla="val 2139"/>
            </a:avLst>
          </a:prstGeom>
          <a:solidFill>
            <a:srgbClr val="0077BE">
              <a:alpha val="10000"/>
            </a:srgbClr>
          </a:solidFill>
          <a:ln/>
        </p:spPr>
      </p:sp>
      <p:sp>
        <p:nvSpPr>
          <p:cNvPr id="8" name="Text 6"/>
          <p:cNvSpPr txBox="1"/>
          <p:nvPr/>
        </p:nvSpPr>
        <p:spPr>
          <a:xfrm>
            <a:off x="6359462" y="1397000"/>
            <a:ext cx="5193983"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Segoe UI" pitchFamily="34" charset="0"/>
                <a:ea typeface="Segoe UI" pitchFamily="34" charset="-122"/>
                <a:cs typeface="Segoe UI" pitchFamily="34" charset="-120"/>
              </a:rPr>
              <a:t>Q2-Q3 2026 (Near-Term)</a:t>
            </a:r>
            <a:endParaRPr lang="en-US" sz="1795" dirty="0"/>
          </a:p>
        </p:txBody>
      </p:sp>
      <p:sp>
        <p:nvSpPr>
          <p:cNvPr id="9" name="Text 7"/>
          <p:cNvSpPr txBox="1"/>
          <p:nvPr/>
        </p:nvSpPr>
        <p:spPr>
          <a:xfrm>
            <a:off x="6359462" y="1752600"/>
            <a:ext cx="5193983" cy="203200"/>
          </a:xfrm>
          <a:prstGeom prst="rect">
            <a:avLst/>
          </a:prstGeom>
          <a:noFill/>
          <a:ln/>
        </p:spPr>
        <p:txBody>
          <a:bodyPr wrap="square" lIns="0" tIns="0" rIns="0" bIns="0" rtlCol="0" anchor="ctr"/>
          <a:lstStyle/>
          <a:p>
            <a:pPr algn="l" indent="0" marL="0">
              <a:buNone/>
            </a:pPr>
            <a:r>
              <a:rPr lang="en-US" sz="1197"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197" dirty="0">
                <a:solidFill>
                  <a:srgbClr val="F0F8FF"/>
                </a:solidFill>
                <a:latin typeface="Century Gothic" pitchFamily="34" charset="0"/>
                <a:ea typeface="Century Gothic" pitchFamily="34" charset="-122"/>
                <a:cs typeface="Century Gothic" pitchFamily="34" charset="-120"/>
              </a:rPr>
              <a:t> Key features and customer feedback integration</a:t>
            </a:r>
            <a:endParaRPr lang="en-US" sz="1197" dirty="0"/>
          </a:p>
        </p:txBody>
      </p:sp>
      <p:sp>
        <p:nvSpPr>
          <p:cNvPr id="10" name="Shape 8"/>
          <p:cNvSpPr/>
          <p:nvPr/>
        </p:nvSpPr>
        <p:spPr>
          <a:xfrm>
            <a:off x="405384" y="3898900"/>
            <a:ext cx="5599367" cy="2552700"/>
          </a:xfrm>
          <a:prstGeom prst="roundRect">
            <a:avLst>
              <a:gd name="adj" fmla="val 2139"/>
            </a:avLst>
          </a:prstGeom>
          <a:solidFill>
            <a:srgbClr val="0077BE">
              <a:alpha val="10000"/>
            </a:srgbClr>
          </a:solidFill>
          <a:ln/>
        </p:spPr>
      </p:sp>
      <p:sp>
        <p:nvSpPr>
          <p:cNvPr id="11" name="Text 9"/>
          <p:cNvSpPr txBox="1"/>
          <p:nvPr/>
        </p:nvSpPr>
        <p:spPr>
          <a:xfrm>
            <a:off x="608076" y="4102100"/>
            <a:ext cx="5193983"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Segoe UI" pitchFamily="34" charset="0"/>
                <a:ea typeface="Segoe UI" pitchFamily="34" charset="-122"/>
                <a:cs typeface="Segoe UI" pitchFamily="34" charset="-120"/>
              </a:rPr>
              <a:t>Q4 2026 - Q2 2027 (Mid-Term)</a:t>
            </a:r>
            <a:endParaRPr lang="en-US" sz="1795" dirty="0"/>
          </a:p>
        </p:txBody>
      </p:sp>
      <p:sp>
        <p:nvSpPr>
          <p:cNvPr id="12" name="Text 10"/>
          <p:cNvSpPr txBox="1"/>
          <p:nvPr/>
        </p:nvSpPr>
        <p:spPr>
          <a:xfrm>
            <a:off x="608076" y="4457700"/>
            <a:ext cx="5193983" cy="203200"/>
          </a:xfrm>
          <a:prstGeom prst="rect">
            <a:avLst/>
          </a:prstGeom>
          <a:noFill/>
          <a:ln/>
        </p:spPr>
        <p:txBody>
          <a:bodyPr wrap="square" lIns="0" tIns="0" rIns="0" bIns="0" rtlCol="0" anchor="ctr"/>
          <a:lstStyle/>
          <a:p>
            <a:pPr algn="l" indent="0" marL="0">
              <a:buNone/>
            </a:pPr>
            <a:r>
              <a:rPr lang="en-US" sz="1197"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197" dirty="0">
                <a:solidFill>
                  <a:srgbClr val="F0F8FF"/>
                </a:solidFill>
                <a:latin typeface="Century Gothic" pitchFamily="34" charset="0"/>
                <a:ea typeface="Century Gothic" pitchFamily="34" charset="-122"/>
                <a:cs typeface="Century Gothic" pitchFamily="34" charset="-120"/>
              </a:rPr>
              <a:t> New module capabilities and vertical specialization deepening</a:t>
            </a:r>
            <a:endParaRPr lang="en-US" sz="1197" dirty="0"/>
          </a:p>
        </p:txBody>
      </p:sp>
      <p:sp>
        <p:nvSpPr>
          <p:cNvPr id="13" name="Shape 11"/>
          <p:cNvSpPr/>
          <p:nvPr/>
        </p:nvSpPr>
        <p:spPr>
          <a:xfrm>
            <a:off x="6156770" y="3898900"/>
            <a:ext cx="5599367" cy="2552700"/>
          </a:xfrm>
          <a:prstGeom prst="roundRect">
            <a:avLst>
              <a:gd name="adj" fmla="val 2139"/>
            </a:avLst>
          </a:prstGeom>
          <a:solidFill>
            <a:srgbClr val="0077BE">
              <a:alpha val="10000"/>
            </a:srgbClr>
          </a:solidFill>
          <a:ln/>
        </p:spPr>
      </p:sp>
      <p:sp>
        <p:nvSpPr>
          <p:cNvPr id="14" name="Text 12"/>
          <p:cNvSpPr txBox="1"/>
          <p:nvPr/>
        </p:nvSpPr>
        <p:spPr>
          <a:xfrm>
            <a:off x="6359462" y="4102100"/>
            <a:ext cx="5193983" cy="254000"/>
          </a:xfrm>
          <a:prstGeom prst="rect">
            <a:avLst/>
          </a:prstGeom>
          <a:noFill/>
          <a:ln/>
        </p:spPr>
        <p:txBody>
          <a:bodyPr wrap="square" lIns="0" tIns="0" rIns="0" bIns="0" rtlCol="0" anchor="ctr"/>
          <a:lstStyle/>
          <a:p>
            <a:pPr algn="l" indent="0" marL="0">
              <a:buNone/>
            </a:pPr>
            <a:r>
              <a:rPr lang="en-US" sz="1795" b="1" dirty="0">
                <a:solidFill>
                  <a:srgbClr val="68B8D9"/>
                </a:solidFill>
                <a:latin typeface="Segoe UI" pitchFamily="34" charset="0"/>
                <a:ea typeface="Segoe UI" pitchFamily="34" charset="-122"/>
                <a:cs typeface="Segoe UI" pitchFamily="34" charset="-120"/>
              </a:rPr>
              <a:t>2027+ (Long-Term)</a:t>
            </a:r>
            <a:endParaRPr lang="en-US" sz="1795" dirty="0"/>
          </a:p>
        </p:txBody>
      </p:sp>
      <p:sp>
        <p:nvSpPr>
          <p:cNvPr id="15" name="Text 13"/>
          <p:cNvSpPr txBox="1"/>
          <p:nvPr/>
        </p:nvSpPr>
        <p:spPr>
          <a:xfrm>
            <a:off x="6359462" y="4457700"/>
            <a:ext cx="5193983" cy="203200"/>
          </a:xfrm>
          <a:prstGeom prst="rect">
            <a:avLst/>
          </a:prstGeom>
          <a:noFill/>
          <a:ln/>
        </p:spPr>
        <p:txBody>
          <a:bodyPr wrap="square" lIns="0" tIns="0" rIns="0" bIns="0" rtlCol="0" anchor="ctr"/>
          <a:lstStyle/>
          <a:p>
            <a:pPr algn="l" indent="0" marL="0">
              <a:buNone/>
            </a:pPr>
            <a:r>
              <a:rPr lang="en-US" sz="1197"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197" dirty="0">
                <a:solidFill>
                  <a:srgbClr val="F0F8FF"/>
                </a:solidFill>
                <a:latin typeface="Century Gothic" pitchFamily="34" charset="0"/>
                <a:ea typeface="Century Gothic" pitchFamily="34" charset="-122"/>
                <a:cs typeface="Century Gothic" pitchFamily="34" charset="-120"/>
              </a:rPr>
              <a:t> Enterprise features and expansion to adjacent verticals</a:t>
            </a:r>
            <a:endParaRPr lang="en-US" sz="1197" dirty="0"/>
          </a:p>
        </p:txBody>
      </p:sp>
      <p:sp>
        <p:nvSpPr>
          <p:cNvPr id="16" name="Text 14"/>
          <p:cNvSpPr txBox="1"/>
          <p:nvPr/>
        </p:nvSpPr>
        <p:spPr>
          <a:xfrm>
            <a:off x="11802355" y="6464300"/>
            <a:ext cx="169141"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13</a:t>
            </a:r>
            <a:endParaRPr lang="en-US" sz="11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405384" y="609600"/>
            <a:ext cx="11350752" cy="381000"/>
          </a:xfrm>
          <a:prstGeom prst="rect">
            <a:avLst/>
          </a:prstGeom>
          <a:noFill/>
          <a:ln/>
        </p:spPr>
        <p:txBody>
          <a:bodyPr wrap="square" lIns="0" tIns="0" rIns="0" bIns="0" rtlCol="0" anchor="ctr"/>
          <a:lstStyle/>
          <a:p>
            <a:pPr algn="l" indent="0" marL="0">
              <a:buNone/>
            </a:pPr>
            <a:r>
              <a:rPr lang="en-US" sz="2993" b="1" dirty="0">
                <a:solidFill>
                  <a:srgbClr val="F0F8FF"/>
                </a:solidFill>
                <a:latin typeface="Segoe UI" pitchFamily="34" charset="0"/>
                <a:ea typeface="Segoe UI" pitchFamily="34" charset="-122"/>
                <a:cs typeface="Segoe UI" pitchFamily="34" charset="-120"/>
              </a:rPr>
              <a:t>The Ask</a:t>
            </a:r>
            <a:endParaRPr lang="en-US" sz="2993" dirty="0"/>
          </a:p>
        </p:txBody>
      </p:sp>
      <p:sp>
        <p:nvSpPr>
          <p:cNvPr id="4" name="Text 2"/>
          <p:cNvSpPr txBox="1"/>
          <p:nvPr/>
        </p:nvSpPr>
        <p:spPr>
          <a:xfrm>
            <a:off x="405384" y="1968500"/>
            <a:ext cx="11350752" cy="254000"/>
          </a:xfrm>
          <a:prstGeom prst="rect">
            <a:avLst/>
          </a:prstGeom>
          <a:noFill/>
          <a:ln/>
        </p:spPr>
        <p:txBody>
          <a:bodyPr wrap="square" lIns="0" tIns="0" rIns="0" bIns="0" rtlCol="0" anchor="ctr"/>
          <a:lstStyle/>
          <a:p>
            <a:pPr algn="l" indent="0" marL="0">
              <a:buNone/>
            </a:pPr>
            <a:r>
              <a:rPr lang="en-US" sz="1795" dirty="0">
                <a:solidFill>
                  <a:srgbClr val="FB4100"/>
                </a:solidFill>
                <a:latin typeface="Segoe UI" pitchFamily="34" charset="0"/>
                <a:ea typeface="Segoe UI" pitchFamily="34" charset="-122"/>
                <a:cs typeface="Segoe UI" pitchFamily="34" charset="-120"/>
              </a:rPr>
              <a:t>Funding Request</a:t>
            </a:r>
            <a:endParaRPr lang="en-US" sz="1795" dirty="0"/>
          </a:p>
        </p:txBody>
      </p:sp>
      <p:sp>
        <p:nvSpPr>
          <p:cNvPr id="5" name="Text 3"/>
          <p:cNvSpPr txBox="1"/>
          <p:nvPr/>
        </p:nvSpPr>
        <p:spPr>
          <a:xfrm>
            <a:off x="405384" y="23749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Amount sought</a:t>
            </a:r>
            <a:endParaRPr lang="en-US" sz="1496" dirty="0"/>
          </a:p>
        </p:txBody>
      </p:sp>
      <p:sp>
        <p:nvSpPr>
          <p:cNvPr id="6" name="Text 4"/>
          <p:cNvSpPr txBox="1"/>
          <p:nvPr/>
        </p:nvSpPr>
        <p:spPr>
          <a:xfrm>
            <a:off x="405384" y="27051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Round structure (SAFE, priced, etc.)</a:t>
            </a:r>
            <a:endParaRPr lang="en-US" sz="1496" dirty="0"/>
          </a:p>
        </p:txBody>
      </p:sp>
      <p:sp>
        <p:nvSpPr>
          <p:cNvPr id="7" name="Text 5"/>
          <p:cNvSpPr txBox="1"/>
          <p:nvPr/>
        </p:nvSpPr>
        <p:spPr>
          <a:xfrm>
            <a:off x="405384" y="32385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Use of Funds</a:t>
            </a:r>
            <a:endParaRPr lang="en-US" sz="1795" dirty="0"/>
          </a:p>
        </p:txBody>
      </p:sp>
      <p:sp>
        <p:nvSpPr>
          <p:cNvPr id="8" name="Text 6"/>
          <p:cNvSpPr txBox="1"/>
          <p:nvPr/>
        </p:nvSpPr>
        <p:spPr>
          <a:xfrm>
            <a:off x="405384" y="36449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Engineering/Product:</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[To fill in: %]</a:t>
            </a:r>
            <a:endParaRPr lang="en-US" sz="1496" dirty="0"/>
          </a:p>
        </p:txBody>
      </p:sp>
      <p:sp>
        <p:nvSpPr>
          <p:cNvPr id="9" name="Text 7"/>
          <p:cNvSpPr txBox="1"/>
          <p:nvPr/>
        </p:nvSpPr>
        <p:spPr>
          <a:xfrm>
            <a:off x="405384" y="39751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Sales &amp; Marketing:</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[To fill in: %]</a:t>
            </a:r>
            <a:endParaRPr lang="en-US" sz="1496" dirty="0"/>
          </a:p>
        </p:txBody>
      </p:sp>
      <p:sp>
        <p:nvSpPr>
          <p:cNvPr id="10" name="Text 8"/>
          <p:cNvSpPr txBox="1"/>
          <p:nvPr/>
        </p:nvSpPr>
        <p:spPr>
          <a:xfrm>
            <a:off x="405384" y="4305300"/>
            <a:ext cx="11350752" cy="228600"/>
          </a:xfrm>
          <a:prstGeom prst="rect">
            <a:avLst/>
          </a:prstGeom>
          <a:noFill/>
          <a:ln/>
        </p:spPr>
        <p:txBody>
          <a:bodyPr wrap="square" lIns="0" tIns="0" rIns="0" bIns="0" rtlCol="0" anchor="ctr"/>
          <a:lstStyle/>
          <a:p>
            <a:pPr algn="l" indent="0" marL="0">
              <a:buNone/>
            </a:pPr>
            <a:r>
              <a:rPr lang="en-US" sz="1496" b="1" dirty="0">
                <a:solidFill>
                  <a:srgbClr val="68B8D9"/>
                </a:solidFill>
                <a:latin typeface="Century Gothic" pitchFamily="34" charset="0"/>
                <a:ea typeface="Century Gothic" pitchFamily="34" charset="-122"/>
                <a:cs typeface="Century Gothic" pitchFamily="34" charset="-120"/>
              </a:rPr>
              <a:t>• Operations:</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[To fill in: %]</a:t>
            </a:r>
            <a:endParaRPr lang="en-US" sz="1496" dirty="0"/>
          </a:p>
        </p:txBody>
      </p:sp>
      <p:sp>
        <p:nvSpPr>
          <p:cNvPr id="11" name="Text 9"/>
          <p:cNvSpPr txBox="1"/>
          <p:nvPr/>
        </p:nvSpPr>
        <p:spPr>
          <a:xfrm>
            <a:off x="405384" y="4838700"/>
            <a:ext cx="11350752" cy="254000"/>
          </a:xfrm>
          <a:prstGeom prst="rect">
            <a:avLst/>
          </a:prstGeom>
          <a:noFill/>
          <a:ln/>
        </p:spPr>
        <p:txBody>
          <a:bodyPr wrap="square" lIns="0" tIns="0" rIns="0" bIns="0" rtlCol="0" anchor="ctr"/>
          <a:lstStyle/>
          <a:p>
            <a:pPr algn="l" indent="0" marL="0">
              <a:buNone/>
            </a:pPr>
            <a:r>
              <a:rPr lang="en-US" sz="1795" dirty="0">
                <a:solidFill>
                  <a:srgbClr val="68B8D9"/>
                </a:solidFill>
                <a:latin typeface="Segoe UI" pitchFamily="34" charset="0"/>
                <a:ea typeface="Segoe UI" pitchFamily="34" charset="-122"/>
                <a:cs typeface="Segoe UI" pitchFamily="34" charset="-120"/>
              </a:rPr>
              <a:t>Key Milestones</a:t>
            </a:r>
            <a:endParaRPr lang="en-US" sz="1795" dirty="0"/>
          </a:p>
        </p:txBody>
      </p:sp>
      <p:sp>
        <p:nvSpPr>
          <p:cNvPr id="12" name="Text 10"/>
          <p:cNvSpPr txBox="1"/>
          <p:nvPr/>
        </p:nvSpPr>
        <p:spPr>
          <a:xfrm>
            <a:off x="405384" y="5245100"/>
            <a:ext cx="113507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 </a:t>
            </a:r>
            <a:pPr algn="l" indent="0" marL="0">
              <a:buNone/>
            </a:pPr>
            <a:r>
              <a:rPr lang="en-US" sz="1496" b="1" dirty="0">
                <a:solidFill>
                  <a:srgbClr val="F0F8FF"/>
                </a:solidFill>
                <a:latin typeface="Century Gothic" pitchFamily="34" charset="0"/>
                <a:ea typeface="Century Gothic" pitchFamily="34" charset="-122"/>
                <a:cs typeface="Century Gothic" pitchFamily="34" charset="-120"/>
              </a:rPr>
              <a:t>[To fill in]:</a:t>
            </a:r>
            <a:pPr algn="l" indent="0" marL="0">
              <a:buNone/>
            </a:pPr>
            <a:r>
              <a:rPr lang="en-US" sz="1496" dirty="0">
                <a:solidFill>
                  <a:srgbClr val="F0F8FF"/>
                </a:solidFill>
                <a:latin typeface="Century Gothic" pitchFamily="34" charset="0"/>
                <a:ea typeface="Century Gothic" pitchFamily="34" charset="-122"/>
                <a:cs typeface="Century Gothic" pitchFamily="34" charset="-120"/>
              </a:rPr>
              <a:t> 3-4 major objectives and targets</a:t>
            </a:r>
            <a:endParaRPr lang="en-US" sz="1496" dirty="0"/>
          </a:p>
        </p:txBody>
      </p:sp>
      <p:sp>
        <p:nvSpPr>
          <p:cNvPr id="13" name="Text 11"/>
          <p:cNvSpPr txBox="1"/>
          <p:nvPr/>
        </p:nvSpPr>
        <p:spPr>
          <a:xfrm>
            <a:off x="11802355" y="6464300"/>
            <a:ext cx="169141"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14</a:t>
            </a:r>
            <a:endParaRPr lang="en-US" sz="1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3B5C"/>
        </a:solidFill>
      </p:bgPr>
    </p:bg>
    <p:spTree>
      <p:nvGrpSpPr>
        <p:cNvPr id="1" name=""/>
        <p:cNvGrpSpPr/>
        <p:nvPr/>
      </p:nvGrpSpPr>
      <p:grpSpPr>
        <a:xfrm>
          <a:off x="0" y="0"/>
          <a:ext cx="0" cy="0"/>
          <a:chOff x="0" y="0"/>
          <a:chExt cx="0" cy="0"/>
        </a:xfrm>
      </p:grpSpPr>
      <p:sp>
        <p:nvSpPr>
          <p:cNvPr id="2" name="Text 0"/>
          <p:cNvSpPr txBox="1"/>
          <p:nvPr/>
        </p:nvSpPr>
        <p:spPr>
          <a:xfrm>
            <a:off x="190024" y="190500"/>
            <a:ext cx="1267221" cy="203200"/>
          </a:xfrm>
          <a:prstGeom prst="rect">
            <a:avLst/>
          </a:prstGeom>
          <a:noFill/>
          <a:ln/>
        </p:spPr>
        <p:txBody>
          <a:bodyPr wrap="square" lIns="0" tIns="0" rIns="0" bIns="0" rtlCol="0" anchor="ctr"/>
          <a:lstStyle/>
          <a:p>
            <a:pPr algn="l" indent="0" marL="0">
              <a:buNone/>
            </a:pPr>
            <a:r>
              <a:rPr lang="en-US" sz="1197" dirty="0">
                <a:solidFill>
                  <a:srgbClr val="F0F8FF"/>
                </a:solidFill>
                <a:latin typeface="Segoe UI" pitchFamily="34" charset="0"/>
                <a:ea typeface="Segoe UI" pitchFamily="34" charset="-122"/>
                <a:cs typeface="Segoe UI" pitchFamily="34" charset="-120"/>
              </a:rPr>
              <a:t>Helm by Synaptic</a:t>
            </a:r>
            <a:endParaRPr lang="en-US" sz="1197" dirty="0"/>
          </a:p>
        </p:txBody>
      </p:sp>
      <p:sp>
        <p:nvSpPr>
          <p:cNvPr id="3" name="Text 1"/>
          <p:cNvSpPr txBox="1"/>
          <p:nvPr/>
        </p:nvSpPr>
        <p:spPr>
          <a:xfrm>
            <a:off x="506730" y="1231900"/>
            <a:ext cx="11148060" cy="1219200"/>
          </a:xfrm>
          <a:prstGeom prst="rect">
            <a:avLst/>
          </a:prstGeom>
          <a:noFill/>
          <a:ln/>
        </p:spPr>
        <p:txBody>
          <a:bodyPr wrap="square" lIns="0" tIns="0" rIns="0" bIns="0" rtlCol="0" anchor="ctr"/>
          <a:lstStyle/>
          <a:p>
            <a:pPr algn="ctr" indent="0" marL="0">
              <a:buNone/>
            </a:pPr>
            <a:r>
              <a:rPr lang="en-US" sz="4788" b="1" dirty="0">
                <a:solidFill>
                  <a:srgbClr val="F0F8FF"/>
                </a:solidFill>
                <a:latin typeface="Segoe UI" pitchFamily="34" charset="0"/>
                <a:ea typeface="Segoe UI" pitchFamily="34" charset="-122"/>
                <a:cs typeface="Segoe UI" pitchFamily="34" charset="-120"/>
              </a:rPr>
              <a:t>Building the Future of Agent Governance</a:t>
            </a:r>
            <a:endParaRPr lang="en-US" sz="4788" dirty="0"/>
          </a:p>
        </p:txBody>
      </p:sp>
      <p:sp>
        <p:nvSpPr>
          <p:cNvPr id="4" name="Text 2"/>
          <p:cNvSpPr txBox="1"/>
          <p:nvPr/>
        </p:nvSpPr>
        <p:spPr>
          <a:xfrm>
            <a:off x="1330166" y="2705100"/>
            <a:ext cx="9501188" cy="762000"/>
          </a:xfrm>
          <a:prstGeom prst="rect">
            <a:avLst/>
          </a:prstGeom>
          <a:noFill/>
          <a:ln/>
        </p:spPr>
        <p:txBody>
          <a:bodyPr wrap="square" lIns="0" tIns="0" rIns="0" bIns="0" rtlCol="0" anchor="ctr"/>
          <a:lstStyle/>
          <a:p>
            <a:pPr algn="ctr" indent="0" marL="0">
              <a:buNone/>
            </a:pPr>
            <a:r>
              <a:rPr lang="en-US" sz="1795" i="1" dirty="0">
                <a:solidFill>
                  <a:srgbClr val="68B8D9"/>
                </a:solidFill>
                <a:latin typeface="Century Gothic" pitchFamily="34" charset="0"/>
                <a:ea typeface="Century Gothic" pitchFamily="34" charset="-122"/>
                <a:cs typeface="Century Gothic" pitchFamily="34" charset="-120"/>
              </a:rPr>
              <a:t>"Helm is building the decision intelligence infrastructure for the service industry—a world where every decision is understood, every agent is governed by human wisdom, and every outcome drives continuous organizational learning."</a:t>
            </a:r>
            <a:endParaRPr lang="en-US" sz="1795" dirty="0"/>
          </a:p>
        </p:txBody>
      </p:sp>
      <p:sp>
        <p:nvSpPr>
          <p:cNvPr id="5" name="Text 3"/>
          <p:cNvSpPr txBox="1"/>
          <p:nvPr/>
        </p:nvSpPr>
        <p:spPr>
          <a:xfrm>
            <a:off x="3122229" y="3924300"/>
            <a:ext cx="5916963" cy="254000"/>
          </a:xfrm>
          <a:prstGeom prst="rect">
            <a:avLst/>
          </a:prstGeom>
          <a:noFill/>
          <a:ln/>
        </p:spPr>
        <p:txBody>
          <a:bodyPr wrap="square" lIns="0" tIns="0" rIns="0" bIns="0" rtlCol="0" anchor="ctr"/>
          <a:lstStyle/>
          <a:p>
            <a:pPr algn="ctr" indent="0" marL="0">
              <a:buNone/>
            </a:pPr>
            <a:r>
              <a:rPr lang="en-US" sz="1795" b="1" dirty="0">
                <a:solidFill>
                  <a:srgbClr val="FB4100"/>
                </a:solidFill>
                <a:latin typeface="Segoe UI" pitchFamily="34" charset="0"/>
                <a:ea typeface="Segoe UI" pitchFamily="34" charset="-122"/>
                <a:cs typeface="Segoe UI" pitchFamily="34" charset="-120"/>
              </a:rPr>
              <a:t>Why Now</a:t>
            </a:r>
            <a:endParaRPr lang="en-US" sz="1795" dirty="0"/>
          </a:p>
        </p:txBody>
      </p:sp>
      <p:pic>
        <p:nvPicPr>
          <p:cNvPr id="6" name="Image 0" descr="preencoded.png">    </p:cNvPr>
          <p:cNvPicPr>
            <a:picLocks noChangeAspect="1"/>
          </p:cNvPicPr>
          <p:nvPr/>
        </p:nvPicPr>
        <p:blipFill>
          <a:blip r:embed="rId1"/>
          <a:srcRect l="0" r="0" t="0" b="0"/>
          <a:stretch/>
        </p:blipFill>
        <p:spPr>
          <a:xfrm>
            <a:off x="3324921" y="4546600"/>
            <a:ext cx="202692" cy="203200"/>
          </a:xfrm>
          <a:prstGeom prst="rect">
            <a:avLst/>
          </a:prstGeom>
        </p:spPr>
      </p:pic>
      <p:sp>
        <p:nvSpPr>
          <p:cNvPr id="7" name="Text 4"/>
          <p:cNvSpPr txBox="1"/>
          <p:nvPr/>
        </p:nvSpPr>
        <p:spPr>
          <a:xfrm>
            <a:off x="3628959" y="4533900"/>
            <a:ext cx="4511085"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40% of enterprise apps getting agents by end of 2026</a:t>
            </a:r>
            <a:endParaRPr lang="en-US" sz="1496" dirty="0"/>
          </a:p>
        </p:txBody>
      </p:sp>
      <p:pic>
        <p:nvPicPr>
          <p:cNvPr id="8" name="Image 1" descr="preencoded.png">    </p:cNvPr>
          <p:cNvPicPr>
            <a:picLocks noChangeAspect="1"/>
          </p:cNvPicPr>
          <p:nvPr/>
        </p:nvPicPr>
        <p:blipFill>
          <a:blip r:embed="rId2"/>
          <a:srcRect l="0" r="0" t="0" b="0"/>
          <a:stretch/>
        </p:blipFill>
        <p:spPr>
          <a:xfrm>
            <a:off x="3324921" y="4876800"/>
            <a:ext cx="202692" cy="203200"/>
          </a:xfrm>
          <a:prstGeom prst="rect">
            <a:avLst/>
          </a:prstGeom>
        </p:spPr>
      </p:pic>
      <p:sp>
        <p:nvSpPr>
          <p:cNvPr id="9" name="Text 5"/>
          <p:cNvSpPr txBox="1"/>
          <p:nvPr/>
        </p:nvSpPr>
        <p:spPr>
          <a:xfrm>
            <a:off x="3628959" y="4864100"/>
            <a:ext cx="5207541"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Market need for governance infrastructure is acute and urgent</a:t>
            </a:r>
            <a:endParaRPr lang="en-US" sz="1496" dirty="0"/>
          </a:p>
        </p:txBody>
      </p:sp>
      <p:pic>
        <p:nvPicPr>
          <p:cNvPr id="10" name="Image 2" descr="preencoded.png">    </p:cNvPr>
          <p:cNvPicPr>
            <a:picLocks noChangeAspect="1"/>
          </p:cNvPicPr>
          <p:nvPr/>
        </p:nvPicPr>
        <p:blipFill>
          <a:blip r:embed="rId3"/>
          <a:srcRect l="0" r="0" t="0" b="0"/>
          <a:stretch/>
        </p:blipFill>
        <p:spPr>
          <a:xfrm>
            <a:off x="3324921" y="5207000"/>
            <a:ext cx="202692" cy="203200"/>
          </a:xfrm>
          <a:prstGeom prst="rect">
            <a:avLst/>
          </a:prstGeom>
        </p:spPr>
      </p:pic>
      <p:sp>
        <p:nvSpPr>
          <p:cNvPr id="11" name="Text 6"/>
          <p:cNvSpPr txBox="1"/>
          <p:nvPr/>
        </p:nvSpPr>
        <p:spPr>
          <a:xfrm>
            <a:off x="3628959" y="5194300"/>
            <a:ext cx="4023852" cy="228600"/>
          </a:xfrm>
          <a:prstGeom prst="rect">
            <a:avLst/>
          </a:prstGeom>
          <a:noFill/>
          <a:ln/>
        </p:spPr>
        <p:txBody>
          <a:bodyPr wrap="square" lIns="0" tIns="0" rIns="0" bIns="0" rtlCol="0" anchor="ctr"/>
          <a:lstStyle/>
          <a:p>
            <a:pPr algn="l" indent="0" marL="0">
              <a:buNone/>
            </a:pPr>
            <a:r>
              <a:rPr lang="en-US" sz="1496" dirty="0">
                <a:solidFill>
                  <a:srgbClr val="F0F8FF"/>
                </a:solidFill>
                <a:latin typeface="Century Gothic" pitchFamily="34" charset="0"/>
                <a:ea typeface="Century Gothic" pitchFamily="34" charset="-122"/>
                <a:cs typeface="Century Gothic" pitchFamily="34" charset="-120"/>
              </a:rPr>
              <a:t>Category crystallizing as essential infrastructure</a:t>
            </a:r>
            <a:endParaRPr lang="en-US" sz="1496" dirty="0"/>
          </a:p>
        </p:txBody>
      </p:sp>
      <p:sp>
        <p:nvSpPr>
          <p:cNvPr id="12" name="Text 7"/>
          <p:cNvSpPr txBox="1"/>
          <p:nvPr/>
        </p:nvSpPr>
        <p:spPr>
          <a:xfrm>
            <a:off x="11802355" y="6464300"/>
            <a:ext cx="169141" cy="203200"/>
          </a:xfrm>
          <a:prstGeom prst="rect">
            <a:avLst/>
          </a:prstGeom>
          <a:noFill/>
          <a:ln/>
        </p:spPr>
        <p:txBody>
          <a:bodyPr wrap="square" lIns="0" tIns="0" rIns="0" bIns="0" rtlCol="0" anchor="ctr"/>
          <a:lstStyle/>
          <a:p>
            <a:pPr algn="l" indent="0" marL="0">
              <a:buNone/>
            </a:pPr>
            <a:r>
              <a:rPr lang="en-US" sz="1197" dirty="0">
                <a:solidFill>
                  <a:srgbClr val="D4E8F2"/>
                </a:solidFill>
                <a:latin typeface="Segoe UI" pitchFamily="34" charset="0"/>
                <a:ea typeface="Segoe UI" pitchFamily="34" charset="-122"/>
                <a:cs typeface="Segoe UI" pitchFamily="34" charset="-120"/>
              </a:rPr>
              <a:t>15</a:t>
            </a:r>
            <a:endParaRPr lang="en-US" sz="11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2026-01-06T00:47:31Z</dcterms:created>
  <dcterms:modified xsi:type="dcterms:W3CDTF">2026-01-06T00:47:31Z</dcterms:modified>
</cp:coreProperties>
</file>