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5" d="100"/>
          <a:sy n="145" d="100"/>
        </p:scale>
        <p:origin x="112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361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53D"/>
        </a:solidFill>
        <a:effectLst/>
      </p:bgPr>
    </p:bg>
    <p:spTree>
      <p:nvGrpSpPr>
        <p:cNvPr id="1" name=""/>
        <p:cNvGrpSpPr/>
        <p:nvPr/>
      </p:nvGrpSpPr>
      <p:grpSpPr>
        <a:xfrm>
          <a:off x="0" y="0"/>
          <a:ext cx="0" cy="0"/>
          <a:chOff x="0" y="0"/>
          <a:chExt cx="0" cy="0"/>
        </a:xfrm>
      </p:grpSpPr>
      <p:sp>
        <p:nvSpPr>
          <p:cNvPr id="3" name="Text 1"/>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FFFFFF"/>
                </a:solidFill>
              </a:rPr>
              <a:t>Helm by Synaptic</a:t>
            </a:r>
            <a:endParaRPr lang="en-US" sz="1200" dirty="0"/>
          </a:p>
        </p:txBody>
      </p:sp>
      <p:sp>
        <p:nvSpPr>
          <p:cNvPr id="4" name="Text 2"/>
          <p:cNvSpPr/>
          <p:nvPr/>
        </p:nvSpPr>
        <p:spPr>
          <a:xfrm>
            <a:off x="457200" y="1371600"/>
            <a:ext cx="8229600" cy="1097280"/>
          </a:xfrm>
          <a:prstGeom prst="rect">
            <a:avLst/>
          </a:prstGeom>
          <a:noFill/>
          <a:ln/>
        </p:spPr>
        <p:txBody>
          <a:bodyPr wrap="square" rtlCol="0" anchor="ctr"/>
          <a:lstStyle/>
          <a:p>
            <a:pPr marL="0" indent="0" algn="ctr">
              <a:buNone/>
            </a:pPr>
            <a:r>
              <a:rPr lang="en-US" sz="4400" b="1" dirty="0">
                <a:solidFill>
                  <a:srgbClr val="FFFFFF"/>
                </a:solidFill>
              </a:rPr>
              <a:t>Executive Agent for Service Leaders</a:t>
            </a:r>
            <a:endParaRPr lang="en-US" sz="4400" dirty="0"/>
          </a:p>
        </p:txBody>
      </p:sp>
      <p:sp>
        <p:nvSpPr>
          <p:cNvPr id="5" name="Text 3"/>
          <p:cNvSpPr/>
          <p:nvPr/>
        </p:nvSpPr>
        <p:spPr>
          <a:xfrm>
            <a:off x="457200" y="2560320"/>
            <a:ext cx="8229600" cy="914400"/>
          </a:xfrm>
          <a:prstGeom prst="rect">
            <a:avLst/>
          </a:prstGeom>
          <a:noFill/>
          <a:ln/>
        </p:spPr>
        <p:txBody>
          <a:bodyPr wrap="square" rtlCol="0" anchor="ctr"/>
          <a:lstStyle/>
          <a:p>
            <a:pPr marL="0" indent="0" algn="ctr">
              <a:buNone/>
            </a:pPr>
            <a:r>
              <a:rPr lang="en-US" sz="2200" dirty="0">
                <a:solidFill>
                  <a:srgbClr val="01A9DB"/>
                </a:solidFill>
              </a:rPr>
              <a:t>Give service leaders the insight and control they need to evolve their operations with confidence and impact</a:t>
            </a:r>
            <a:endParaRPr lang="en-US" sz="2200" dirty="0"/>
          </a:p>
        </p:txBody>
      </p:sp>
      <p:sp>
        <p:nvSpPr>
          <p:cNvPr id="6" name="Text 4"/>
          <p:cNvSpPr/>
          <p:nvPr/>
        </p:nvSpPr>
        <p:spPr>
          <a:xfrm>
            <a:off x="457200" y="3749040"/>
            <a:ext cx="8229600" cy="274320"/>
          </a:xfrm>
          <a:prstGeom prst="rect">
            <a:avLst/>
          </a:prstGeom>
          <a:noFill/>
          <a:ln/>
        </p:spPr>
        <p:txBody>
          <a:bodyPr wrap="square" rtlCol="0" anchor="ctr"/>
          <a:lstStyle/>
          <a:p>
            <a:pPr marL="0" indent="0" algn="ctr">
              <a:buNone/>
            </a:pPr>
            <a:r>
              <a:rPr lang="en-US" sz="1400" dirty="0">
                <a:solidFill>
                  <a:srgbClr val="FFFFFF"/>
                </a:solidFill>
              </a:rPr>
              <a:t>Seed Extension Round</a:t>
            </a:r>
            <a:endParaRPr lang="en-US" sz="1400" dirty="0"/>
          </a:p>
        </p:txBody>
      </p:sp>
      <p:sp>
        <p:nvSpPr>
          <p:cNvPr id="7" name="Text 5"/>
          <p:cNvSpPr/>
          <p:nvPr/>
        </p:nvSpPr>
        <p:spPr>
          <a:xfrm>
            <a:off x="457200" y="4023360"/>
            <a:ext cx="8229600" cy="274320"/>
          </a:xfrm>
          <a:prstGeom prst="rect">
            <a:avLst/>
          </a:prstGeom>
          <a:noFill/>
          <a:ln/>
        </p:spPr>
        <p:txBody>
          <a:bodyPr wrap="square" rtlCol="0" anchor="ctr"/>
          <a:lstStyle/>
          <a:p>
            <a:pPr marL="0" indent="0" algn="ctr">
              <a:buNone/>
            </a:pPr>
            <a:r>
              <a:rPr lang="en-US" sz="1200" dirty="0">
                <a:solidFill>
                  <a:srgbClr val="01A9DB"/>
                </a:solidFill>
              </a:rPr>
              <a:t>January 2026</a:t>
            </a:r>
            <a:endParaRPr lang="en-US" sz="12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The AI Agent Explosion</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01A9DB"/>
                </a:solidFill>
              </a:rPr>
              <a:t>Market Inflection Point (2026)</a:t>
            </a:r>
            <a:endParaRPr lang="en-US" sz="1400" dirty="0"/>
          </a:p>
        </p:txBody>
      </p:sp>
      <p:sp>
        <p:nvSpPr>
          <p:cNvPr id="5" name="Text 3"/>
          <p:cNvSpPr/>
          <p:nvPr/>
        </p:nvSpPr>
        <p:spPr>
          <a:xfrm>
            <a:off x="640080" y="1234440"/>
            <a:ext cx="7863840" cy="1097280"/>
          </a:xfrm>
          <a:prstGeom prst="rect">
            <a:avLst/>
          </a:prstGeom>
          <a:noFill/>
          <a:ln/>
        </p:spPr>
        <p:txBody>
          <a:bodyPr wrap="square" rtlCol="0" anchor="t"/>
          <a:lstStyle/>
          <a:p>
            <a:pPr marL="0" indent="0">
              <a:buNone/>
            </a:pPr>
            <a:r>
              <a:rPr lang="en-US" sz="1100" dirty="0">
                <a:solidFill>
                  <a:srgbClr val="44546A"/>
                </a:solidFill>
              </a:rPr>
              <a:t>Gartner: 40% of enterprise apps will feature task-specific AI agents by end of 2026 (vs &lt;5% in 2025)</a:t>
            </a:r>
            <a:endParaRPr lang="en-US" sz="1100" dirty="0"/>
          </a:p>
          <a:p>
            <a:pPr marL="0" indent="0">
              <a:buNone/>
            </a:pPr>
            <a:endParaRPr lang="en-US" sz="1100" dirty="0"/>
          </a:p>
          <a:p>
            <a:pPr marL="0" indent="0">
              <a:buNone/>
            </a:pPr>
            <a:r>
              <a:rPr lang="en-US" sz="1100" dirty="0">
                <a:solidFill>
                  <a:srgbClr val="44546A"/>
                </a:solidFill>
              </a:rPr>
              <a:t>Microsoft/Stanford HAI: Shift from "AI evangelism" to "pragmatic AI evaluation" in 2026</a:t>
            </a:r>
            <a:endParaRPr lang="en-US" sz="1100" dirty="0"/>
          </a:p>
          <a:p>
            <a:pPr marL="0" indent="0">
              <a:buNone/>
            </a:pPr>
            <a:endParaRPr lang="en-US" sz="1100" dirty="0"/>
          </a:p>
          <a:p>
            <a:pPr marL="0" indent="0">
              <a:buNone/>
            </a:pPr>
            <a:r>
              <a:rPr lang="en-US" sz="1100" dirty="0">
                <a:solidFill>
                  <a:srgbClr val="44546A"/>
                </a:solidFill>
              </a:rPr>
              <a:t>Industry consensus: Agent adoption moving from pilots to production</a:t>
            </a:r>
            <a:endParaRPr lang="en-US" sz="1100" dirty="0"/>
          </a:p>
        </p:txBody>
      </p:sp>
      <p:sp>
        <p:nvSpPr>
          <p:cNvPr id="6" name="Text 4"/>
          <p:cNvSpPr/>
          <p:nvPr/>
        </p:nvSpPr>
        <p:spPr>
          <a:xfrm>
            <a:off x="457200" y="2423160"/>
            <a:ext cx="8229600" cy="228600"/>
          </a:xfrm>
          <a:prstGeom prst="rect">
            <a:avLst/>
          </a:prstGeom>
          <a:noFill/>
          <a:ln/>
        </p:spPr>
        <p:txBody>
          <a:bodyPr wrap="square" rtlCol="0" anchor="ctr"/>
          <a:lstStyle/>
          <a:p>
            <a:pPr marL="0" indent="0">
              <a:buNone/>
            </a:pPr>
            <a:r>
              <a:rPr lang="en-US" sz="1400" b="1" dirty="0">
                <a:solidFill>
                  <a:srgbClr val="01A9DB"/>
                </a:solidFill>
              </a:rPr>
              <a:t>Why Customer Service First</a:t>
            </a:r>
            <a:endParaRPr lang="en-US" sz="1400" dirty="0"/>
          </a:p>
        </p:txBody>
      </p:sp>
      <p:sp>
        <p:nvSpPr>
          <p:cNvPr id="7" name="Text 5"/>
          <p:cNvSpPr/>
          <p:nvPr/>
        </p:nvSpPr>
        <p:spPr>
          <a:xfrm>
            <a:off x="640080" y="2743200"/>
            <a:ext cx="7863840" cy="1097280"/>
          </a:xfrm>
          <a:prstGeom prst="rect">
            <a:avLst/>
          </a:prstGeom>
          <a:noFill/>
          <a:ln/>
        </p:spPr>
        <p:txBody>
          <a:bodyPr wrap="square" rtlCol="0" anchor="t"/>
          <a:lstStyle/>
          <a:p>
            <a:pPr marL="0" indent="0">
              <a:buNone/>
            </a:pPr>
            <a:r>
              <a:rPr lang="en-US" sz="1100" dirty="0">
                <a:solidFill>
                  <a:srgbClr val="44546A"/>
                </a:solidFill>
              </a:rPr>
              <a:t>158,000 total addressable companies (150K SMB + 8K enterprise)</a:t>
            </a:r>
            <a:endParaRPr lang="en-US" sz="1100" dirty="0"/>
          </a:p>
          <a:p>
            <a:pPr marL="0" indent="0">
              <a:buNone/>
            </a:pPr>
            <a:endParaRPr lang="en-US" sz="1100" dirty="0"/>
          </a:p>
          <a:p>
            <a:pPr marL="0" indent="0">
              <a:buNone/>
            </a:pPr>
            <a:r>
              <a:rPr lang="en-US" sz="1100" dirty="0">
                <a:solidFill>
                  <a:srgbClr val="44546A"/>
                </a:solidFill>
              </a:rPr>
              <a:t>Highest ROI AI use case: cost per contact, CSAT improvement</a:t>
            </a:r>
            <a:endParaRPr lang="en-US" sz="1100" dirty="0"/>
          </a:p>
          <a:p>
            <a:pPr marL="0" indent="0">
              <a:buNone/>
            </a:pPr>
            <a:endParaRPr lang="en-US" sz="1100" dirty="0"/>
          </a:p>
          <a:p>
            <a:pPr marL="0" indent="0">
              <a:buNone/>
            </a:pPr>
            <a:r>
              <a:rPr lang="en-US" sz="1100" dirty="0">
                <a:solidFill>
                  <a:srgbClr val="44546A"/>
                </a:solidFill>
              </a:rPr>
              <a:t>Salesforce Service Cloud: 70K+ customers, $9B revenue (~$125K ACV)</a:t>
            </a:r>
            <a:endParaRPr lang="en-US" sz="1100" dirty="0"/>
          </a:p>
          <a:p>
            <a:pPr marL="0" indent="0">
              <a:buNone/>
            </a:pPr>
            <a:endParaRPr lang="en-US" sz="1100" dirty="0"/>
          </a:p>
          <a:p>
            <a:pPr marL="0" indent="0">
              <a:buNone/>
            </a:pPr>
            <a:r>
              <a:rPr lang="en-US" sz="1100" dirty="0">
                <a:solidFill>
                  <a:srgbClr val="44546A"/>
                </a:solidFill>
              </a:rPr>
              <a:t>33% of deployments failing due to lack of governance</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The AI Deployment Crisis</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FB4100"/>
                </a:solidFill>
              </a:rPr>
              <a:t>The Problem</a:t>
            </a:r>
            <a:endParaRPr lang="en-US" sz="1400" dirty="0"/>
          </a:p>
        </p:txBody>
      </p:sp>
      <p:sp>
        <p:nvSpPr>
          <p:cNvPr id="5" name="Text 3"/>
          <p:cNvSpPr/>
          <p:nvPr/>
        </p:nvSpPr>
        <p:spPr>
          <a:xfrm>
            <a:off x="640080" y="1234440"/>
            <a:ext cx="7863840" cy="1097280"/>
          </a:xfrm>
          <a:prstGeom prst="rect">
            <a:avLst/>
          </a:prstGeom>
          <a:noFill/>
          <a:ln/>
        </p:spPr>
        <p:txBody>
          <a:bodyPr wrap="square" rtlCol="0" anchor="t"/>
          <a:lstStyle/>
          <a:p>
            <a:pPr marL="0" indent="0">
              <a:buNone/>
            </a:pPr>
            <a:r>
              <a:rPr lang="en-US" sz="1100" dirty="0">
                <a:solidFill>
                  <a:srgbClr val="44546A"/>
                </a:solidFill>
              </a:rPr>
              <a:t>33% of service AI deployments fail due to lack of decision context and governance</a:t>
            </a:r>
            <a:endParaRPr lang="en-US" sz="1100" dirty="0"/>
          </a:p>
          <a:p>
            <a:pPr marL="0" indent="0">
              <a:buNone/>
            </a:pPr>
            <a:endParaRPr lang="en-US" sz="1100" dirty="0"/>
          </a:p>
          <a:p>
            <a:pPr marL="0" indent="0">
              <a:buNone/>
            </a:pPr>
            <a:r>
              <a:rPr lang="en-US" sz="1100" dirty="0">
                <a:solidFill>
                  <a:srgbClr val="44546A"/>
                </a:solidFill>
              </a:rPr>
              <a:t>Companies mistake "deploying an agent" for "managing decisions"</a:t>
            </a:r>
            <a:endParaRPr lang="en-US" sz="1100" dirty="0"/>
          </a:p>
          <a:p>
            <a:pPr marL="0" indent="0">
              <a:buNone/>
            </a:pPr>
            <a:endParaRPr lang="en-US" sz="1100" dirty="0"/>
          </a:p>
          <a:p>
            <a:pPr marL="0" indent="0">
              <a:buNone/>
            </a:pPr>
            <a:r>
              <a:rPr lang="en-US" sz="1100" dirty="0">
                <a:solidFill>
                  <a:srgbClr val="44546A"/>
                </a:solidFill>
              </a:rPr>
              <a:t>No audit trail for compliance and transparency (increasingly required)</a:t>
            </a:r>
            <a:endParaRPr lang="en-US" sz="1100" dirty="0"/>
          </a:p>
          <a:p>
            <a:pPr marL="0" indent="0">
              <a:buNone/>
            </a:pPr>
            <a:endParaRPr lang="en-US" sz="1100" dirty="0"/>
          </a:p>
          <a:p>
            <a:pPr marL="0" indent="0">
              <a:buNone/>
            </a:pPr>
            <a:r>
              <a:rPr lang="en-US" sz="1100" dirty="0">
                <a:solidFill>
                  <a:srgbClr val="44546A"/>
                </a:solidFill>
              </a:rPr>
              <a:t>Historic: 95% of AI pilots deliver zero ROI (MIT), 85% fail before value (Gartner)</a:t>
            </a:r>
            <a:endParaRPr lang="en-US" sz="1100" dirty="0"/>
          </a:p>
        </p:txBody>
      </p:sp>
      <p:sp>
        <p:nvSpPr>
          <p:cNvPr id="6" name="Text 4"/>
          <p:cNvSpPr/>
          <p:nvPr/>
        </p:nvSpPr>
        <p:spPr>
          <a:xfrm>
            <a:off x="457200" y="2423160"/>
            <a:ext cx="8229600" cy="228600"/>
          </a:xfrm>
          <a:prstGeom prst="rect">
            <a:avLst/>
          </a:prstGeom>
          <a:noFill/>
          <a:ln/>
        </p:spPr>
        <p:txBody>
          <a:bodyPr wrap="square" rtlCol="0" anchor="ctr"/>
          <a:lstStyle/>
          <a:p>
            <a:pPr marL="0" indent="0">
              <a:buNone/>
            </a:pPr>
            <a:r>
              <a:rPr lang="en-US" sz="1400" b="1" dirty="0">
                <a:solidFill>
                  <a:srgbClr val="01A9DB"/>
                </a:solidFill>
              </a:rPr>
              <a:t>Why This Matters Now</a:t>
            </a:r>
            <a:endParaRPr lang="en-US" sz="1400" dirty="0"/>
          </a:p>
        </p:txBody>
      </p:sp>
      <p:sp>
        <p:nvSpPr>
          <p:cNvPr id="7" name="Text 5"/>
          <p:cNvSpPr/>
          <p:nvPr/>
        </p:nvSpPr>
        <p:spPr>
          <a:xfrm>
            <a:off x="640080" y="2743200"/>
            <a:ext cx="7863840" cy="822960"/>
          </a:xfrm>
          <a:prstGeom prst="rect">
            <a:avLst/>
          </a:prstGeom>
          <a:noFill/>
          <a:ln/>
        </p:spPr>
        <p:txBody>
          <a:bodyPr wrap="square" rtlCol="0" anchor="t"/>
          <a:lstStyle/>
          <a:p>
            <a:pPr marL="0" indent="0">
              <a:buNone/>
            </a:pPr>
            <a:r>
              <a:rPr lang="en-US" sz="1100" dirty="0">
                <a:solidFill>
                  <a:srgbClr val="44546A"/>
                </a:solidFill>
              </a:rPr>
              <a:t>EU AI Act fully applicable August 2, 2026 (mandatory governance/transparency)</a:t>
            </a:r>
            <a:endParaRPr lang="en-US" sz="1100" dirty="0"/>
          </a:p>
          <a:p>
            <a:pPr marL="0" indent="0">
              <a:buNone/>
            </a:pPr>
            <a:endParaRPr lang="en-US" sz="1100" dirty="0"/>
          </a:p>
          <a:p>
            <a:pPr marL="0" indent="0">
              <a:buNone/>
            </a:pPr>
            <a:r>
              <a:rPr lang="en-US" sz="1100" dirty="0">
                <a:solidFill>
                  <a:srgbClr val="44546A"/>
                </a:solidFill>
              </a:rPr>
              <a:t>60% of Fortune 100 will appoint Chief AI Officer in 2026</a:t>
            </a:r>
            <a:endParaRPr lang="en-US" sz="1100" dirty="0"/>
          </a:p>
          <a:p>
            <a:pPr marL="0" indent="0">
              <a:buNone/>
            </a:pPr>
            <a:endParaRPr lang="en-US" sz="1100" dirty="0"/>
          </a:p>
          <a:p>
            <a:pPr marL="0" indent="0">
              <a:buNone/>
            </a:pPr>
            <a:r>
              <a:rPr lang="en-US" sz="1100" dirty="0">
                <a:solidFill>
                  <a:srgbClr val="44546A"/>
                </a:solidFill>
              </a:rPr>
              <a:t>Regulatory pressure forces "meaningful human review" of AI decisions</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Market Evolution &amp; Emerging Category</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01A9DB"/>
                </a:solidFill>
              </a:rPr>
              <a:t>Category Crystallization (2026)</a:t>
            </a:r>
            <a:endParaRPr lang="en-US" sz="1400" dirty="0"/>
          </a:p>
        </p:txBody>
      </p:sp>
      <p:sp>
        <p:nvSpPr>
          <p:cNvPr id="5" name="Text 3"/>
          <p:cNvSpPr/>
          <p:nvPr/>
        </p:nvSpPr>
        <p:spPr>
          <a:xfrm>
            <a:off x="640080" y="1234440"/>
            <a:ext cx="7863840" cy="914400"/>
          </a:xfrm>
          <a:prstGeom prst="rect">
            <a:avLst/>
          </a:prstGeom>
          <a:noFill/>
          <a:ln/>
        </p:spPr>
        <p:txBody>
          <a:bodyPr wrap="square" rtlCol="0" anchor="t"/>
          <a:lstStyle/>
          <a:p>
            <a:pPr marL="0" indent="0">
              <a:buNone/>
            </a:pPr>
            <a:r>
              <a:rPr lang="en-US" sz="1100" dirty="0">
                <a:solidFill>
                  <a:srgbClr val="44546A"/>
                </a:solidFill>
              </a:rPr>
              <a:t>Gartner: Decision Intelligence is #1 trend in 2026 Hype Cycle</a:t>
            </a:r>
            <a:endParaRPr lang="en-US" sz="1100" dirty="0"/>
          </a:p>
          <a:p>
            <a:pPr marL="0" indent="0">
              <a:buNone/>
            </a:pPr>
            <a:endParaRPr lang="en-US" sz="1100" dirty="0"/>
          </a:p>
          <a:p>
            <a:pPr marL="0" indent="0">
              <a:buNone/>
            </a:pPr>
            <a:r>
              <a:rPr lang="en-US" sz="1100" dirty="0">
                <a:solidFill>
                  <a:srgbClr val="44546A"/>
                </a:solidFill>
              </a:rPr>
              <a:t>Forrester: Agent Control Planes becoming essential governance layer</a:t>
            </a:r>
            <a:endParaRPr lang="en-US" sz="1100" dirty="0"/>
          </a:p>
          <a:p>
            <a:pPr marL="0" indent="0">
              <a:buNone/>
            </a:pPr>
            <a:endParaRPr lang="en-US" sz="1100" dirty="0"/>
          </a:p>
          <a:p>
            <a:pPr marL="0" indent="0">
              <a:buNone/>
            </a:pPr>
            <a:r>
              <a:rPr lang="en-US" sz="1100" dirty="0">
                <a:solidFill>
                  <a:srgbClr val="44546A"/>
                </a:solidFill>
              </a:rPr>
              <a:t>VCs/Foundation Capital: Context Graphs and "Execution Intelligence Layer" as key infrastructure</a:t>
            </a:r>
            <a:endParaRPr lang="en-US" sz="1100" dirty="0"/>
          </a:p>
        </p:txBody>
      </p:sp>
      <p:sp>
        <p:nvSpPr>
          <p:cNvPr id="6" name="Text 4"/>
          <p:cNvSpPr/>
          <p:nvPr/>
        </p:nvSpPr>
        <p:spPr>
          <a:xfrm>
            <a:off x="457200" y="2240280"/>
            <a:ext cx="8229600" cy="228600"/>
          </a:xfrm>
          <a:prstGeom prst="rect">
            <a:avLst/>
          </a:prstGeom>
          <a:noFill/>
          <a:ln/>
        </p:spPr>
        <p:txBody>
          <a:bodyPr wrap="square" rtlCol="0" anchor="ctr"/>
          <a:lstStyle/>
          <a:p>
            <a:pPr marL="0" indent="0">
              <a:buNone/>
            </a:pPr>
            <a:r>
              <a:rPr lang="en-US" sz="1400" b="1" dirty="0">
                <a:solidFill>
                  <a:srgbClr val="01A9DB"/>
                </a:solidFill>
              </a:rPr>
              <a:t>TAM Expansion</a:t>
            </a:r>
            <a:endParaRPr lang="en-US" sz="1400" dirty="0"/>
          </a:p>
        </p:txBody>
      </p:sp>
      <p:sp>
        <p:nvSpPr>
          <p:cNvPr id="7" name="Text 5"/>
          <p:cNvSpPr/>
          <p:nvPr/>
        </p:nvSpPr>
        <p:spPr>
          <a:xfrm>
            <a:off x="640080" y="2514600"/>
            <a:ext cx="7863840" cy="822960"/>
          </a:xfrm>
          <a:prstGeom prst="rect">
            <a:avLst/>
          </a:prstGeom>
          <a:noFill/>
          <a:ln/>
        </p:spPr>
        <p:txBody>
          <a:bodyPr wrap="square" rtlCol="0" anchor="t"/>
          <a:lstStyle/>
          <a:p>
            <a:pPr marL="0" indent="0">
              <a:buNone/>
            </a:pPr>
            <a:r>
              <a:rPr lang="en-US" sz="1100" dirty="0">
                <a:solidFill>
                  <a:srgbClr val="44546A"/>
                </a:solidFill>
              </a:rPr>
              <a:t>Base TAM: 158,000 companies deploying customer service AI</a:t>
            </a:r>
            <a:endParaRPr lang="en-US" sz="1100" dirty="0"/>
          </a:p>
          <a:p>
            <a:pPr marL="0" indent="0">
              <a:buNone/>
            </a:pPr>
            <a:endParaRPr lang="en-US" sz="1100" dirty="0"/>
          </a:p>
          <a:p>
            <a:pPr marL="0" indent="0">
              <a:buNone/>
            </a:pPr>
            <a:r>
              <a:rPr lang="en-US" sz="1100" dirty="0">
                <a:solidFill>
                  <a:srgbClr val="44546A"/>
                </a:solidFill>
              </a:rPr>
              <a:t>40% agent adoption by 2026 = billions in software transformation</a:t>
            </a:r>
            <a:endParaRPr lang="en-US" sz="1100" dirty="0"/>
          </a:p>
          <a:p>
            <a:pPr marL="0" indent="0">
              <a:buNone/>
            </a:pPr>
            <a:endParaRPr lang="en-US" sz="1100" dirty="0"/>
          </a:p>
          <a:p>
            <a:pPr marL="0" indent="0">
              <a:buNone/>
            </a:pPr>
            <a:r>
              <a:rPr lang="en-US" sz="1100" dirty="0">
                <a:solidFill>
                  <a:srgbClr val="44546A"/>
                </a:solidFill>
              </a:rPr>
              <a:t>Revenue TAM: $2-3B annual market opportunity for decision intelligence infrastructure</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Helm's Unique Approach</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01A9DB"/>
                </a:solidFill>
              </a:rPr>
              <a:t>What Helm Does</a:t>
            </a:r>
            <a:endParaRPr lang="en-US" sz="1400" dirty="0"/>
          </a:p>
        </p:txBody>
      </p:sp>
      <p:sp>
        <p:nvSpPr>
          <p:cNvPr id="5" name="Text 3"/>
          <p:cNvSpPr/>
          <p:nvPr/>
        </p:nvSpPr>
        <p:spPr>
          <a:xfrm>
            <a:off x="640080" y="1234440"/>
            <a:ext cx="7863840" cy="822960"/>
          </a:xfrm>
          <a:prstGeom prst="rect">
            <a:avLst/>
          </a:prstGeom>
          <a:noFill/>
          <a:ln/>
        </p:spPr>
        <p:txBody>
          <a:bodyPr wrap="square" rtlCol="0" anchor="t"/>
          <a:lstStyle/>
          <a:p>
            <a:pPr marL="0" indent="0">
              <a:buNone/>
            </a:pPr>
            <a:r>
              <a:rPr lang="en-US" sz="1100" dirty="0">
                <a:solidFill>
                  <a:srgbClr val="44546A"/>
                </a:solidFill>
              </a:rPr>
              <a:t>Mine: Captures how decisions are made across your customer service operation</a:t>
            </a:r>
            <a:endParaRPr lang="en-US" sz="1100" dirty="0"/>
          </a:p>
          <a:p>
            <a:pPr marL="0" indent="0">
              <a:buNone/>
            </a:pPr>
            <a:endParaRPr lang="en-US" sz="1100" dirty="0"/>
          </a:p>
          <a:p>
            <a:pPr marL="0" indent="0">
              <a:buNone/>
            </a:pPr>
            <a:r>
              <a:rPr lang="en-US" sz="1100" dirty="0">
                <a:solidFill>
                  <a:srgbClr val="44546A"/>
                </a:solidFill>
              </a:rPr>
              <a:t>Design: Helps you design better processes and agent workflows</a:t>
            </a:r>
            <a:endParaRPr lang="en-US" sz="1100" dirty="0"/>
          </a:p>
          <a:p>
            <a:pPr marL="0" indent="0">
              <a:buNone/>
            </a:pPr>
            <a:endParaRPr lang="en-US" sz="1100" dirty="0"/>
          </a:p>
          <a:p>
            <a:pPr marL="0" indent="0">
              <a:buNone/>
            </a:pPr>
            <a:r>
              <a:rPr lang="en-US" sz="1100" dirty="0">
                <a:solidFill>
                  <a:srgbClr val="44546A"/>
                </a:solidFill>
              </a:rPr>
              <a:t>Manage: Continuously monitors and improves with governance guardrails</a:t>
            </a:r>
            <a:endParaRPr lang="en-US" sz="1100" dirty="0"/>
          </a:p>
        </p:txBody>
      </p:sp>
      <p:sp>
        <p:nvSpPr>
          <p:cNvPr id="6" name="Text 4"/>
          <p:cNvSpPr/>
          <p:nvPr/>
        </p:nvSpPr>
        <p:spPr>
          <a:xfrm>
            <a:off x="457200" y="2148840"/>
            <a:ext cx="8229600" cy="228600"/>
          </a:xfrm>
          <a:prstGeom prst="rect">
            <a:avLst/>
          </a:prstGeom>
          <a:noFill/>
          <a:ln/>
        </p:spPr>
        <p:txBody>
          <a:bodyPr wrap="square" rtlCol="0" anchor="ctr"/>
          <a:lstStyle/>
          <a:p>
            <a:pPr marL="0" indent="0">
              <a:buNone/>
            </a:pPr>
            <a:r>
              <a:rPr lang="en-US" sz="1400" b="1" dirty="0">
                <a:solidFill>
                  <a:srgbClr val="01A9DB"/>
                </a:solidFill>
              </a:rPr>
              <a:t>Key Differentiators</a:t>
            </a:r>
            <a:endParaRPr lang="en-US" sz="1400" dirty="0"/>
          </a:p>
        </p:txBody>
      </p:sp>
      <p:sp>
        <p:nvSpPr>
          <p:cNvPr id="7" name="Text 5"/>
          <p:cNvSpPr/>
          <p:nvPr/>
        </p:nvSpPr>
        <p:spPr>
          <a:xfrm>
            <a:off x="640080" y="2468880"/>
            <a:ext cx="7863840" cy="1005840"/>
          </a:xfrm>
          <a:prstGeom prst="rect">
            <a:avLst/>
          </a:prstGeom>
          <a:noFill/>
          <a:ln/>
        </p:spPr>
        <p:txBody>
          <a:bodyPr wrap="square" rtlCol="0" anchor="t"/>
          <a:lstStyle/>
          <a:p>
            <a:pPr marL="0" indent="0">
              <a:buNone/>
            </a:pPr>
            <a:r>
              <a:rPr lang="en-US" sz="1100" dirty="0">
                <a:solidFill>
                  <a:srgbClr val="44546A"/>
                </a:solidFill>
              </a:rPr>
              <a:t>Executive-Friendly: Natural language interface, no technical training required</a:t>
            </a:r>
            <a:endParaRPr lang="en-US" sz="1100" dirty="0"/>
          </a:p>
          <a:p>
            <a:pPr marL="0" indent="0">
              <a:buNone/>
            </a:pPr>
            <a:endParaRPr lang="en-US" sz="1100" dirty="0"/>
          </a:p>
          <a:p>
            <a:pPr marL="0" indent="0">
              <a:buNone/>
            </a:pPr>
            <a:r>
              <a:rPr lang="en-US" sz="1100" dirty="0">
                <a:solidFill>
                  <a:srgbClr val="44546A"/>
                </a:solidFill>
              </a:rPr>
              <a:t>Fast Time-to-Value: Start free, get insights immediately</a:t>
            </a:r>
            <a:endParaRPr lang="en-US" sz="1100" dirty="0"/>
          </a:p>
          <a:p>
            <a:pPr marL="0" indent="0">
              <a:buNone/>
            </a:pPr>
            <a:endParaRPr lang="en-US" sz="1100" dirty="0"/>
          </a:p>
          <a:p>
            <a:pPr marL="0" indent="0">
              <a:buNone/>
            </a:pPr>
            <a:r>
              <a:rPr lang="en-US" sz="1100" dirty="0">
                <a:solidFill>
                  <a:srgbClr val="44546A"/>
                </a:solidFill>
              </a:rPr>
              <a:t>AI-Native: Continuously learns and improves from usage patterns</a:t>
            </a:r>
            <a:endParaRPr lang="en-US" sz="1100" dirty="0"/>
          </a:p>
          <a:p>
            <a:pPr marL="0" indent="0">
              <a:buNone/>
            </a:pPr>
            <a:endParaRPr lang="en-US" sz="1100" dirty="0"/>
          </a:p>
          <a:p>
            <a:pPr marL="0" indent="0">
              <a:buNone/>
            </a:pPr>
            <a:r>
              <a:rPr lang="en-US" sz="1100" dirty="0">
                <a:solidFill>
                  <a:srgbClr val="44546A"/>
                </a:solidFill>
              </a:rPr>
              <a:t>Platform Independent: Works across Salesforce, Zendesk, and any system</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Four-Module Monetization Journey</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82880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65760">
                <a:tc>
                  <a:txBody>
                    <a:bodyPr/>
                    <a:lstStyle/>
                    <a:p>
                      <a:pPr marL="0" indent="0" algn="l">
                        <a:buNone/>
                      </a:pPr>
                      <a:r>
                        <a:rPr lang="en-US" sz="1000" b="1" dirty="0">
                          <a:solidFill>
                            <a:srgbClr val="07253D"/>
                          </a:solidFill>
                        </a:rPr>
                        <a:t>Module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l">
                        <a:buNone/>
                      </a:pPr>
                      <a:r>
                        <a:rPr lang="en-US" sz="1000" b="1" dirty="0">
                          <a:solidFill>
                            <a:srgbClr val="07253D"/>
                          </a:solidFill>
                        </a:rPr>
                        <a:t>Purpose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l">
                        <a:buNone/>
                      </a:pPr>
                      <a:r>
                        <a:rPr lang="en-US" sz="1000" b="1" dirty="0">
                          <a:solidFill>
                            <a:srgbClr val="07253D"/>
                          </a:solidFill>
                        </a:rPr>
                        <a:t>Price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l">
                        <a:buNone/>
                      </a:pPr>
                      <a:r>
                        <a:rPr lang="en-US" sz="1000" b="1" dirty="0">
                          <a:solidFill>
                            <a:srgbClr val="07253D"/>
                          </a:solidFill>
                        </a:rPr>
                        <a:t>Users</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365760">
                <a:tc>
                  <a:txBody>
                    <a:bodyPr/>
                    <a:lstStyle/>
                    <a:p>
                      <a:pPr marL="0" indent="0" algn="l">
                        <a:buNone/>
                      </a:pPr>
                      <a:r>
                        <a:rPr lang="en-US" sz="1000" dirty="0">
                          <a:solidFill>
                            <a:srgbClr val="44546A"/>
                          </a:solidFill>
                        </a:rPr>
                        <a:t>Explore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Build user base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Free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Individual Contributors</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000" dirty="0">
                          <a:solidFill>
                            <a:srgbClr val="44546A"/>
                          </a:solidFill>
                        </a:rPr>
                        <a:t>Mine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Baseline understanding</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$10K-$50K</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Directors, VPs</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000" dirty="0">
                          <a:solidFill>
                            <a:srgbClr val="44546A"/>
                          </a:solidFill>
                        </a:rPr>
                        <a:t>Design</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AI-readiness plan</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$25K-$100K</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VPs, C-Suite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000" dirty="0">
                          <a:solidFill>
                            <a:srgbClr val="44546A"/>
                          </a:solidFill>
                        </a:rPr>
                        <a:t>Manage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Continuous improvement</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$500-$50K/mo</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C-Suite, Operations</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57200" y="2926080"/>
            <a:ext cx="8229600" cy="365760"/>
          </a:xfrm>
          <a:prstGeom prst="rect">
            <a:avLst/>
          </a:prstGeom>
          <a:noFill/>
          <a:ln/>
        </p:spPr>
        <p:txBody>
          <a:bodyPr wrap="square" rtlCol="0" anchor="ctr"/>
          <a:lstStyle/>
          <a:p>
            <a:pPr marL="0" indent="0" algn="ctr">
              <a:buNone/>
            </a:pPr>
            <a:r>
              <a:rPr lang="en-US" sz="1100" b="1" dirty="0">
                <a:solidFill>
                  <a:srgbClr val="44546A"/>
                </a:solidFill>
              </a:rPr>
              <a:t>Result: 2% freemium conversion → 50K+ free users → $1-2M Y1 ARR</a:t>
            </a:r>
            <a:endParaRPr lang="en-US" sz="1100" dirty="0"/>
          </a:p>
        </p:txBody>
      </p:sp>
      <p:sp>
        <p:nvSpPr>
          <p:cNvPr id="6" name="Text 3"/>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The Unfair Advantage</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01A9DB"/>
                </a:solidFill>
              </a:rPr>
              <a:t>Four Interconnected Advantages</a:t>
            </a:r>
            <a:endParaRPr lang="en-US" sz="1400" dirty="0"/>
          </a:p>
        </p:txBody>
      </p:sp>
      <p:sp>
        <p:nvSpPr>
          <p:cNvPr id="5" name="Text 3"/>
          <p:cNvSpPr/>
          <p:nvPr/>
        </p:nvSpPr>
        <p:spPr>
          <a:xfrm>
            <a:off x="640080" y="1234440"/>
            <a:ext cx="7863840" cy="1097280"/>
          </a:xfrm>
          <a:prstGeom prst="rect">
            <a:avLst/>
          </a:prstGeom>
          <a:noFill/>
          <a:ln/>
        </p:spPr>
        <p:txBody>
          <a:bodyPr wrap="square" rtlCol="0" anchor="t"/>
          <a:lstStyle/>
          <a:p>
            <a:pPr marL="0" indent="0">
              <a:buNone/>
            </a:pPr>
            <a:r>
              <a:rPr lang="en-US" sz="1100" dirty="0">
                <a:solidFill>
                  <a:srgbClr val="44546A"/>
                </a:solidFill>
              </a:rPr>
              <a:t>1. AI-Native Architecture: Every component AI-driven = simplified deployment</a:t>
            </a:r>
            <a:endParaRPr lang="en-US" sz="1100" dirty="0"/>
          </a:p>
          <a:p>
            <a:pPr marL="0" indent="0">
              <a:buNone/>
            </a:pPr>
            <a:endParaRPr lang="en-US" sz="1100" dirty="0"/>
          </a:p>
          <a:p>
            <a:pPr marL="0" indent="0">
              <a:buNone/>
            </a:pPr>
            <a:r>
              <a:rPr lang="en-US" sz="1100" dirty="0">
                <a:solidFill>
                  <a:srgbClr val="44546A"/>
                </a:solidFill>
              </a:rPr>
              <a:t>2. Platform Independence: Multi-platform aware, unbiased, vendor-neutral</a:t>
            </a:r>
            <a:endParaRPr lang="en-US" sz="1100" dirty="0"/>
          </a:p>
          <a:p>
            <a:pPr marL="0" indent="0">
              <a:buNone/>
            </a:pPr>
            <a:endParaRPr lang="en-US" sz="1100" dirty="0"/>
          </a:p>
          <a:p>
            <a:pPr marL="0" indent="0">
              <a:buNone/>
            </a:pPr>
            <a:r>
              <a:rPr lang="en-US" sz="1100" dirty="0">
                <a:solidFill>
                  <a:srgbClr val="44546A"/>
                </a:solidFill>
              </a:rPr>
              <a:t>3. Data Network Effects: Fleet learning + peer benchmarks = true moat</a:t>
            </a:r>
            <a:endParaRPr lang="en-US" sz="1100" dirty="0"/>
          </a:p>
          <a:p>
            <a:pPr marL="0" indent="0">
              <a:buNone/>
            </a:pPr>
            <a:endParaRPr lang="en-US" sz="1100" dirty="0"/>
          </a:p>
          <a:p>
            <a:pPr marL="0" indent="0">
              <a:buNone/>
            </a:pPr>
            <a:r>
              <a:rPr lang="en-US" sz="1100" dirty="0">
                <a:solidFill>
                  <a:srgbClr val="44546A"/>
                </a:solidFill>
              </a:rPr>
              <a:t>4. First-Mover Advantage: Own "Executive Agent" category (12-18 month window)</a:t>
            </a:r>
            <a:endParaRPr lang="en-US" sz="1100" dirty="0"/>
          </a:p>
        </p:txBody>
      </p:sp>
      <p:sp>
        <p:nvSpPr>
          <p:cNvPr id="6" name="Text 4"/>
          <p:cNvSpPr/>
          <p:nvPr/>
        </p:nvSpPr>
        <p:spPr>
          <a:xfrm>
            <a:off x="457200" y="2423160"/>
            <a:ext cx="8229600" cy="228600"/>
          </a:xfrm>
          <a:prstGeom prst="rect">
            <a:avLst/>
          </a:prstGeom>
          <a:noFill/>
          <a:ln/>
        </p:spPr>
        <p:txBody>
          <a:bodyPr wrap="square" rtlCol="0" anchor="ctr"/>
          <a:lstStyle/>
          <a:p>
            <a:pPr marL="0" indent="0">
              <a:buNone/>
            </a:pPr>
            <a:r>
              <a:rPr lang="en-US" sz="1400" b="1" dirty="0">
                <a:solidFill>
                  <a:srgbClr val="FB4100"/>
                </a:solidFill>
              </a:rPr>
              <a:t>Why Competitors Can't Match</a:t>
            </a:r>
            <a:endParaRPr lang="en-US" sz="1400" dirty="0"/>
          </a:p>
        </p:txBody>
      </p:sp>
      <p:sp>
        <p:nvSpPr>
          <p:cNvPr id="7" name="Text 5"/>
          <p:cNvSpPr/>
          <p:nvPr/>
        </p:nvSpPr>
        <p:spPr>
          <a:xfrm>
            <a:off x="640080" y="2743200"/>
            <a:ext cx="7863840" cy="640080"/>
          </a:xfrm>
          <a:prstGeom prst="rect">
            <a:avLst/>
          </a:prstGeom>
          <a:noFill/>
          <a:ln/>
        </p:spPr>
        <p:txBody>
          <a:bodyPr wrap="square" rtlCol="0" anchor="t"/>
          <a:lstStyle/>
          <a:p>
            <a:pPr marL="0" indent="0">
              <a:buNone/>
            </a:pPr>
            <a:r>
              <a:rPr lang="en-US" sz="1100" dirty="0">
                <a:solidFill>
                  <a:srgbClr val="44546A"/>
                </a:solidFill>
              </a:rPr>
              <a:t>Legacy Vendors: Trapped in enterprise model, no network effects</a:t>
            </a:r>
            <a:endParaRPr lang="en-US" sz="1100" dirty="0"/>
          </a:p>
          <a:p>
            <a:pPr marL="0" indent="0">
              <a:buNone/>
            </a:pPr>
            <a:endParaRPr lang="en-US" sz="1100" dirty="0"/>
          </a:p>
          <a:p>
            <a:pPr marL="0" indent="0">
              <a:buNone/>
            </a:pPr>
            <a:r>
              <a:rPr lang="en-US" sz="1100" dirty="0">
                <a:solidFill>
                  <a:srgbClr val="44546A"/>
                </a:solidFill>
              </a:rPr>
              <a:t>Incumbents (Salesforce): Platform bias, can't be trustworthy governance layer</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5-Year Financial Trajectory</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828800"/>
        </p:xfrm>
        <a:graphic>
          <a:graphicData uri="http://schemas.openxmlformats.org/drawingml/2006/table">
            <a:tbl>
              <a:tblPr/>
              <a:tblGrid>
                <a:gridCol w="171907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365760">
                <a:tc>
                  <a:txBody>
                    <a:bodyPr/>
                    <a:lstStyle/>
                    <a:p>
                      <a:pPr marL="0" indent="0" algn="ctr">
                        <a:buNone/>
                      </a:pPr>
                      <a:r>
                        <a:rPr lang="en-US" sz="900" b="1" dirty="0">
                          <a:solidFill>
                            <a:srgbClr val="07253D"/>
                          </a:solidFill>
                        </a:rPr>
                        <a:t>Year</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900" b="1" dirty="0">
                          <a:solidFill>
                            <a:srgbClr val="07253D"/>
                          </a:solidFill>
                        </a:rPr>
                        <a:t>Free Users</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900" b="1" dirty="0">
                          <a:solidFill>
                            <a:srgbClr val="07253D"/>
                          </a:solidFill>
                        </a:rPr>
                        <a:t>Paying Customers</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900" b="1" dirty="0">
                          <a:solidFill>
                            <a:srgbClr val="07253D"/>
                          </a:solidFill>
                        </a:rPr>
                        <a:t>ARR</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900" b="1" dirty="0">
                          <a:solidFill>
                            <a:srgbClr val="07253D"/>
                          </a:solidFill>
                        </a:rPr>
                        <a:t>NDR</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365760">
                <a:tc>
                  <a:txBody>
                    <a:bodyPr/>
                    <a:lstStyle/>
                    <a:p>
                      <a:pPr marL="0" indent="0" algn="ctr">
                        <a:buNone/>
                      </a:pPr>
                      <a:r>
                        <a:rPr lang="en-US" sz="900" dirty="0">
                          <a:solidFill>
                            <a:srgbClr val="44546A"/>
                          </a:solidFill>
                        </a:rPr>
                        <a:t>Y1 (2026)</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50,000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500-1K</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$1-2M</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110-120%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900" dirty="0">
                          <a:solidFill>
                            <a:srgbClr val="44546A"/>
                          </a:solidFill>
                        </a:rPr>
                        <a:t>Y2 (2027)</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200,000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2.5-4K</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$5-10M</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130-150%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900" dirty="0">
                          <a:solidFill>
                            <a:srgbClr val="44546A"/>
                          </a:solidFill>
                        </a:rPr>
                        <a:t>Y3 (2028)</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500,000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7-10K</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$20-40M</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140-160%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900" dirty="0">
                          <a:solidFill>
                            <a:srgbClr val="44546A"/>
                          </a:solidFill>
                        </a:rPr>
                        <a:t>Y5 (2030)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2M+</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18-20K</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$100-150M</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900" dirty="0">
                          <a:solidFill>
                            <a:srgbClr val="44546A"/>
                          </a:solidFill>
                        </a:rPr>
                        <a:t>150-180%</a:t>
                      </a:r>
                      <a:endParaRPr lang="en-US" sz="9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57200" y="2926080"/>
            <a:ext cx="8229600" cy="365760"/>
          </a:xfrm>
          <a:prstGeom prst="rect">
            <a:avLst/>
          </a:prstGeom>
          <a:noFill/>
          <a:ln/>
        </p:spPr>
        <p:txBody>
          <a:bodyPr wrap="square" rtlCol="0" anchor="ctr"/>
          <a:lstStyle/>
          <a:p>
            <a:pPr marL="0" indent="0" algn="ctr">
              <a:buNone/>
            </a:pPr>
            <a:r>
              <a:rPr lang="en-US" sz="1000" b="1" dirty="0">
                <a:solidFill>
                  <a:srgbClr val="44546A"/>
                </a:solidFill>
              </a:rPr>
              <a:t>Key Driver: 2% freemium conversion + 130-180% NDR = exponential growth</a:t>
            </a:r>
            <a:endParaRPr lang="en-US" sz="1000" dirty="0"/>
          </a:p>
        </p:txBody>
      </p:sp>
      <p:sp>
        <p:nvSpPr>
          <p:cNvPr id="6" name="Text 3"/>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Unit Economics &amp; Path to Profitability</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371600"/>
        </p:xfrm>
        <a:graphic>
          <a:graphicData uri="http://schemas.openxmlformats.org/drawingml/2006/table">
            <a:tbl>
              <a:tblPr/>
              <a:tblGrid>
                <a:gridCol w="171907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342900">
                <a:tc>
                  <a:txBody>
                    <a:bodyPr/>
                    <a:lstStyle/>
                    <a:p>
                      <a:pPr marL="0" indent="0" algn="ctr">
                        <a:buNone/>
                      </a:pPr>
                      <a:r>
                        <a:rPr lang="en-US" sz="1000" b="1" dirty="0">
                          <a:solidFill>
                            <a:srgbClr val="07253D"/>
                          </a:solidFill>
                        </a:rPr>
                        <a:t>Segment</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1000" b="1" dirty="0">
                          <a:solidFill>
                            <a:srgbClr val="07253D"/>
                          </a:solidFill>
                        </a:rPr>
                        <a:t>LTV:CAC</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1000" b="1" dirty="0">
                          <a:solidFill>
                            <a:srgbClr val="07253D"/>
                          </a:solidFill>
                        </a:rPr>
                        <a:t>CAC Payback</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1000" b="1" dirty="0">
                          <a:solidFill>
                            <a:srgbClr val="07253D"/>
                          </a:solidFill>
                        </a:rPr>
                        <a:t>Gross Margin</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tc>
                  <a:txBody>
                    <a:bodyPr/>
                    <a:lstStyle/>
                    <a:p>
                      <a:pPr marL="0" indent="0" algn="ctr">
                        <a:buNone/>
                      </a:pPr>
                      <a:r>
                        <a:rPr lang="en-US" sz="1000" b="1" dirty="0">
                          <a:solidFill>
                            <a:srgbClr val="07253D"/>
                          </a:solidFill>
                        </a:rPr>
                        <a:t>NDR</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342900">
                <a:tc>
                  <a:txBody>
                    <a:bodyPr/>
                    <a:lstStyle/>
                    <a:p>
                      <a:pPr marL="0" indent="0" algn="ctr">
                        <a:buNone/>
                      </a:pPr>
                      <a:r>
                        <a:rPr lang="en-US" sz="1000" dirty="0">
                          <a:solidFill>
                            <a:srgbClr val="44546A"/>
                          </a:solidFill>
                        </a:rPr>
                        <a:t>SMB</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80-250:1</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1-2 mo</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80-85%</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110-120%</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lgn="ctr">
                        <a:buNone/>
                      </a:pPr>
                      <a:r>
                        <a:rPr lang="en-US" sz="1000" dirty="0">
                          <a:solidFill>
                            <a:srgbClr val="44546A"/>
                          </a:solidFill>
                        </a:rPr>
                        <a:t>Mid-Market</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100-300:1</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2-4 mo</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82-87%</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130-150%</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lgn="ctr">
                        <a:buNone/>
                      </a:pPr>
                      <a:r>
                        <a:rPr lang="en-US" sz="1000" dirty="0">
                          <a:solidFill>
                            <a:srgbClr val="44546A"/>
                          </a:solidFill>
                        </a:rPr>
                        <a:t>Enterprise</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100-400:1</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3-6 mo</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85-90%</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140-180%</a:t>
                      </a:r>
                      <a:endParaRPr lang="en-US" sz="1000" dirty="0"/>
                    </a:p>
                  </a:txBody>
                  <a:tcPr anchor="ctr">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E7E6E6"/>
                      </a:solidFill>
                      <a:prstDash val="solid"/>
                      <a:round/>
                      <a:headEnd type="none" w="med" len="med"/>
                      <a:tailEnd type="none" w="med" len="med"/>
                    </a:lnT>
                    <a:lnB w="1270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457200" y="2468880"/>
            <a:ext cx="8229600" cy="228600"/>
          </a:xfrm>
          <a:prstGeom prst="rect">
            <a:avLst/>
          </a:prstGeom>
          <a:noFill/>
          <a:ln/>
        </p:spPr>
        <p:txBody>
          <a:bodyPr wrap="square" rtlCol="0" anchor="ctr"/>
          <a:lstStyle/>
          <a:p>
            <a:pPr marL="0" indent="0">
              <a:buNone/>
            </a:pPr>
            <a:r>
              <a:rPr lang="en-US" sz="1400" b="1" dirty="0">
                <a:solidFill>
                  <a:srgbClr val="01A9DB"/>
                </a:solidFill>
              </a:rPr>
              <a:t>Profitability Timeline</a:t>
            </a:r>
            <a:endParaRPr lang="en-US" sz="1400" dirty="0"/>
          </a:p>
        </p:txBody>
      </p:sp>
      <p:sp>
        <p:nvSpPr>
          <p:cNvPr id="6" name="Text 3"/>
          <p:cNvSpPr/>
          <p:nvPr/>
        </p:nvSpPr>
        <p:spPr>
          <a:xfrm>
            <a:off x="640080" y="2743200"/>
            <a:ext cx="7863840" cy="731520"/>
          </a:xfrm>
          <a:prstGeom prst="rect">
            <a:avLst/>
          </a:prstGeom>
          <a:noFill/>
          <a:ln/>
        </p:spPr>
        <p:txBody>
          <a:bodyPr wrap="square" rtlCol="0" anchor="t"/>
          <a:lstStyle/>
          <a:p>
            <a:pPr marL="0" indent="0">
              <a:buNone/>
            </a:pPr>
            <a:r>
              <a:rPr lang="en-US" sz="1100" dirty="0">
                <a:solidFill>
                  <a:srgbClr val="44546A"/>
                </a:solidFill>
              </a:rPr>
              <a:t>Gross Margin: 80-85% from day 1 (software high margin)</a:t>
            </a:r>
            <a:endParaRPr lang="en-US" sz="1100" dirty="0"/>
          </a:p>
          <a:p>
            <a:pPr marL="0" indent="0">
              <a:buNone/>
            </a:pPr>
            <a:endParaRPr lang="en-US" sz="1100" dirty="0"/>
          </a:p>
          <a:p>
            <a:pPr marL="0" indent="0">
              <a:buNone/>
            </a:pPr>
            <a:r>
              <a:rPr lang="en-US" sz="1100" dirty="0">
                <a:solidFill>
                  <a:srgbClr val="44546A"/>
                </a:solidFill>
              </a:rPr>
              <a:t>EBITDA Positive: Year 2-3 (when growth moderates)</a:t>
            </a:r>
            <a:endParaRPr lang="en-US" sz="1100" dirty="0"/>
          </a:p>
          <a:p>
            <a:pPr marL="0" indent="0">
              <a:buNone/>
            </a:pPr>
            <a:endParaRPr lang="en-US" sz="1100" dirty="0"/>
          </a:p>
          <a:p>
            <a:pPr marL="0" indent="0">
              <a:buNone/>
            </a:pPr>
            <a:r>
              <a:rPr lang="en-US" sz="1100" dirty="0">
                <a:solidFill>
                  <a:srgbClr val="44546A"/>
                </a:solidFill>
              </a:rPr>
              <a:t>Path to $100M ARR: Year 5 (sustainable, cash-generative)</a:t>
            </a:r>
            <a:endParaRPr lang="en-US" sz="1100" dirty="0"/>
          </a:p>
        </p:txBody>
      </p:sp>
      <p:sp>
        <p:nvSpPr>
          <p:cNvPr id="7" name="Text 4"/>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Three-Phase Market Expansion</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300" b="1" dirty="0">
                <a:solidFill>
                  <a:srgbClr val="01A9DB"/>
                </a:solidFill>
              </a:rPr>
              <a:t>Phase 1: SMB Domination (Y1-2)</a:t>
            </a:r>
            <a:endParaRPr lang="en-US" sz="1300" dirty="0"/>
          </a:p>
        </p:txBody>
      </p:sp>
      <p:sp>
        <p:nvSpPr>
          <p:cNvPr id="5" name="Text 3"/>
          <p:cNvSpPr/>
          <p:nvPr/>
        </p:nvSpPr>
        <p:spPr>
          <a:xfrm>
            <a:off x="640080" y="1188720"/>
            <a:ext cx="7863840" cy="457200"/>
          </a:xfrm>
          <a:prstGeom prst="rect">
            <a:avLst/>
          </a:prstGeom>
          <a:noFill/>
          <a:ln/>
        </p:spPr>
        <p:txBody>
          <a:bodyPr wrap="square" rtlCol="0" anchor="ctr"/>
          <a:lstStyle/>
          <a:p>
            <a:pPr marL="0" indent="0">
              <a:buNone/>
            </a:pPr>
            <a:r>
              <a:rPr lang="en-US" sz="1100" dirty="0">
                <a:solidFill>
                  <a:srgbClr val="44546A"/>
                </a:solidFill>
              </a:rPr>
              <a:t>Beachhead: 150K SMB via Salesforce AppExchange</a:t>
            </a:r>
            <a:endParaRPr lang="en-US" sz="1100" dirty="0"/>
          </a:p>
          <a:p>
            <a:pPr marL="0" indent="0">
              <a:buNone/>
            </a:pPr>
            <a:r>
              <a:rPr lang="en-US" sz="1100" dirty="0">
                <a:solidFill>
                  <a:srgbClr val="44546A"/>
                </a:solidFill>
              </a:rPr>
              <a:t>Target: 50K free → 1K paying → $1-2M ARR</a:t>
            </a:r>
            <a:endParaRPr lang="en-US" sz="1100" dirty="0"/>
          </a:p>
        </p:txBody>
      </p:sp>
      <p:sp>
        <p:nvSpPr>
          <p:cNvPr id="6" name="Text 4"/>
          <p:cNvSpPr/>
          <p:nvPr/>
        </p:nvSpPr>
        <p:spPr>
          <a:xfrm>
            <a:off x="457200" y="1737360"/>
            <a:ext cx="8229600" cy="228600"/>
          </a:xfrm>
          <a:prstGeom prst="rect">
            <a:avLst/>
          </a:prstGeom>
          <a:noFill/>
          <a:ln/>
        </p:spPr>
        <p:txBody>
          <a:bodyPr wrap="square" rtlCol="0" anchor="ctr"/>
          <a:lstStyle/>
          <a:p>
            <a:pPr marL="0" indent="0">
              <a:buNone/>
            </a:pPr>
            <a:r>
              <a:rPr lang="en-US" sz="1300" b="1" dirty="0">
                <a:solidFill>
                  <a:srgbClr val="01A9DB"/>
                </a:solidFill>
              </a:rPr>
              <a:t>Phase 2: Mid-Market Expansion (Y2-3)</a:t>
            </a:r>
            <a:endParaRPr lang="en-US" sz="1300" dirty="0"/>
          </a:p>
        </p:txBody>
      </p:sp>
      <p:sp>
        <p:nvSpPr>
          <p:cNvPr id="7" name="Text 5"/>
          <p:cNvSpPr/>
          <p:nvPr/>
        </p:nvSpPr>
        <p:spPr>
          <a:xfrm>
            <a:off x="640080" y="2011680"/>
            <a:ext cx="7863840" cy="457200"/>
          </a:xfrm>
          <a:prstGeom prst="rect">
            <a:avLst/>
          </a:prstGeom>
          <a:noFill/>
          <a:ln/>
        </p:spPr>
        <p:txBody>
          <a:bodyPr wrap="square" rtlCol="0" anchor="ctr"/>
          <a:lstStyle/>
          <a:p>
            <a:pPr marL="0" indent="0">
              <a:buNone/>
            </a:pPr>
            <a:r>
              <a:rPr lang="en-US" sz="1100" dirty="0">
                <a:solidFill>
                  <a:srgbClr val="44546A"/>
                </a:solidFill>
              </a:rPr>
              <a:t>Leverage: 5K+ SMB proof points</a:t>
            </a:r>
            <a:endParaRPr lang="en-US" sz="1100" dirty="0"/>
          </a:p>
          <a:p>
            <a:pPr marL="0" indent="0">
              <a:buNone/>
            </a:pPr>
            <a:r>
              <a:rPr lang="en-US" sz="1100" dirty="0">
                <a:solidFill>
                  <a:srgbClr val="44546A"/>
                </a:solidFill>
              </a:rPr>
              <a:t>Target: 200K free → 4K paying → $5-10M ARR</a:t>
            </a:r>
            <a:endParaRPr lang="en-US" sz="1100" dirty="0"/>
          </a:p>
        </p:txBody>
      </p:sp>
      <p:sp>
        <p:nvSpPr>
          <p:cNvPr id="8" name="Text 6"/>
          <p:cNvSpPr/>
          <p:nvPr/>
        </p:nvSpPr>
        <p:spPr>
          <a:xfrm>
            <a:off x="457200" y="2560320"/>
            <a:ext cx="8229600" cy="228600"/>
          </a:xfrm>
          <a:prstGeom prst="rect">
            <a:avLst/>
          </a:prstGeom>
          <a:noFill/>
          <a:ln/>
        </p:spPr>
        <p:txBody>
          <a:bodyPr wrap="square" rtlCol="0" anchor="ctr"/>
          <a:lstStyle/>
          <a:p>
            <a:pPr marL="0" indent="0">
              <a:buNone/>
            </a:pPr>
            <a:r>
              <a:rPr lang="en-US" sz="1300" b="1" dirty="0">
                <a:solidFill>
                  <a:srgbClr val="01A9DB"/>
                </a:solidFill>
              </a:rPr>
              <a:t>Phase 3: Enterprise &amp; Vertical Expansion (Y3+)</a:t>
            </a:r>
            <a:endParaRPr lang="en-US" sz="1300" dirty="0"/>
          </a:p>
        </p:txBody>
      </p:sp>
      <p:sp>
        <p:nvSpPr>
          <p:cNvPr id="9" name="Text 7"/>
          <p:cNvSpPr/>
          <p:nvPr/>
        </p:nvSpPr>
        <p:spPr>
          <a:xfrm>
            <a:off x="640080" y="2834640"/>
            <a:ext cx="7863840" cy="640080"/>
          </a:xfrm>
          <a:prstGeom prst="rect">
            <a:avLst/>
          </a:prstGeom>
          <a:noFill/>
          <a:ln/>
        </p:spPr>
        <p:txBody>
          <a:bodyPr wrap="square" rtlCol="0" anchor="ctr"/>
          <a:lstStyle/>
          <a:p>
            <a:pPr marL="0" indent="0">
              <a:buNone/>
            </a:pPr>
            <a:r>
              <a:rPr lang="en-US" sz="1100" dirty="0">
                <a:solidFill>
                  <a:srgbClr val="44546A"/>
                </a:solidFill>
              </a:rPr>
              <a:t>Grassroots adoption + benchmarking</a:t>
            </a:r>
            <a:endParaRPr lang="en-US" sz="1100" dirty="0"/>
          </a:p>
          <a:p>
            <a:pPr marL="0" indent="0">
              <a:buNone/>
            </a:pPr>
            <a:r>
              <a:rPr lang="en-US" sz="1100" dirty="0">
                <a:solidFill>
                  <a:srgbClr val="44546A"/>
                </a:solidFill>
              </a:rPr>
              <a:t>Target: 500K+ free → 10K+ paying → $20-40M+ ARR</a:t>
            </a:r>
            <a:endParaRPr lang="en-US" sz="1100" dirty="0"/>
          </a:p>
          <a:p>
            <a:pPr marL="0" indent="0">
              <a:buNone/>
            </a:pPr>
            <a:r>
              <a:rPr lang="en-US" sz="1100" dirty="0">
                <a:solidFill>
                  <a:srgbClr val="44546A"/>
                </a:solidFill>
              </a:rPr>
              <a:t>Expand: Finance, IT, HR, Support operations</a:t>
            </a:r>
            <a:endParaRPr lang="en-US" sz="1100" dirty="0"/>
          </a:p>
        </p:txBody>
      </p:sp>
      <p:sp>
        <p:nvSpPr>
          <p:cNvPr id="10" name="Text 8"/>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Expansion &amp; Retention Strategy</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01A9DB"/>
                </a:solidFill>
              </a:rPr>
              <a:t>Expansion Revenue Levers</a:t>
            </a:r>
            <a:endParaRPr lang="en-US" sz="1400" dirty="0"/>
          </a:p>
        </p:txBody>
      </p:sp>
      <p:sp>
        <p:nvSpPr>
          <p:cNvPr id="5" name="Text 3"/>
          <p:cNvSpPr/>
          <p:nvPr/>
        </p:nvSpPr>
        <p:spPr>
          <a:xfrm>
            <a:off x="640080" y="1234440"/>
            <a:ext cx="7863840" cy="914400"/>
          </a:xfrm>
          <a:prstGeom prst="rect">
            <a:avLst/>
          </a:prstGeom>
          <a:noFill/>
          <a:ln/>
        </p:spPr>
        <p:txBody>
          <a:bodyPr wrap="square" rtlCol="0" anchor="t"/>
          <a:lstStyle/>
          <a:p>
            <a:pPr marL="0" indent="0">
              <a:buNone/>
            </a:pPr>
            <a:r>
              <a:rPr lang="en-US" sz="1100" dirty="0">
                <a:solidFill>
                  <a:srgbClr val="44546A"/>
                </a:solidFill>
              </a:rPr>
              <a:t>Explore → Mine: 60% conversion (baseline understanding)</a:t>
            </a:r>
            <a:endParaRPr lang="en-US" sz="1100" dirty="0"/>
          </a:p>
          <a:p>
            <a:pPr marL="0" indent="0">
              <a:buNone/>
            </a:pPr>
            <a:endParaRPr lang="en-US" sz="1100" dirty="0"/>
          </a:p>
          <a:p>
            <a:pPr marL="0" indent="0">
              <a:buNone/>
            </a:pPr>
            <a:r>
              <a:rPr lang="en-US" sz="1100" dirty="0">
                <a:solidFill>
                  <a:srgbClr val="44546A"/>
                </a:solidFill>
              </a:rPr>
              <a:t>Mine → Design: 40% conversion (roadmap needed)</a:t>
            </a:r>
            <a:endParaRPr lang="en-US" sz="1100" dirty="0"/>
          </a:p>
          <a:p>
            <a:pPr marL="0" indent="0">
              <a:buNone/>
            </a:pPr>
            <a:endParaRPr lang="en-US" sz="1100" dirty="0"/>
          </a:p>
          <a:p>
            <a:pPr marL="0" indent="0">
              <a:buNone/>
            </a:pPr>
            <a:r>
              <a:rPr lang="en-US" sz="1100" dirty="0">
                <a:solidFill>
                  <a:srgbClr val="44546A"/>
                </a:solidFill>
              </a:rPr>
              <a:t>Design → Manage: 50% conversion (governance required)</a:t>
            </a:r>
            <a:endParaRPr lang="en-US" sz="1100" dirty="0"/>
          </a:p>
          <a:p>
            <a:pPr marL="0" indent="0">
              <a:buNone/>
            </a:pPr>
            <a:endParaRPr lang="en-US" sz="1100" dirty="0"/>
          </a:p>
          <a:p>
            <a:pPr marL="0" indent="0">
              <a:buNone/>
            </a:pPr>
            <a:r>
              <a:rPr lang="en-US" sz="1100" dirty="0">
                <a:solidFill>
                  <a:srgbClr val="44546A"/>
                </a:solidFill>
              </a:rPr>
              <a:t>Cross-team adoption: Finance, Operations, HR teams</a:t>
            </a:r>
            <a:endParaRPr lang="en-US" sz="1100" dirty="0"/>
          </a:p>
        </p:txBody>
      </p:sp>
      <p:sp>
        <p:nvSpPr>
          <p:cNvPr id="6" name="Text 4"/>
          <p:cNvSpPr/>
          <p:nvPr/>
        </p:nvSpPr>
        <p:spPr>
          <a:xfrm>
            <a:off x="457200" y="2240280"/>
            <a:ext cx="8229600" cy="228600"/>
          </a:xfrm>
          <a:prstGeom prst="rect">
            <a:avLst/>
          </a:prstGeom>
          <a:noFill/>
          <a:ln/>
        </p:spPr>
        <p:txBody>
          <a:bodyPr wrap="square" rtlCol="0" anchor="ctr"/>
          <a:lstStyle/>
          <a:p>
            <a:pPr marL="0" indent="0">
              <a:buNone/>
            </a:pPr>
            <a:r>
              <a:rPr lang="en-US" sz="1400" b="1" dirty="0">
                <a:solidFill>
                  <a:srgbClr val="01A9DB"/>
                </a:solidFill>
              </a:rPr>
              <a:t>Network Effects &amp; Retention</a:t>
            </a:r>
            <a:endParaRPr lang="en-US" sz="1400" dirty="0"/>
          </a:p>
        </p:txBody>
      </p:sp>
      <p:sp>
        <p:nvSpPr>
          <p:cNvPr id="7" name="Text 5"/>
          <p:cNvSpPr/>
          <p:nvPr/>
        </p:nvSpPr>
        <p:spPr>
          <a:xfrm>
            <a:off x="640080" y="2560320"/>
            <a:ext cx="7863840" cy="822960"/>
          </a:xfrm>
          <a:prstGeom prst="rect">
            <a:avLst/>
          </a:prstGeom>
          <a:noFill/>
          <a:ln/>
        </p:spPr>
        <p:txBody>
          <a:bodyPr wrap="square" rtlCol="0" anchor="t"/>
          <a:lstStyle/>
          <a:p>
            <a:pPr marL="0" indent="0">
              <a:buNone/>
            </a:pPr>
            <a:r>
              <a:rPr lang="en-US" sz="1100" dirty="0">
                <a:solidFill>
                  <a:srgbClr val="44546A"/>
                </a:solidFill>
              </a:rPr>
              <a:t>Peer benchmarking: 130-180% NDR driven by expansion revenue</a:t>
            </a:r>
            <a:endParaRPr lang="en-US" sz="1100" dirty="0"/>
          </a:p>
          <a:p>
            <a:pPr marL="0" indent="0">
              <a:buNone/>
            </a:pPr>
            <a:endParaRPr lang="en-US" sz="1100" dirty="0"/>
          </a:p>
          <a:p>
            <a:pPr marL="0" indent="0">
              <a:buNone/>
            </a:pPr>
            <a:r>
              <a:rPr lang="en-US" sz="1100" dirty="0">
                <a:solidFill>
                  <a:srgbClr val="44546A"/>
                </a:solidFill>
              </a:rPr>
              <a:t>Fleet learning: Every customer makes product smarter (network effects)</a:t>
            </a:r>
            <a:endParaRPr lang="en-US" sz="1100" dirty="0"/>
          </a:p>
          <a:p>
            <a:pPr marL="0" indent="0">
              <a:buNone/>
            </a:pPr>
            <a:endParaRPr lang="en-US" sz="1100" dirty="0"/>
          </a:p>
          <a:p>
            <a:pPr marL="0" indent="0">
              <a:buNone/>
            </a:pPr>
            <a:r>
              <a:rPr lang="en-US" sz="1100" dirty="0">
                <a:solidFill>
                  <a:srgbClr val="44546A"/>
                </a:solidFill>
              </a:rPr>
              <a:t>Viral coefficient: Industry benchmarks incentivize sharing (NPS 50+ target)</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Traction &amp; Early Validation</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FB4100"/>
                </a:solidFill>
              </a:rPr>
              <a:t>Product Status</a:t>
            </a:r>
            <a:endParaRPr lang="en-US" sz="1400" dirty="0"/>
          </a:p>
        </p:txBody>
      </p:sp>
      <p:sp>
        <p:nvSpPr>
          <p:cNvPr id="5" name="Text 3"/>
          <p:cNvSpPr/>
          <p:nvPr/>
        </p:nvSpPr>
        <p:spPr>
          <a:xfrm>
            <a:off x="640080" y="1188720"/>
            <a:ext cx="7863840" cy="548640"/>
          </a:xfrm>
          <a:prstGeom prst="rect">
            <a:avLst/>
          </a:prstGeom>
          <a:noFill/>
          <a:ln/>
        </p:spPr>
        <p:txBody>
          <a:bodyPr wrap="square" rtlCol="0" anchor="ctr"/>
          <a:lstStyle/>
          <a:p>
            <a:pPr marL="0" indent="0">
              <a:buNone/>
            </a:pPr>
            <a:r>
              <a:rPr lang="en-US" sz="1100" dirty="0">
                <a:solidFill>
                  <a:srgbClr val="44546A"/>
                </a:solidFill>
              </a:rPr>
              <a:t>[To fill in]: MVP status, beta users, pilot customers</a:t>
            </a:r>
            <a:endParaRPr lang="en-US" sz="1100" dirty="0"/>
          </a:p>
          <a:p>
            <a:pPr marL="0" indent="0">
              <a:buNone/>
            </a:pPr>
            <a:r>
              <a:rPr lang="en-US" sz="1100" dirty="0">
                <a:solidFill>
                  <a:srgbClr val="44546A"/>
                </a:solidFill>
              </a:rPr>
              <a:t>[To fill in]: User signups or waitlist size</a:t>
            </a:r>
            <a:endParaRPr lang="en-US" sz="1100" dirty="0"/>
          </a:p>
        </p:txBody>
      </p:sp>
      <p:sp>
        <p:nvSpPr>
          <p:cNvPr id="6" name="Text 4"/>
          <p:cNvSpPr/>
          <p:nvPr/>
        </p:nvSpPr>
        <p:spPr>
          <a:xfrm>
            <a:off x="457200" y="1828800"/>
            <a:ext cx="8229600" cy="228600"/>
          </a:xfrm>
          <a:prstGeom prst="rect">
            <a:avLst/>
          </a:prstGeom>
          <a:noFill/>
          <a:ln/>
        </p:spPr>
        <p:txBody>
          <a:bodyPr wrap="square" rtlCol="0" anchor="ctr"/>
          <a:lstStyle/>
          <a:p>
            <a:pPr marL="0" indent="0">
              <a:buNone/>
            </a:pPr>
            <a:r>
              <a:rPr lang="en-US" sz="1400" b="1" dirty="0">
                <a:solidFill>
                  <a:srgbClr val="01A9DB"/>
                </a:solidFill>
              </a:rPr>
              <a:t>Triple Validation Framework</a:t>
            </a:r>
            <a:endParaRPr lang="en-US" sz="1400" dirty="0"/>
          </a:p>
        </p:txBody>
      </p:sp>
      <p:sp>
        <p:nvSpPr>
          <p:cNvPr id="7" name="Text 5"/>
          <p:cNvSpPr/>
          <p:nvPr/>
        </p:nvSpPr>
        <p:spPr>
          <a:xfrm>
            <a:off x="640080" y="2148840"/>
            <a:ext cx="7863840" cy="731520"/>
          </a:xfrm>
          <a:prstGeom prst="rect">
            <a:avLst/>
          </a:prstGeom>
          <a:noFill/>
          <a:ln/>
        </p:spPr>
        <p:txBody>
          <a:bodyPr wrap="square" rtlCol="0" anchor="t"/>
          <a:lstStyle/>
          <a:p>
            <a:pPr marL="0" indent="0">
              <a:buNone/>
            </a:pPr>
            <a:r>
              <a:rPr lang="en-US" sz="1100" dirty="0">
                <a:solidFill>
                  <a:srgbClr val="44546A"/>
                </a:solidFill>
              </a:rPr>
              <a:t>Customer Conversations: Service leaders report urgent need for governance</a:t>
            </a:r>
            <a:endParaRPr lang="en-US" sz="1100" dirty="0"/>
          </a:p>
          <a:p>
            <a:pPr marL="0" indent="0">
              <a:buNone/>
            </a:pPr>
            <a:endParaRPr lang="en-US" sz="1100" dirty="0"/>
          </a:p>
          <a:p>
            <a:pPr marL="0" indent="0">
              <a:buNone/>
            </a:pPr>
            <a:r>
              <a:rPr lang="en-US" sz="1100" dirty="0">
                <a:solidFill>
                  <a:srgbClr val="44546A"/>
                </a:solidFill>
              </a:rPr>
              <a:t>Our Own Products: MAX, Claude Code show teams hitting constraints daily</a:t>
            </a:r>
            <a:endParaRPr lang="en-US" sz="1100" dirty="0"/>
          </a:p>
          <a:p>
            <a:pPr marL="0" indent="0">
              <a:buNone/>
            </a:pPr>
            <a:endParaRPr lang="en-US" sz="1100" dirty="0"/>
          </a:p>
          <a:p>
            <a:pPr marL="0" indent="0">
              <a:buNone/>
            </a:pPr>
            <a:r>
              <a:rPr lang="en-US" sz="1100" dirty="0">
                <a:solidFill>
                  <a:srgbClr val="44546A"/>
                </a:solidFill>
              </a:rPr>
              <a:t>Market Validation: Ed Sim, Gartner, Forrester publishing same thesis</a:t>
            </a:r>
            <a:endParaRPr lang="en-US" sz="1100" dirty="0"/>
          </a:p>
        </p:txBody>
      </p:sp>
      <p:sp>
        <p:nvSpPr>
          <p:cNvPr id="8" name="Text 6"/>
          <p:cNvSpPr/>
          <p:nvPr/>
        </p:nvSpPr>
        <p:spPr>
          <a:xfrm>
            <a:off x="457200" y="2971800"/>
            <a:ext cx="8229600" cy="228600"/>
          </a:xfrm>
          <a:prstGeom prst="rect">
            <a:avLst/>
          </a:prstGeom>
          <a:noFill/>
          <a:ln/>
        </p:spPr>
        <p:txBody>
          <a:bodyPr wrap="square" rtlCol="0" anchor="ctr"/>
          <a:lstStyle/>
          <a:p>
            <a:pPr marL="0" indent="0">
              <a:buNone/>
            </a:pPr>
            <a:r>
              <a:rPr lang="en-US" sz="1400" b="1" dirty="0">
                <a:solidFill>
                  <a:srgbClr val="01A9DB"/>
                </a:solidFill>
              </a:rPr>
              <a:t>Product Demonstration</a:t>
            </a:r>
            <a:endParaRPr lang="en-US" sz="1400" dirty="0"/>
          </a:p>
        </p:txBody>
      </p:sp>
      <p:sp>
        <p:nvSpPr>
          <p:cNvPr id="9" name="Text 7"/>
          <p:cNvSpPr/>
          <p:nvPr/>
        </p:nvSpPr>
        <p:spPr>
          <a:xfrm>
            <a:off x="640080" y="3246120"/>
            <a:ext cx="7863840" cy="457200"/>
          </a:xfrm>
          <a:prstGeom prst="rect">
            <a:avLst/>
          </a:prstGeom>
          <a:noFill/>
          <a:ln/>
        </p:spPr>
        <p:txBody>
          <a:bodyPr wrap="square" rtlCol="0" anchor="ctr"/>
          <a:lstStyle/>
          <a:p>
            <a:pPr marL="0" indent="0">
              <a:buNone/>
            </a:pPr>
            <a:r>
              <a:rPr lang="en-US" sz="1100" dirty="0">
                <a:solidFill>
                  <a:srgbClr val="44546A"/>
                </a:solidFill>
              </a:rPr>
              <a:t>Radar UI Prototype: Interactive visualization of real-time decision patterns (Mine module)</a:t>
            </a:r>
            <a:endParaRPr lang="en-US" sz="1100" dirty="0"/>
          </a:p>
        </p:txBody>
      </p:sp>
      <p:sp>
        <p:nvSpPr>
          <p:cNvPr id="10" name="Text 8"/>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Product Roadmap</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300" b="1" dirty="0">
                <a:solidFill>
                  <a:srgbClr val="01A9DB"/>
                </a:solidFill>
              </a:rPr>
              <a:t>Q1 2026 (Current Release)</a:t>
            </a:r>
            <a:endParaRPr lang="en-US" sz="1300" dirty="0"/>
          </a:p>
        </p:txBody>
      </p:sp>
      <p:sp>
        <p:nvSpPr>
          <p:cNvPr id="5" name="Text 3"/>
          <p:cNvSpPr/>
          <p:nvPr/>
        </p:nvSpPr>
        <p:spPr>
          <a:xfrm>
            <a:off x="640080" y="1188720"/>
            <a:ext cx="7863840" cy="274320"/>
          </a:xfrm>
          <a:prstGeom prst="rect">
            <a:avLst/>
          </a:prstGeom>
          <a:noFill/>
          <a:ln/>
        </p:spPr>
        <p:txBody>
          <a:bodyPr wrap="square" rtlCol="0" anchor="ctr"/>
          <a:lstStyle/>
          <a:p>
            <a:pPr marL="0" indent="0">
              <a:buNone/>
            </a:pPr>
            <a:r>
              <a:rPr lang="en-US" sz="1100" dirty="0">
                <a:solidFill>
                  <a:srgbClr val="44546A"/>
                </a:solidFill>
              </a:rPr>
              <a:t>[To fill in]: MVP feature set and current capabilities shipped</a:t>
            </a:r>
            <a:endParaRPr lang="en-US" sz="1100" dirty="0"/>
          </a:p>
        </p:txBody>
      </p:sp>
      <p:sp>
        <p:nvSpPr>
          <p:cNvPr id="6" name="Text 4"/>
          <p:cNvSpPr/>
          <p:nvPr/>
        </p:nvSpPr>
        <p:spPr>
          <a:xfrm>
            <a:off x="457200" y="1554480"/>
            <a:ext cx="8229600" cy="228600"/>
          </a:xfrm>
          <a:prstGeom prst="rect">
            <a:avLst/>
          </a:prstGeom>
          <a:noFill/>
          <a:ln/>
        </p:spPr>
        <p:txBody>
          <a:bodyPr wrap="square" rtlCol="0" anchor="ctr"/>
          <a:lstStyle/>
          <a:p>
            <a:pPr marL="0" indent="0">
              <a:buNone/>
            </a:pPr>
            <a:r>
              <a:rPr lang="en-US" sz="1300" b="1" dirty="0">
                <a:solidFill>
                  <a:srgbClr val="01A9DB"/>
                </a:solidFill>
              </a:rPr>
              <a:t>Q2-Q3 2026 (Near-Term)</a:t>
            </a:r>
            <a:endParaRPr lang="en-US" sz="1300" dirty="0"/>
          </a:p>
        </p:txBody>
      </p:sp>
      <p:sp>
        <p:nvSpPr>
          <p:cNvPr id="7" name="Text 5"/>
          <p:cNvSpPr/>
          <p:nvPr/>
        </p:nvSpPr>
        <p:spPr>
          <a:xfrm>
            <a:off x="640080" y="1828800"/>
            <a:ext cx="7863840" cy="274320"/>
          </a:xfrm>
          <a:prstGeom prst="rect">
            <a:avLst/>
          </a:prstGeom>
          <a:noFill/>
          <a:ln/>
        </p:spPr>
        <p:txBody>
          <a:bodyPr wrap="square" rtlCol="0" anchor="ctr"/>
          <a:lstStyle/>
          <a:p>
            <a:pPr marL="0" indent="0">
              <a:buNone/>
            </a:pPr>
            <a:r>
              <a:rPr lang="en-US" sz="1100" dirty="0">
                <a:solidFill>
                  <a:srgbClr val="44546A"/>
                </a:solidFill>
              </a:rPr>
              <a:t>[To fill in]: Key features and customer feedback integration</a:t>
            </a:r>
            <a:endParaRPr lang="en-US" sz="1100" dirty="0"/>
          </a:p>
        </p:txBody>
      </p:sp>
      <p:sp>
        <p:nvSpPr>
          <p:cNvPr id="8" name="Text 6"/>
          <p:cNvSpPr/>
          <p:nvPr/>
        </p:nvSpPr>
        <p:spPr>
          <a:xfrm>
            <a:off x="457200" y="2194560"/>
            <a:ext cx="8229600" cy="228600"/>
          </a:xfrm>
          <a:prstGeom prst="rect">
            <a:avLst/>
          </a:prstGeom>
          <a:noFill/>
          <a:ln/>
        </p:spPr>
        <p:txBody>
          <a:bodyPr wrap="square" rtlCol="0" anchor="ctr"/>
          <a:lstStyle/>
          <a:p>
            <a:pPr marL="0" indent="0">
              <a:buNone/>
            </a:pPr>
            <a:r>
              <a:rPr lang="en-US" sz="1300" b="1" dirty="0">
                <a:solidFill>
                  <a:srgbClr val="01A9DB"/>
                </a:solidFill>
              </a:rPr>
              <a:t>Q4 2026 - Q2 2027 (Mid-Term)</a:t>
            </a:r>
            <a:endParaRPr lang="en-US" sz="1300" dirty="0"/>
          </a:p>
        </p:txBody>
      </p:sp>
      <p:sp>
        <p:nvSpPr>
          <p:cNvPr id="9" name="Text 7"/>
          <p:cNvSpPr/>
          <p:nvPr/>
        </p:nvSpPr>
        <p:spPr>
          <a:xfrm>
            <a:off x="640080" y="2468880"/>
            <a:ext cx="7863840" cy="274320"/>
          </a:xfrm>
          <a:prstGeom prst="rect">
            <a:avLst/>
          </a:prstGeom>
          <a:noFill/>
          <a:ln/>
        </p:spPr>
        <p:txBody>
          <a:bodyPr wrap="square" rtlCol="0" anchor="ctr"/>
          <a:lstStyle/>
          <a:p>
            <a:pPr marL="0" indent="0">
              <a:buNone/>
            </a:pPr>
            <a:r>
              <a:rPr lang="en-US" sz="1100" dirty="0">
                <a:solidFill>
                  <a:srgbClr val="44546A"/>
                </a:solidFill>
              </a:rPr>
              <a:t>[To fill in]: New module capabilities and vertical specialization</a:t>
            </a:r>
            <a:endParaRPr lang="en-US" sz="1100" dirty="0"/>
          </a:p>
        </p:txBody>
      </p:sp>
      <p:sp>
        <p:nvSpPr>
          <p:cNvPr id="10" name="Text 8"/>
          <p:cNvSpPr/>
          <p:nvPr/>
        </p:nvSpPr>
        <p:spPr>
          <a:xfrm>
            <a:off x="457200" y="2834640"/>
            <a:ext cx="8229600" cy="228600"/>
          </a:xfrm>
          <a:prstGeom prst="rect">
            <a:avLst/>
          </a:prstGeom>
          <a:noFill/>
          <a:ln/>
        </p:spPr>
        <p:txBody>
          <a:bodyPr wrap="square" rtlCol="0" anchor="ctr"/>
          <a:lstStyle/>
          <a:p>
            <a:pPr marL="0" indent="0">
              <a:buNone/>
            </a:pPr>
            <a:r>
              <a:rPr lang="en-US" sz="1300" b="1" dirty="0">
                <a:solidFill>
                  <a:srgbClr val="01A9DB"/>
                </a:solidFill>
              </a:rPr>
              <a:t>2027+ (Long-Term)</a:t>
            </a:r>
            <a:endParaRPr lang="en-US" sz="1300" dirty="0"/>
          </a:p>
        </p:txBody>
      </p:sp>
      <p:sp>
        <p:nvSpPr>
          <p:cNvPr id="11" name="Text 9"/>
          <p:cNvSpPr/>
          <p:nvPr/>
        </p:nvSpPr>
        <p:spPr>
          <a:xfrm>
            <a:off x="640080" y="3108960"/>
            <a:ext cx="7863840" cy="274320"/>
          </a:xfrm>
          <a:prstGeom prst="rect">
            <a:avLst/>
          </a:prstGeom>
          <a:noFill/>
          <a:ln/>
        </p:spPr>
        <p:txBody>
          <a:bodyPr wrap="square" rtlCol="0" anchor="ctr"/>
          <a:lstStyle/>
          <a:p>
            <a:pPr marL="0" indent="0">
              <a:buNone/>
            </a:pPr>
            <a:r>
              <a:rPr lang="en-US" sz="1100" dirty="0">
                <a:solidFill>
                  <a:srgbClr val="44546A"/>
                </a:solidFill>
              </a:rPr>
              <a:t>[To fill in]: Enterprise features and expansion to adjacent verticals</a:t>
            </a:r>
            <a:endParaRPr lang="en-US" sz="1100" dirty="0"/>
          </a:p>
        </p:txBody>
      </p:sp>
      <p:sp>
        <p:nvSpPr>
          <p:cNvPr id="12" name="Text 10"/>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07253D"/>
                </a:solidFill>
              </a:rPr>
              <a:t>Helm by Synaptic</a:t>
            </a:r>
            <a:endParaRPr lang="en-US" sz="1200" dirty="0"/>
          </a:p>
        </p:txBody>
      </p:sp>
      <p:sp>
        <p:nvSpPr>
          <p:cNvPr id="3" name="Text 1"/>
          <p:cNvSpPr/>
          <p:nvPr/>
        </p:nvSpPr>
        <p:spPr>
          <a:xfrm>
            <a:off x="457200" y="457200"/>
            <a:ext cx="8229600" cy="365760"/>
          </a:xfrm>
          <a:prstGeom prst="rect">
            <a:avLst/>
          </a:prstGeom>
          <a:noFill/>
          <a:ln/>
        </p:spPr>
        <p:txBody>
          <a:bodyPr wrap="square" rtlCol="0" anchor="ctr"/>
          <a:lstStyle/>
          <a:p>
            <a:pPr marL="0" indent="0">
              <a:buNone/>
            </a:pPr>
            <a:r>
              <a:rPr lang="en-US" sz="2800" b="1" dirty="0">
                <a:solidFill>
                  <a:srgbClr val="07253D"/>
                </a:solidFill>
              </a:rPr>
              <a:t>The Ask</a:t>
            </a:r>
            <a:endParaRPr lang="en-US" sz="2800" dirty="0"/>
          </a:p>
        </p:txBody>
      </p:sp>
      <p:sp>
        <p:nvSpPr>
          <p:cNvPr id="4" name="Text 2"/>
          <p:cNvSpPr/>
          <p:nvPr/>
        </p:nvSpPr>
        <p:spPr>
          <a:xfrm>
            <a:off x="457200" y="914400"/>
            <a:ext cx="8229600" cy="228600"/>
          </a:xfrm>
          <a:prstGeom prst="rect">
            <a:avLst/>
          </a:prstGeom>
          <a:noFill/>
          <a:ln/>
        </p:spPr>
        <p:txBody>
          <a:bodyPr wrap="square" rtlCol="0" anchor="ctr"/>
          <a:lstStyle/>
          <a:p>
            <a:pPr marL="0" indent="0">
              <a:buNone/>
            </a:pPr>
            <a:r>
              <a:rPr lang="en-US" sz="1400" b="1" dirty="0">
                <a:solidFill>
                  <a:srgbClr val="FB4100"/>
                </a:solidFill>
              </a:rPr>
              <a:t>Funding Request</a:t>
            </a:r>
            <a:endParaRPr lang="en-US" sz="1400" dirty="0"/>
          </a:p>
        </p:txBody>
      </p:sp>
      <p:sp>
        <p:nvSpPr>
          <p:cNvPr id="5" name="Text 3"/>
          <p:cNvSpPr/>
          <p:nvPr/>
        </p:nvSpPr>
        <p:spPr>
          <a:xfrm>
            <a:off x="640080" y="1188720"/>
            <a:ext cx="7863840" cy="457200"/>
          </a:xfrm>
          <a:prstGeom prst="rect">
            <a:avLst/>
          </a:prstGeom>
          <a:noFill/>
          <a:ln/>
        </p:spPr>
        <p:txBody>
          <a:bodyPr wrap="square" rtlCol="0" anchor="ctr"/>
          <a:lstStyle/>
          <a:p>
            <a:pPr marL="0" indent="0">
              <a:buNone/>
            </a:pPr>
            <a:r>
              <a:rPr lang="en-US" sz="1100" dirty="0">
                <a:solidFill>
                  <a:srgbClr val="44546A"/>
                </a:solidFill>
              </a:rPr>
              <a:t>[To fill in]: Amount sought</a:t>
            </a:r>
            <a:endParaRPr lang="en-US" sz="1100" dirty="0"/>
          </a:p>
          <a:p>
            <a:pPr marL="0" indent="0">
              <a:buNone/>
            </a:pPr>
            <a:r>
              <a:rPr lang="en-US" sz="1100" dirty="0">
                <a:solidFill>
                  <a:srgbClr val="44546A"/>
                </a:solidFill>
              </a:rPr>
              <a:t>[To fill in]: Round structure (SAFE, priced, etc.)</a:t>
            </a:r>
            <a:endParaRPr lang="en-US" sz="1100" dirty="0"/>
          </a:p>
        </p:txBody>
      </p:sp>
      <p:sp>
        <p:nvSpPr>
          <p:cNvPr id="6" name="Text 4"/>
          <p:cNvSpPr/>
          <p:nvPr/>
        </p:nvSpPr>
        <p:spPr>
          <a:xfrm>
            <a:off x="457200" y="1737360"/>
            <a:ext cx="8229600" cy="228600"/>
          </a:xfrm>
          <a:prstGeom prst="rect">
            <a:avLst/>
          </a:prstGeom>
          <a:noFill/>
          <a:ln/>
        </p:spPr>
        <p:txBody>
          <a:bodyPr wrap="square" rtlCol="0" anchor="ctr"/>
          <a:lstStyle/>
          <a:p>
            <a:pPr marL="0" indent="0">
              <a:buNone/>
            </a:pPr>
            <a:r>
              <a:rPr lang="en-US" sz="1400" b="1" dirty="0">
                <a:solidFill>
                  <a:srgbClr val="01A9DB"/>
                </a:solidFill>
              </a:rPr>
              <a:t>Use of Funds</a:t>
            </a:r>
            <a:endParaRPr lang="en-US" sz="1400" dirty="0"/>
          </a:p>
        </p:txBody>
      </p:sp>
      <p:sp>
        <p:nvSpPr>
          <p:cNvPr id="7" name="Text 5"/>
          <p:cNvSpPr/>
          <p:nvPr/>
        </p:nvSpPr>
        <p:spPr>
          <a:xfrm>
            <a:off x="640080" y="2011680"/>
            <a:ext cx="7863840" cy="548640"/>
          </a:xfrm>
          <a:prstGeom prst="rect">
            <a:avLst/>
          </a:prstGeom>
          <a:noFill/>
          <a:ln/>
        </p:spPr>
        <p:txBody>
          <a:bodyPr wrap="square" rtlCol="0" anchor="ctr"/>
          <a:lstStyle/>
          <a:p>
            <a:pPr marL="0" indent="0">
              <a:buNone/>
            </a:pPr>
            <a:r>
              <a:rPr lang="en-US" sz="1100" dirty="0">
                <a:solidFill>
                  <a:srgbClr val="44546A"/>
                </a:solidFill>
              </a:rPr>
              <a:t>Engineering/Product: [To fill in: %]</a:t>
            </a:r>
            <a:endParaRPr lang="en-US" sz="1100" dirty="0"/>
          </a:p>
          <a:p>
            <a:pPr marL="0" indent="0">
              <a:buNone/>
            </a:pPr>
            <a:r>
              <a:rPr lang="en-US" sz="1100" dirty="0">
                <a:solidFill>
                  <a:srgbClr val="44546A"/>
                </a:solidFill>
              </a:rPr>
              <a:t>Sales &amp; Marketing: [To fill in: %]</a:t>
            </a:r>
            <a:endParaRPr lang="en-US" sz="1100" dirty="0"/>
          </a:p>
          <a:p>
            <a:pPr marL="0" indent="0">
              <a:buNone/>
            </a:pPr>
            <a:r>
              <a:rPr lang="en-US" sz="1100" dirty="0">
                <a:solidFill>
                  <a:srgbClr val="44546A"/>
                </a:solidFill>
              </a:rPr>
              <a:t>Operations: [To fill in: %]</a:t>
            </a:r>
            <a:endParaRPr lang="en-US" sz="1100" dirty="0"/>
          </a:p>
        </p:txBody>
      </p:sp>
      <p:sp>
        <p:nvSpPr>
          <p:cNvPr id="8" name="Text 6"/>
          <p:cNvSpPr/>
          <p:nvPr/>
        </p:nvSpPr>
        <p:spPr>
          <a:xfrm>
            <a:off x="457200" y="2651760"/>
            <a:ext cx="8229600" cy="228600"/>
          </a:xfrm>
          <a:prstGeom prst="rect">
            <a:avLst/>
          </a:prstGeom>
          <a:noFill/>
          <a:ln/>
        </p:spPr>
        <p:txBody>
          <a:bodyPr wrap="square" rtlCol="0" anchor="ctr"/>
          <a:lstStyle/>
          <a:p>
            <a:pPr marL="0" indent="0">
              <a:buNone/>
            </a:pPr>
            <a:r>
              <a:rPr lang="en-US" sz="1400" b="1" dirty="0">
                <a:solidFill>
                  <a:srgbClr val="01A9DB"/>
                </a:solidFill>
              </a:rPr>
              <a:t>Key Milestones</a:t>
            </a:r>
            <a:endParaRPr lang="en-US" sz="1400" dirty="0"/>
          </a:p>
        </p:txBody>
      </p:sp>
      <p:sp>
        <p:nvSpPr>
          <p:cNvPr id="9" name="Text 7"/>
          <p:cNvSpPr/>
          <p:nvPr/>
        </p:nvSpPr>
        <p:spPr>
          <a:xfrm>
            <a:off x="640080" y="2926080"/>
            <a:ext cx="7863840" cy="274320"/>
          </a:xfrm>
          <a:prstGeom prst="rect">
            <a:avLst/>
          </a:prstGeom>
          <a:noFill/>
          <a:ln/>
        </p:spPr>
        <p:txBody>
          <a:bodyPr wrap="square" rtlCol="0" anchor="ctr"/>
          <a:lstStyle/>
          <a:p>
            <a:pPr marL="0" indent="0">
              <a:buNone/>
            </a:pPr>
            <a:r>
              <a:rPr lang="en-US" sz="1100" dirty="0">
                <a:solidFill>
                  <a:srgbClr val="44546A"/>
                </a:solidFill>
              </a:rPr>
              <a:t>[To fill in]: 3-4 major objectives and targets</a:t>
            </a:r>
            <a:endParaRPr lang="en-US" sz="1100" dirty="0"/>
          </a:p>
        </p:txBody>
      </p:sp>
      <p:sp>
        <p:nvSpPr>
          <p:cNvPr id="10" name="Text 8"/>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253D"/>
        </a:solidFill>
        <a:effectLst/>
      </p:bgPr>
    </p:bg>
    <p:spTree>
      <p:nvGrpSpPr>
        <p:cNvPr id="1" name=""/>
        <p:cNvGrpSpPr/>
        <p:nvPr/>
      </p:nvGrpSpPr>
      <p:grpSpPr>
        <a:xfrm>
          <a:off x="0" y="0"/>
          <a:ext cx="0" cy="0"/>
          <a:chOff x="0" y="0"/>
          <a:chExt cx="0" cy="0"/>
        </a:xfrm>
      </p:grpSpPr>
      <p:sp>
        <p:nvSpPr>
          <p:cNvPr id="2" name="Shape 0"/>
          <p:cNvSpPr/>
          <p:nvPr/>
        </p:nvSpPr>
        <p:spPr>
          <a:xfrm rot="2700000">
            <a:off x="4572000" y="0"/>
            <a:ext cx="4572000" cy="5143500"/>
          </a:xfrm>
          <a:prstGeom prst="rect">
            <a:avLst/>
          </a:prstGeom>
          <a:solidFill>
            <a:srgbClr val="01A9DB"/>
          </a:solidFill>
          <a:ln/>
        </p:spPr>
        <p:txBody>
          <a:bodyPr/>
          <a:lstStyle/>
          <a:p>
            <a:endParaRPr lang="en-US"/>
          </a:p>
        </p:txBody>
      </p:sp>
      <p:sp>
        <p:nvSpPr>
          <p:cNvPr id="3" name="Text 1"/>
          <p:cNvSpPr/>
          <p:nvPr/>
        </p:nvSpPr>
        <p:spPr>
          <a:xfrm>
            <a:off x="182880" y="182880"/>
            <a:ext cx="1371600" cy="274320"/>
          </a:xfrm>
          <a:prstGeom prst="rect">
            <a:avLst/>
          </a:prstGeom>
          <a:noFill/>
          <a:ln/>
        </p:spPr>
        <p:txBody>
          <a:bodyPr wrap="square" rtlCol="0" anchor="ctr"/>
          <a:lstStyle/>
          <a:p>
            <a:pPr marL="0" indent="0">
              <a:buNone/>
            </a:pPr>
            <a:r>
              <a:rPr lang="en-US" sz="1200" b="1" dirty="0">
                <a:solidFill>
                  <a:srgbClr val="FFFFFF"/>
                </a:solidFill>
              </a:rPr>
              <a:t>Helm by Synaptic</a:t>
            </a:r>
            <a:endParaRPr lang="en-US" sz="1200" dirty="0"/>
          </a:p>
        </p:txBody>
      </p:sp>
      <p:sp>
        <p:nvSpPr>
          <p:cNvPr id="4" name="Text 2"/>
          <p:cNvSpPr/>
          <p:nvPr/>
        </p:nvSpPr>
        <p:spPr>
          <a:xfrm>
            <a:off x="457200" y="1188720"/>
            <a:ext cx="8229600" cy="548640"/>
          </a:xfrm>
          <a:prstGeom prst="rect">
            <a:avLst/>
          </a:prstGeom>
          <a:noFill/>
          <a:ln/>
        </p:spPr>
        <p:txBody>
          <a:bodyPr wrap="square" rtlCol="0" anchor="ctr"/>
          <a:lstStyle/>
          <a:p>
            <a:pPr marL="0" indent="0" algn="ctr">
              <a:buNone/>
            </a:pPr>
            <a:r>
              <a:rPr lang="en-US" sz="4000" b="1" dirty="0">
                <a:solidFill>
                  <a:srgbClr val="FFFFFF"/>
                </a:solidFill>
              </a:rPr>
              <a:t>Building the Future of Agent Governance</a:t>
            </a:r>
            <a:endParaRPr lang="en-US" sz="4000" dirty="0"/>
          </a:p>
        </p:txBody>
      </p:sp>
      <p:sp>
        <p:nvSpPr>
          <p:cNvPr id="7" name="Text 5"/>
          <p:cNvSpPr/>
          <p:nvPr/>
        </p:nvSpPr>
        <p:spPr>
          <a:xfrm>
            <a:off x="640080" y="3200400"/>
            <a:ext cx="7863840" cy="640080"/>
          </a:xfrm>
          <a:prstGeom prst="rect">
            <a:avLst/>
          </a:prstGeom>
          <a:noFill/>
          <a:ln/>
        </p:spPr>
        <p:txBody>
          <a:bodyPr wrap="square" rtlCol="0" anchor="ctr"/>
          <a:lstStyle/>
          <a:p>
            <a:pPr marL="0" indent="0" algn="ctr">
              <a:buNone/>
            </a:pPr>
            <a:r>
              <a:rPr lang="en-US" sz="1100" dirty="0">
                <a:solidFill>
                  <a:srgbClr val="FFFFFF"/>
                </a:solidFill>
              </a:rPr>
              <a:t>40% of enterprise apps getting agents by end of 2026</a:t>
            </a:r>
            <a:endParaRPr lang="en-US" sz="1100" dirty="0"/>
          </a:p>
          <a:p>
            <a:pPr marL="0" indent="0" algn="ctr">
              <a:buNone/>
            </a:pPr>
            <a:r>
              <a:rPr lang="en-US" sz="1100" dirty="0">
                <a:solidFill>
                  <a:srgbClr val="FFFFFF"/>
                </a:solidFill>
              </a:rPr>
              <a:t>Market need for governance infrastructure is acute and urgent</a:t>
            </a:r>
            <a:endParaRPr lang="en-US" sz="1100" dirty="0"/>
          </a:p>
          <a:p>
            <a:pPr marL="0" indent="0" algn="ctr">
              <a:buNone/>
            </a:pPr>
            <a:r>
              <a:rPr lang="en-US" sz="1100" dirty="0">
                <a:solidFill>
                  <a:srgbClr val="FFFFFF"/>
                </a:solidFill>
              </a:rPr>
              <a:t>Category crystallizing as essential infrastructure</a:t>
            </a:r>
            <a:endParaRPr lang="en-US" sz="1100" dirty="0"/>
          </a:p>
        </p:txBody>
      </p:sp>
      <p:sp>
        <p:nvSpPr>
          <p:cNvPr id="8" name="Text 6"/>
          <p:cNvSpPr/>
          <p:nvPr/>
        </p:nvSpPr>
        <p:spPr>
          <a:xfrm>
            <a:off x="8412480" y="4846320"/>
            <a:ext cx="548640" cy="228600"/>
          </a:xfrm>
          <a:prstGeom prst="rect">
            <a:avLst/>
          </a:prstGeom>
          <a:noFill/>
          <a:ln/>
        </p:spPr>
        <p:txBody>
          <a:bodyPr wrap="square" rtlCol="0" anchor="ctr"/>
          <a:lstStyle/>
          <a:p>
            <a:pPr marL="0" indent="0" algn="r">
              <a:buNone/>
            </a:pPr>
            <a:r>
              <a:rPr lang="en-US" sz="1000" dirty="0">
                <a:solidFill>
                  <a:srgbClr val="44546A"/>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4800" y="228600"/>
            <a:ext cx="50232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HELM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304800" y="434280"/>
            <a:ext cx="50232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by Synaptic</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70395" y="1023938"/>
            <a:ext cx="7403211" cy="502890"/>
          </a:xfrm>
          <a:prstGeom prst="rect">
            <a:avLst/>
          </a:prstGeom>
          <a:noFill/>
          <a:ln/>
        </p:spPr>
        <p:txBody>
          <a:bodyPr wrap="square" lIns="0" tIns="0" rIns="0" bIns="0" rtlCol="0" anchor="t"/>
          <a:lstStyle/>
          <a:p>
            <a:pPr marL="0" marR="0" lvl="0" indent="0" algn="ctr" defTabSz="914400" rtl="0" eaLnBrk="1" fontAlgn="auto" latinLnBrk="0" hangingPunct="1">
              <a:lnSpc>
                <a:spcPts val="3960"/>
              </a:lnSpc>
              <a:spcBef>
                <a:spcPts val="0"/>
              </a:spcBef>
              <a:spcAft>
                <a:spcPts val="180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Executive Agent for Service Leaders</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80110" y="1907828"/>
            <a:ext cx="7383780" cy="514350"/>
          </a:xfrm>
          <a:prstGeom prst="rect">
            <a:avLst/>
          </a:prstGeom>
          <a:noFill/>
          <a:ln/>
        </p:spPr>
        <p:txBody>
          <a:bodyPr wrap="square" lIns="0" tIns="0" rIns="0" bIns="0" rtlCol="0" anchor="t"/>
          <a:lstStyle/>
          <a:p>
            <a:pPr marL="0" marR="0" lvl="0" indent="0" algn="ctr" defTabSz="914400" rtl="0" eaLnBrk="1" fontAlgn="auto" latinLnBrk="0" hangingPunct="1">
              <a:lnSpc>
                <a:spcPts val="2025"/>
              </a:lnSpc>
              <a:spcBef>
                <a:spcPts val="0"/>
              </a:spcBef>
              <a:spcAft>
                <a:spcPts val="3600"/>
              </a:spcAft>
              <a:buClrTx/>
              <a:buSzTx/>
              <a:buFontTx/>
              <a:buNone/>
              <a:tabLst/>
              <a:defRPr/>
            </a:pPr>
            <a:r>
              <a:rPr kumimoji="0" lang="en-US" sz="1350" b="0"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Give service leaders the insight and control they need to evolve their operations with confidence and impact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619500" y="3031778"/>
            <a:ext cx="1905000" cy="28575"/>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26489" y="3517553"/>
            <a:ext cx="1490874" cy="200025"/>
          </a:xfrm>
          <a:prstGeom prst="rect">
            <a:avLst/>
          </a:prstGeom>
          <a:noFill/>
          <a:ln/>
        </p:spPr>
        <p:txBody>
          <a:bodyPr wrap="square" lIns="0" tIns="0" rIns="0" bIns="0" rtlCol="0" anchor="t"/>
          <a:lstStyle/>
          <a:p>
            <a:pPr marL="0" marR="0" lvl="0" indent="0" algn="ctr" defTabSz="914400" rtl="0" eaLnBrk="1" fontAlgn="auto" latinLnBrk="0" hangingPunct="1">
              <a:lnSpc>
                <a:spcPts val="1575"/>
              </a:lnSpc>
              <a:spcBef>
                <a:spcPts val="0"/>
              </a:spcBef>
              <a:spcAft>
                <a:spcPts val="600"/>
              </a:spcAft>
              <a:buClrTx/>
              <a:buSzTx/>
              <a:buFontTx/>
              <a:buNone/>
              <a:tabLst/>
              <a:defRPr/>
            </a:pPr>
            <a:r>
              <a:rPr kumimoji="0" lang="en-US" sz="11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Seed Extension Round</a:t>
            </a:r>
            <a:endParaRPr kumimoji="0" lang="en-US" sz="11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189300" y="3946178"/>
            <a:ext cx="765399" cy="173236"/>
          </a:xfrm>
          <a:prstGeom prst="rect">
            <a:avLst/>
          </a:prstGeom>
          <a:noFill/>
          <a:ln/>
        </p:spPr>
        <p:txBody>
          <a:bodyPr wrap="square" lIns="0" tIns="0" rIns="0" bIns="0" rtlCol="0" anchor="t"/>
          <a:lstStyle/>
          <a:p>
            <a:pPr marL="0" marR="0" lvl="0" indent="0" algn="ctr" defTabSz="914400" rtl="0" eaLnBrk="1" fontAlgn="auto" latinLnBrk="0" hangingPunct="1">
              <a:lnSpc>
                <a:spcPts val="1365"/>
              </a:lnSpc>
              <a:spcBef>
                <a:spcPts val="0"/>
              </a:spcBef>
              <a:spcAft>
                <a:spcPts val="0"/>
              </a:spcAft>
              <a:buClrTx/>
              <a:buSzTx/>
              <a:buFontTx/>
              <a:buNone/>
              <a:tabLst/>
              <a:defRPr/>
            </a:pPr>
            <a:r>
              <a:rPr kumimoji="0" lang="en-US" sz="975" b="0"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January 2026</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The AI Agent Explosion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2030760"/>
            <a:ext cx="3707374"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Market Inflection Point (2026)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1000" y="2484090"/>
            <a:ext cx="3634680" cy="139065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Gartner:</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40% of enterprise apps will feature task-specific AI agents by end of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Microsoft/Stanford HAI:</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Shift from "AI evangelism" to "pragmatic AI evaluation" in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Industry consensus:</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Agent adoption moving from pilots to production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320480" y="2135535"/>
            <a:ext cx="453137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Why Customer Service First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320480" y="2588865"/>
            <a:ext cx="4442520" cy="118110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158,000</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total addressable companies (150K SMB + 8K enterprise)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Highest ROI AI use case: cost per contact, CSAT improvement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Salesforce Service Cloud:</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70K+ customers, $9B revenue (~$125K ACV)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33% of deployments failing due to lack of governance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2</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The AI Deployment Crisis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973610"/>
            <a:ext cx="4023271" cy="1958280"/>
          </a:xfrm>
          <a:prstGeom prst="roundRect">
            <a:avLst>
              <a:gd name="adj" fmla="val 2918"/>
            </a:avLst>
          </a:prstGeom>
          <a:solidFill>
            <a:srgbClr val="FEF3F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00050" y="1973610"/>
            <a:ext cx="0" cy="1958280"/>
          </a:xfrm>
          <a:prstGeom prst="line">
            <a:avLst/>
          </a:prstGeom>
          <a:noFill/>
          <a:ln w="38100">
            <a:solidFill>
              <a:srgbClr val="FB41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71500" y="2126010"/>
            <a:ext cx="3753978"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FB4100"/>
                </a:solidFill>
                <a:effectLst/>
                <a:uLnTx/>
                <a:uFillTx/>
                <a:latin typeface="Arial" pitchFamily="34" charset="0"/>
                <a:ea typeface="Arial" pitchFamily="34" charset="-122"/>
                <a:cs typeface="Arial" pitchFamily="34" charset="-120"/>
              </a:rPr>
              <a:t>The Problem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2426940"/>
            <a:ext cx="3680371" cy="135255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33% of service AI deployments fail</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due to lack of decision context and governance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Companies mistake "deploying an agent" for "managing decisions"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No audit trail for compliance and transparency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FB4100"/>
                </a:solidFill>
                <a:effectLst/>
                <a:uLnTx/>
                <a:uFillTx/>
                <a:latin typeface="Arial" pitchFamily="34" charset="0"/>
                <a:ea typeface="Arial" pitchFamily="34" charset="-122"/>
                <a:cs typeface="Arial" pitchFamily="34" charset="-120"/>
              </a:rPr>
              <a:t>95% of AI pilots deliver zero ROI</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709071" y="2126010"/>
            <a:ext cx="4023271" cy="1653480"/>
          </a:xfrm>
          <a:prstGeom prst="roundRect">
            <a:avLst>
              <a:gd name="adj" fmla="val 3456"/>
            </a:avLst>
          </a:prstGeom>
          <a:solidFill>
            <a:srgbClr val="F0F9FC"/>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728121" y="2126010"/>
            <a:ext cx="0" cy="1653480"/>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899571" y="2278410"/>
            <a:ext cx="3753978"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Why This Matters Now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899571" y="2579340"/>
            <a:ext cx="3680371" cy="104775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EU AI Act</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fully applicable August 2,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60% of Fortune 100</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will appoint Chief AI Officer in 2026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Regulatory pressure forces "meaningful human review" of AI decisions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3</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5771007"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Market Evolution &amp; Emerging Category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2202210"/>
            <a:ext cx="411937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Category Crystallization (2026)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1000" y="2655540"/>
            <a:ext cx="4038600" cy="104775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Gartner:</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Decision Intelligence is #1 trend in 2026 Hype Cycle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Forrester:</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Agent Control Planes becoming essential governance layer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VCs/Foundation Capital:</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Context Graphs and "Execution Intelligence Layer" as key infrastructure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724400" y="1765102"/>
            <a:ext cx="411937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TAM Expansion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724400" y="2218432"/>
            <a:ext cx="4038600" cy="57150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Base TAM: </a:t>
            </a: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158,000 companies</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deploying customer service AI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750"/>
              </a:spcAft>
              <a:buClrTx/>
              <a:buSzPct val="100000"/>
              <a:buFontTx/>
              <a:buChar char="•"/>
              <a:tabLst/>
              <a:defRPr/>
            </a:pP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40% agent adoption by 2026 = billions in software transformation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724400" y="3132832"/>
            <a:ext cx="4038600" cy="1007566"/>
          </a:xfrm>
          <a:prstGeom prst="roundRect">
            <a:avLst>
              <a:gd name="adj" fmla="val 5672"/>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876800" y="3285232"/>
            <a:ext cx="3808476"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Revenue TAM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876800" y="3483322"/>
            <a:ext cx="3808476"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$2-3B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876800" y="3841403"/>
            <a:ext cx="3808476"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30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Annual market opportunity for decision intelligence in CS alone</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4</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Helm's Unique Approach</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691878"/>
            <a:ext cx="854964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What Helm Does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1000" y="2030909"/>
            <a:ext cx="2692450" cy="856952"/>
          </a:xfrm>
          <a:prstGeom prst="roundRect">
            <a:avLst>
              <a:gd name="adj" fmla="val 6669"/>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14350" y="2164259"/>
            <a:ext cx="2474265" cy="239911"/>
          </a:xfrm>
          <a:prstGeom prst="rect">
            <a:avLst/>
          </a:prstGeom>
          <a:noFill/>
          <a:ln/>
        </p:spPr>
        <p:txBody>
          <a:bodyPr wrap="square" lIns="0" tIns="0" rIns="0" bIns="0" rtlCol="0" anchor="t"/>
          <a:lstStyle/>
          <a:p>
            <a:pPr marL="0" marR="0" lvl="0" indent="0" algn="l" defTabSz="914400" rtl="0" eaLnBrk="1" fontAlgn="auto" latinLnBrk="0" hangingPunct="1">
              <a:lnSpc>
                <a:spcPts val="1890"/>
              </a:lnSpc>
              <a:spcBef>
                <a:spcPts val="0"/>
              </a:spcBef>
              <a:spcAft>
                <a:spcPts val="450"/>
              </a:spcAft>
              <a:buClrTx/>
              <a:buSzTx/>
              <a:buFontTx/>
              <a:buNone/>
              <a:tabLst/>
              <a:defRPr/>
            </a:pPr>
            <a:r>
              <a:rPr kumimoji="0" lang="en-US" sz="13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Mine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14350" y="2461320"/>
            <a:ext cx="2474265"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Captures how decisions are made across your customer service operation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225850" y="2030909"/>
            <a:ext cx="2692450" cy="856952"/>
          </a:xfrm>
          <a:prstGeom prst="roundRect">
            <a:avLst>
              <a:gd name="adj" fmla="val 6669"/>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359200" y="2164259"/>
            <a:ext cx="2474265" cy="239911"/>
          </a:xfrm>
          <a:prstGeom prst="rect">
            <a:avLst/>
          </a:prstGeom>
          <a:noFill/>
          <a:ln/>
        </p:spPr>
        <p:txBody>
          <a:bodyPr wrap="square" lIns="0" tIns="0" rIns="0" bIns="0" rtlCol="0" anchor="t"/>
          <a:lstStyle/>
          <a:p>
            <a:pPr marL="0" marR="0" lvl="0" indent="0" algn="l" defTabSz="914400" rtl="0" eaLnBrk="1" fontAlgn="auto" latinLnBrk="0" hangingPunct="1">
              <a:lnSpc>
                <a:spcPts val="1890"/>
              </a:lnSpc>
              <a:spcBef>
                <a:spcPts val="0"/>
              </a:spcBef>
              <a:spcAft>
                <a:spcPts val="450"/>
              </a:spcAft>
              <a:buClrTx/>
              <a:buSzTx/>
              <a:buFontTx/>
              <a:buNone/>
              <a:tabLst/>
              <a:defRPr/>
            </a:pPr>
            <a:r>
              <a:rPr kumimoji="0" lang="en-US" sz="13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Design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359200" y="2461320"/>
            <a:ext cx="2474265"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Helps you design better processes and agent workflows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070699" y="2030909"/>
            <a:ext cx="2692450" cy="856952"/>
          </a:xfrm>
          <a:prstGeom prst="roundRect">
            <a:avLst>
              <a:gd name="adj" fmla="val 6669"/>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204049" y="2164259"/>
            <a:ext cx="2474265" cy="239911"/>
          </a:xfrm>
          <a:prstGeom prst="rect">
            <a:avLst/>
          </a:prstGeom>
          <a:noFill/>
          <a:ln/>
        </p:spPr>
        <p:txBody>
          <a:bodyPr wrap="square" lIns="0" tIns="0" rIns="0" bIns="0" rtlCol="0" anchor="t"/>
          <a:lstStyle/>
          <a:p>
            <a:pPr marL="0" marR="0" lvl="0" indent="0" algn="l" defTabSz="914400" rtl="0" eaLnBrk="1" fontAlgn="auto" latinLnBrk="0" hangingPunct="1">
              <a:lnSpc>
                <a:spcPts val="1890"/>
              </a:lnSpc>
              <a:spcBef>
                <a:spcPts val="0"/>
              </a:spcBef>
              <a:spcAft>
                <a:spcPts val="450"/>
              </a:spcAft>
              <a:buClrTx/>
              <a:buSzTx/>
              <a:buFontTx/>
              <a:buNone/>
              <a:tabLst/>
              <a:defRPr/>
            </a:pPr>
            <a:r>
              <a:rPr kumimoji="0" lang="en-US" sz="13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Manage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204049" y="2461320"/>
            <a:ext cx="2474265"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Continuously monitors and improves with governance guardrails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81000" y="3116461"/>
            <a:ext cx="854964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600"/>
              </a:spcBef>
              <a:spcAft>
                <a:spcPts val="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Key Differentiators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81000" y="3455491"/>
            <a:ext cx="1981200" cy="719882"/>
          </a:xfrm>
          <a:prstGeom prst="roundRect">
            <a:avLst>
              <a:gd name="adj" fmla="val 793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395288" y="3455491"/>
            <a:ext cx="0" cy="719882"/>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523875" y="3569791"/>
            <a:ext cx="1758506"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Executive-Friendly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23875" y="3767882"/>
            <a:ext cx="1758506"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Natural language interface, no technical training required</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514600" y="3455491"/>
            <a:ext cx="1981200" cy="719882"/>
          </a:xfrm>
          <a:prstGeom prst="roundRect">
            <a:avLst>
              <a:gd name="adj" fmla="val 793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2528888" y="3455491"/>
            <a:ext cx="0" cy="719882"/>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2657475" y="3569791"/>
            <a:ext cx="1758506"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Fast Time-to-Value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2657475" y="3767882"/>
            <a:ext cx="1758506"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Start free, get insights immediately (Mine in days, not months)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48200" y="3455491"/>
            <a:ext cx="1981200" cy="719882"/>
          </a:xfrm>
          <a:prstGeom prst="roundRect">
            <a:avLst>
              <a:gd name="adj" fmla="val 793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662488" y="3455491"/>
            <a:ext cx="0" cy="719882"/>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791075" y="3569791"/>
            <a:ext cx="1758506"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AI-Native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791075" y="3767882"/>
            <a:ext cx="1758506"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Continuously learns and improves from usage patterns and outcomes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781800" y="3455491"/>
            <a:ext cx="1981200" cy="719882"/>
          </a:xfrm>
          <a:prstGeom prst="roundRect">
            <a:avLst>
              <a:gd name="adj" fmla="val 793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796088" y="3455491"/>
            <a:ext cx="0" cy="719882"/>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924675" y="3569791"/>
            <a:ext cx="1758506"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Platform Independent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924675" y="3767882"/>
            <a:ext cx="1758506"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Works across Salesforce, Zendesk, and any CS system</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5</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516864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Four-Module Monetization Journey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4551164"/>
            <a:ext cx="8382000" cy="401836"/>
          </a:xfrm>
          <a:prstGeom prst="roundRect">
            <a:avLst>
              <a:gd name="adj" fmla="val 14222"/>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91490" y="4665464"/>
            <a:ext cx="8161020" cy="173236"/>
          </a:xfrm>
          <a:prstGeom prst="rect">
            <a:avLst/>
          </a:prstGeom>
          <a:noFill/>
          <a:ln/>
        </p:spPr>
        <p:txBody>
          <a:bodyPr wrap="square" lIns="0" tIns="0" rIns="0" bIns="0" rtlCol="0" anchor="t"/>
          <a:lstStyle/>
          <a:p>
            <a:pPr marL="0" marR="0" lvl="0" indent="0" algn="ctr" defTabSz="914400" rtl="0" eaLnBrk="1" fontAlgn="auto" latinLnBrk="0" hangingPunct="1">
              <a:lnSpc>
                <a:spcPts val="1365"/>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Result:</a:t>
            </a:r>
            <a:r>
              <a:rPr kumimoji="0" lang="en-US" sz="97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2% freemium conversion → 50K+ free users → </a:t>
            </a:r>
            <a:r>
              <a:rPr kumimoji="0" lang="en-US" sz="97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$1-2M Y1 ARR</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6</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9" name="Table 0"/>
          <p:cNvGraphicFramePr>
            <a:graphicFrameLocks noGrp="1"/>
          </p:cNvGraphicFramePr>
          <p:nvPr/>
        </p:nvGraphicFramePr>
        <p:xfrm>
          <a:off x="381000" y="914400"/>
          <a:ext cx="8382000" cy="3370064"/>
        </p:xfrm>
        <a:graphic>
          <a:graphicData uri="http://schemas.openxmlformats.org/drawingml/2006/table">
            <a:tbl>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11480">
                <a:tc>
                  <a:txBody>
                    <a:bodyPr/>
                    <a:lstStyle/>
                    <a:p>
                      <a:pPr marL="0" indent="0" algn="l">
                        <a:buNone/>
                      </a:pPr>
                      <a:r>
                        <a:rPr lang="en-US" sz="1100" b="1" dirty="0">
                          <a:solidFill>
                            <a:srgbClr val="FFFFFF"/>
                          </a:solidFill>
                        </a:rPr>
                        <a:t>Module</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l">
                        <a:buNone/>
                      </a:pPr>
                      <a:r>
                        <a:rPr lang="en-US" sz="1100" b="1" dirty="0">
                          <a:solidFill>
                            <a:srgbClr val="FFFFFF"/>
                          </a:solidFill>
                        </a:rPr>
                        <a:t>Purpose</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l">
                        <a:buNone/>
                      </a:pPr>
                      <a:r>
                        <a:rPr lang="en-US" sz="1100" b="1" dirty="0">
                          <a:solidFill>
                            <a:srgbClr val="FFFFFF"/>
                          </a:solidFill>
                        </a:rPr>
                        <a:t>Price</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l">
                        <a:buNone/>
                      </a:pPr>
                      <a:r>
                        <a:rPr lang="en-US" sz="1100" b="1" dirty="0">
                          <a:solidFill>
                            <a:srgbClr val="FFFFFF"/>
                          </a:solidFill>
                        </a:rPr>
                        <a:t>Users</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01A9DB"/>
                          </a:solidFill>
                        </a:rPr>
                        <a:t>Explore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Build user base, education</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b="1" dirty="0">
                          <a:solidFill>
                            <a:srgbClr val="07253D"/>
                          </a:solidFill>
                        </a:rPr>
                        <a:t>Free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Individual Contributors</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01A9DB"/>
                          </a:solidFill>
                        </a:rPr>
                        <a:t>Mine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Baseline understanding, quick wins</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b="1" dirty="0">
                          <a:solidFill>
                            <a:srgbClr val="07253D"/>
                          </a:solidFill>
                        </a:rPr>
                        <a:t>$10K-$50K</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Directors, VPs</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01A9DB"/>
                          </a:solidFill>
                        </a:rPr>
                        <a:t>Design</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AI-readiness plan, roadmap</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b="1" dirty="0">
                          <a:solidFill>
                            <a:srgbClr val="07253D"/>
                          </a:solidFill>
                        </a:rPr>
                        <a:t>$25K-$100K</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VPs, C-Suite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01A9DB"/>
                          </a:solidFill>
                        </a:rPr>
                        <a:t>Manage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Continuous improvement, governance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b="1" dirty="0">
                          <a:solidFill>
                            <a:srgbClr val="07253D"/>
                          </a:solidFill>
                        </a:rPr>
                        <a:t>$500-$50K/mo</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l">
                        <a:buNone/>
                      </a:pPr>
                      <a:r>
                        <a:rPr lang="en-US" sz="1000" dirty="0">
                          <a:solidFill>
                            <a:srgbClr val="44546A"/>
                          </a:solidFill>
                        </a:rPr>
                        <a:t>C-Suite, Operations</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The Unfair Advantage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788170"/>
            <a:ext cx="4574027" cy="173236"/>
          </a:xfrm>
          <a:prstGeom prst="rect">
            <a:avLst/>
          </a:prstGeom>
          <a:noFill/>
          <a:ln/>
        </p:spPr>
        <p:txBody>
          <a:bodyPr wrap="square" lIns="0" tIns="0" rIns="0" bIns="0" rtlCol="0" anchor="t"/>
          <a:lstStyle/>
          <a:p>
            <a:pPr marL="0" marR="0" lvl="0" indent="0" algn="l" defTabSz="914400" rtl="0" eaLnBrk="1" fontAlgn="auto" latinLnBrk="0" hangingPunct="1">
              <a:lnSpc>
                <a:spcPts val="1365"/>
              </a:lnSpc>
              <a:spcBef>
                <a:spcPts val="0"/>
              </a:spcBef>
              <a:spcAft>
                <a:spcPts val="750"/>
              </a:spcAft>
              <a:buClrTx/>
              <a:buSzTx/>
              <a:buFontTx/>
              <a:buNone/>
              <a:tabLst/>
              <a:defRPr/>
            </a:pPr>
            <a:r>
              <a:rPr kumimoji="0" lang="en-US" sz="97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Four Interconnected Advantages</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1000" y="2209056"/>
            <a:ext cx="4484340" cy="483691"/>
          </a:xfrm>
          <a:prstGeom prst="roundRect">
            <a:avLst>
              <a:gd name="adj" fmla="val 7877"/>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95288" y="2209056"/>
            <a:ext cx="0" cy="483691"/>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3875" y="2304306"/>
            <a:ext cx="4311709"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1. AI-Native Architecture:</a:t>
            </a:r>
            <a:r>
              <a:rPr kumimoji="0" lang="en-US" sz="82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Every component AI-driven = simplified deployment + experiences competitors can't match</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81000" y="2768947"/>
            <a:ext cx="4484340" cy="483691"/>
          </a:xfrm>
          <a:prstGeom prst="roundRect">
            <a:avLst>
              <a:gd name="adj" fmla="val 7877"/>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95288" y="2768947"/>
            <a:ext cx="0" cy="483691"/>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23875" y="2864197"/>
            <a:ext cx="4311709"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2. Platform Independence:</a:t>
            </a:r>
            <a:r>
              <a:rPr kumimoji="0" lang="en-US" sz="82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Multi-platform aware, vendor-neutral position (customers maintain optionality)</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81000" y="3328839"/>
            <a:ext cx="4484340" cy="337096"/>
          </a:xfrm>
          <a:prstGeom prst="roundRect">
            <a:avLst>
              <a:gd name="adj" fmla="val 11302"/>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95288" y="3328839"/>
            <a:ext cx="0" cy="337096"/>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23875" y="3424089"/>
            <a:ext cx="4311709"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3. Data Network Effects:</a:t>
            </a:r>
            <a:r>
              <a:rPr kumimoji="0" lang="en-US" sz="82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Fleet learning + peer benchmarks = true network effects moat</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81000" y="3742134"/>
            <a:ext cx="4484340" cy="337096"/>
          </a:xfrm>
          <a:prstGeom prst="roundRect">
            <a:avLst>
              <a:gd name="adj" fmla="val 11302"/>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395288" y="3742134"/>
            <a:ext cx="0" cy="337096"/>
          </a:xfrm>
          <a:prstGeom prst="line">
            <a:avLst/>
          </a:prstGeom>
          <a:noFill/>
          <a:ln w="28575">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23875" y="3837384"/>
            <a:ext cx="4311709"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4. First-Mover Advantage:</a:t>
            </a:r>
            <a:r>
              <a:rPr kumimoji="0" lang="en-US" sz="82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Own "Executive Agent" category (12-18 month window)</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093940" y="2152799"/>
            <a:ext cx="3669060" cy="1561654"/>
          </a:xfrm>
          <a:prstGeom prst="roundRect">
            <a:avLst>
              <a:gd name="adj" fmla="val 3660"/>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246340" y="2305199"/>
            <a:ext cx="3431545" cy="173236"/>
          </a:xfrm>
          <a:prstGeom prst="rect">
            <a:avLst/>
          </a:prstGeom>
          <a:noFill/>
          <a:ln/>
        </p:spPr>
        <p:txBody>
          <a:bodyPr wrap="square" lIns="0" tIns="0" rIns="0" bIns="0" rtlCol="0" anchor="t"/>
          <a:lstStyle/>
          <a:p>
            <a:pPr marL="0" marR="0" lvl="0" indent="0" algn="l" defTabSz="914400" rtl="0" eaLnBrk="1" fontAlgn="auto" latinLnBrk="0" hangingPunct="1">
              <a:lnSpc>
                <a:spcPts val="1365"/>
              </a:lnSpc>
              <a:spcBef>
                <a:spcPts val="0"/>
              </a:spcBef>
              <a:spcAft>
                <a:spcPts val="900"/>
              </a:spcAft>
              <a:buClrTx/>
              <a:buSzTx/>
              <a:buFontTx/>
              <a:buNone/>
              <a:tabLst/>
              <a:defRPr/>
            </a:pPr>
            <a:r>
              <a:rPr kumimoji="0" lang="en-US" sz="975" b="1" i="0" u="none" strike="noStrike" kern="1200" cap="none" spc="0" normalizeH="0" baseline="0" noProof="0" dirty="0">
                <a:ln>
                  <a:noFill/>
                </a:ln>
                <a:solidFill>
                  <a:srgbClr val="FB4100"/>
                </a:solidFill>
                <a:effectLst/>
                <a:uLnTx/>
                <a:uFillTx/>
                <a:latin typeface="Arial" pitchFamily="34" charset="0"/>
                <a:ea typeface="Arial" pitchFamily="34" charset="-122"/>
                <a:cs typeface="Arial" pitchFamily="34" charset="-120"/>
              </a:rPr>
              <a:t>Why Competitors Can't Match</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246340" y="2592735"/>
            <a:ext cx="3431545"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Legacy Vendors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246340" y="2790825"/>
            <a:ext cx="3431545"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Trapped in enterprise model, revenue locked in upfront analytics, no network effects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246340" y="3217366"/>
            <a:ext cx="3431545"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Incumbents (Salesforce)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246340" y="3415457"/>
            <a:ext cx="343154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Platform bias, can't be trustworthy governance layer, lack specialization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7</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5-Year Financial Trajectory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4532114"/>
            <a:ext cx="8382000" cy="420886"/>
          </a:xfrm>
          <a:prstGeom prst="roundRect">
            <a:avLst>
              <a:gd name="adj" fmla="val 13578"/>
            </a:avLst>
          </a:prstGeom>
          <a:solidFill>
            <a:srgbClr val="F0F9FC"/>
          </a:solidFill>
          <a:ln w="9525">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1206" y="4655939"/>
            <a:ext cx="8141589" cy="173236"/>
          </a:xfrm>
          <a:prstGeom prst="rect">
            <a:avLst/>
          </a:prstGeom>
          <a:noFill/>
          <a:ln/>
        </p:spPr>
        <p:txBody>
          <a:bodyPr wrap="square" lIns="0" tIns="0" rIns="0" bIns="0" rtlCol="0" anchor="t"/>
          <a:lstStyle/>
          <a:p>
            <a:pPr marL="0" marR="0" lvl="0" indent="0" algn="ctr" defTabSz="914400" rtl="0" eaLnBrk="1" fontAlgn="auto" latinLnBrk="0" hangingPunct="1">
              <a:lnSpc>
                <a:spcPts val="1365"/>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Key Driver:</a:t>
            </a:r>
            <a:r>
              <a:rPr kumimoji="0" lang="en-US" sz="97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2% freemium conversion + 130-180% NDR = </a:t>
            </a:r>
            <a:r>
              <a:rPr kumimoji="0" lang="en-US" sz="975"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exponential growth trajectory</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8</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9" name="Table 0"/>
          <p:cNvGraphicFramePr>
            <a:graphicFrameLocks noGrp="1"/>
          </p:cNvGraphicFramePr>
          <p:nvPr/>
        </p:nvGraphicFramePr>
        <p:xfrm>
          <a:off x="381000" y="914400"/>
          <a:ext cx="8382000" cy="3351014"/>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11480">
                <a:tc>
                  <a:txBody>
                    <a:bodyPr/>
                    <a:lstStyle/>
                    <a:p>
                      <a:pPr marL="0" indent="0" algn="ctr">
                        <a:buNone/>
                      </a:pPr>
                      <a:r>
                        <a:rPr lang="en-US" sz="1100" b="1" dirty="0">
                          <a:solidFill>
                            <a:srgbClr val="FFFFFF"/>
                          </a:solidFill>
                        </a:rPr>
                        <a:t>Year</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100" b="1" dirty="0">
                          <a:solidFill>
                            <a:srgbClr val="FFFFFF"/>
                          </a:solidFill>
                        </a:rPr>
                        <a:t>Free Users</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100" b="1" dirty="0">
                          <a:solidFill>
                            <a:srgbClr val="FFFFFF"/>
                          </a:solidFill>
                        </a:rPr>
                        <a:t>Paying Customers</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100" b="1" dirty="0">
                          <a:solidFill>
                            <a:srgbClr val="FFFFFF"/>
                          </a:solidFill>
                        </a:rPr>
                        <a:t>ARR</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100" b="1" dirty="0">
                          <a:solidFill>
                            <a:srgbClr val="FFFFFF"/>
                          </a:solidFill>
                        </a:rPr>
                        <a:t>NDR</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extLst>
                  <a:ext uri="{0D108BD9-81ED-4DB2-BD59-A6C34878D82A}">
                    <a16:rowId xmlns:a16="http://schemas.microsoft.com/office/drawing/2014/main" val="10000"/>
                  </a:ext>
                </a:extLst>
              </a:tr>
              <a:tr h="457200">
                <a:tc>
                  <a:txBody>
                    <a:bodyPr/>
                    <a:lstStyle/>
                    <a:p>
                      <a:pPr marL="0" indent="0" algn="ctr">
                        <a:buNone/>
                      </a:pPr>
                      <a:r>
                        <a:rPr lang="en-US" sz="1000" b="1" dirty="0">
                          <a:solidFill>
                            <a:srgbClr val="01A9DB"/>
                          </a:solidFill>
                        </a:rPr>
                        <a:t>Y1 (2026)</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50,000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500-1,000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$1-2M</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110-120%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000" b="1" dirty="0">
                          <a:solidFill>
                            <a:srgbClr val="01A9DB"/>
                          </a:solidFill>
                        </a:rPr>
                        <a:t>Y2 (2027)</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200,000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2,500-4,000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$5-10M</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130-150%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000" b="1" dirty="0">
                          <a:solidFill>
                            <a:srgbClr val="01A9DB"/>
                          </a:solidFill>
                        </a:rPr>
                        <a:t>Y3 (2028)</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500,000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7,000-10,000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$20-40M</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140-160%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000" b="1" dirty="0">
                          <a:solidFill>
                            <a:srgbClr val="01A9DB"/>
                          </a:solidFill>
                        </a:rPr>
                        <a:t>Y5 (2030)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2,000,000+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18,000-20,000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100" b="1" dirty="0">
                          <a:solidFill>
                            <a:srgbClr val="01A9DB"/>
                          </a:solidFill>
                        </a:rPr>
                        <a:t>$100-150M</a:t>
                      </a:r>
                      <a:endParaRPr lang="en-US" sz="11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150-180%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906328" cy="266700"/>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300"/>
              </a:spcAft>
              <a:buClrTx/>
              <a:buSzTx/>
              <a:buFontTx/>
              <a:buNone/>
              <a:tabLst/>
              <a:defRPr/>
            </a:pPr>
            <a:r>
              <a:rPr kumimoji="0" lang="en-US" sz="21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Unit Economics &amp; Path to Profitability</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5715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93940" y="1496467"/>
            <a:ext cx="3669060" cy="2836218"/>
          </a:xfrm>
          <a:prstGeom prst="roundRect">
            <a:avLst>
              <a:gd name="adj" fmla="val 2015"/>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246340" y="1648867"/>
            <a:ext cx="3431545"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105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Profitability Timeline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246340" y="1968847"/>
            <a:ext cx="3431545"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225"/>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Gross Margin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246340" y="2157413"/>
            <a:ext cx="3431545"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80-85%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246340" y="2496443"/>
            <a:ext cx="343154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From day 1 (software high margin)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246340" y="2744093"/>
            <a:ext cx="3431545"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225"/>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EBITDA Positive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246340" y="2932658"/>
            <a:ext cx="3431545"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Year 2-3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246340" y="3271689"/>
            <a:ext cx="343154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When growth moderates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246340" y="3519339"/>
            <a:ext cx="3431545"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225"/>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Path to $100M ARR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246340" y="3707904"/>
            <a:ext cx="3431545"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Year 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246340" y="4046934"/>
            <a:ext cx="343154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Sustainable, cash-generative</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8786217" y="4743450"/>
            <a:ext cx="5404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9</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8" name="Table 0"/>
          <p:cNvGraphicFramePr>
            <a:graphicFrameLocks noGrp="1"/>
          </p:cNvGraphicFramePr>
          <p:nvPr/>
        </p:nvGraphicFramePr>
        <p:xfrm>
          <a:off x="381000" y="1233041"/>
          <a:ext cx="4484340" cy="3363218"/>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lgn="ctr">
                        <a:buNone/>
                      </a:pPr>
                      <a:r>
                        <a:rPr lang="en-US" sz="1000" b="1" dirty="0">
                          <a:solidFill>
                            <a:srgbClr val="FFFFFF"/>
                          </a:solidFill>
                        </a:rPr>
                        <a:t>Segment</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000" b="1" dirty="0">
                          <a:solidFill>
                            <a:srgbClr val="FFFFFF"/>
                          </a:solidFill>
                        </a:rPr>
                        <a:t>LTV:CAC</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000" b="1" dirty="0">
                          <a:solidFill>
                            <a:srgbClr val="FFFFFF"/>
                          </a:solidFill>
                        </a:rPr>
                        <a:t>CAC Payback</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000" b="1" dirty="0">
                          <a:solidFill>
                            <a:srgbClr val="FFFFFF"/>
                          </a:solidFill>
                        </a:rPr>
                        <a:t>Gross Margin</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tc>
                  <a:txBody>
                    <a:bodyPr/>
                    <a:lstStyle/>
                    <a:p>
                      <a:pPr marL="0" indent="0" algn="ctr">
                        <a:buNone/>
                      </a:pPr>
                      <a:r>
                        <a:rPr lang="en-US" sz="1000" b="1" dirty="0">
                          <a:solidFill>
                            <a:srgbClr val="FFFFFF"/>
                          </a:solidFill>
                        </a:rPr>
                        <a:t>NDR</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solidFill>
                      <a:srgbClr val="07253D"/>
                    </a:solidFill>
                  </a:tcPr>
                </a:tc>
                <a:extLst>
                  <a:ext uri="{0D108BD9-81ED-4DB2-BD59-A6C34878D82A}">
                    <a16:rowId xmlns:a16="http://schemas.microsoft.com/office/drawing/2014/main" val="10000"/>
                  </a:ext>
                </a:extLst>
              </a:tr>
              <a:tr h="502920">
                <a:tc>
                  <a:txBody>
                    <a:bodyPr/>
                    <a:lstStyle/>
                    <a:p>
                      <a:pPr marL="0" indent="0" algn="ctr">
                        <a:buNone/>
                      </a:pPr>
                      <a:r>
                        <a:rPr lang="en-US" sz="1000" b="1" dirty="0">
                          <a:solidFill>
                            <a:srgbClr val="01A9DB"/>
                          </a:solidFill>
                        </a:rPr>
                        <a:t>SMB</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80-250:1</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1-2 mo</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80-85%</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110-120%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ctr">
                        <a:buNone/>
                      </a:pPr>
                      <a:r>
                        <a:rPr lang="en-US" sz="1000" b="1" dirty="0">
                          <a:solidFill>
                            <a:srgbClr val="01A9DB"/>
                          </a:solidFill>
                        </a:rPr>
                        <a:t>Mid-Market</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100-300:1</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2-4 mo</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82-87%</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130-150%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ctr">
                        <a:buNone/>
                      </a:pPr>
                      <a:r>
                        <a:rPr lang="en-US" sz="1000" b="1" dirty="0">
                          <a:solidFill>
                            <a:srgbClr val="01A9DB"/>
                          </a:solidFill>
                        </a:rPr>
                        <a:t>Enterprise</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7253D"/>
                          </a:solidFill>
                        </a:rPr>
                        <a:t>100-400:1</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3-6 mo</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dirty="0">
                          <a:solidFill>
                            <a:srgbClr val="44546A"/>
                          </a:solidFill>
                        </a:rPr>
                        <a:t>85-90%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tc>
                  <a:txBody>
                    <a:bodyPr/>
                    <a:lstStyle/>
                    <a:p>
                      <a:pPr marL="0" indent="0" algn="ctr">
                        <a:buNone/>
                      </a:pPr>
                      <a:r>
                        <a:rPr lang="en-US" sz="1000" b="1" dirty="0">
                          <a:solidFill>
                            <a:srgbClr val="01A9DB"/>
                          </a:solidFill>
                        </a:rPr>
                        <a:t>140-180%</a:t>
                      </a:r>
                      <a:endParaRPr lang="en-US" sz="1000" dirty="0"/>
                    </a:p>
                  </a:txBody>
                  <a:tcPr anchor="ctr">
                    <a:lnL w="63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6350" cap="flat" cmpd="sng" algn="ctr">
                      <a:solidFill>
                        <a:srgbClr val="E7E6E6"/>
                      </a:solidFill>
                      <a:prstDash val="solid"/>
                      <a:round/>
                      <a:headEnd type="none" w="med" len="med"/>
                      <a:tailEnd type="none" w="med" len="med"/>
                    </a:lnT>
                    <a:lnB w="6350" cap="flat" cmpd="sng" algn="ctr">
                      <a:solidFill>
                        <a:srgbClr val="E7E6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614863"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Three-Phase Market Expansion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tmp/rasterized-gradient-b8c44de3.png"/>
          <p:cNvPicPr>
            <a:picLocks noChangeAspect="1"/>
          </p:cNvPicPr>
          <p:nvPr/>
        </p:nvPicPr>
        <p:blipFill>
          <a:blip r:embed="rId3"/>
          <a:stretch>
            <a:fillRect/>
          </a:stretch>
        </p:blipFill>
        <p:spPr>
          <a:xfrm>
            <a:off x="381000" y="952500"/>
            <a:ext cx="2667000" cy="3962400"/>
          </a:xfrm>
          <a:prstGeom prst="rect">
            <a:avLst/>
          </a:prstGeom>
        </p:spPr>
      </p:pic>
      <p:sp>
        <p:nvSpPr>
          <p:cNvPr id="7" name="Text 4"/>
          <p:cNvSpPr/>
          <p:nvPr/>
        </p:nvSpPr>
        <p:spPr>
          <a:xfrm>
            <a:off x="533400" y="2171849"/>
            <a:ext cx="2362200" cy="260896"/>
          </a:xfrm>
          <a:prstGeom prst="roundRect">
            <a:avLst>
              <a:gd name="adj" fmla="val 14604"/>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647700" y="2228999"/>
            <a:ext cx="2176272"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PHASE 1: Y1-2</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533400" y="2680395"/>
            <a:ext cx="2409444" cy="213271"/>
          </a:xfrm>
          <a:prstGeom prst="rect">
            <a:avLst/>
          </a:prstGeom>
          <a:noFill/>
          <a:ln/>
        </p:spPr>
        <p:txBody>
          <a:bodyPr wrap="square" lIns="0" tIns="0" rIns="0" bIns="0" rtlCol="0" anchor="t"/>
          <a:lstStyle/>
          <a:p>
            <a:pPr marL="0" marR="0" lvl="0" indent="0" algn="l" defTabSz="914400" rtl="0" eaLnBrk="1" fontAlgn="auto" latinLnBrk="0" hangingPunct="1">
              <a:lnSpc>
                <a:spcPts val="1680"/>
              </a:lnSpc>
              <a:spcBef>
                <a:spcPts val="0"/>
              </a:spcBef>
              <a:spcAft>
                <a:spcPts val="75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SMB Domination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533400" y="3141315"/>
            <a:ext cx="2362200" cy="554087"/>
          </a:xfrm>
          <a:prstGeom prst="rect">
            <a:avLst/>
          </a:prstGeom>
          <a:noFill/>
          <a:ln/>
        </p:spPr>
        <p:txBody>
          <a:bodyPr wrap="square" lIns="66675" tIns="0" rIns="0" bIns="0" rtlCol="0" anchor="t"/>
          <a:lstStyle/>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Beachhead: 150,000 SMB companies via Salesforce AppExchange</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Target:</a:t>
            </a: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50K free → 1K paying → $1-2M ARR</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tmp/rasterized-gradient-47afbf22.png"/>
          <p:cNvPicPr>
            <a:picLocks noChangeAspect="1"/>
          </p:cNvPicPr>
          <p:nvPr/>
        </p:nvPicPr>
        <p:blipFill>
          <a:blip r:embed="rId4"/>
          <a:stretch>
            <a:fillRect/>
          </a:stretch>
        </p:blipFill>
        <p:spPr>
          <a:xfrm>
            <a:off x="3238500" y="952500"/>
            <a:ext cx="2667000" cy="3962400"/>
          </a:xfrm>
          <a:prstGeom prst="rect">
            <a:avLst/>
          </a:prstGeom>
        </p:spPr>
      </p:pic>
      <p:sp>
        <p:nvSpPr>
          <p:cNvPr id="12" name="Text 8"/>
          <p:cNvSpPr/>
          <p:nvPr/>
        </p:nvSpPr>
        <p:spPr>
          <a:xfrm>
            <a:off x="3390900" y="2171849"/>
            <a:ext cx="2362200" cy="260896"/>
          </a:xfrm>
          <a:prstGeom prst="roundRect">
            <a:avLst>
              <a:gd name="adj" fmla="val 14604"/>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3505200" y="2228999"/>
            <a:ext cx="2176272"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PHASE 2: Y2-3</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390900" y="2680395"/>
            <a:ext cx="2409444" cy="213271"/>
          </a:xfrm>
          <a:prstGeom prst="rect">
            <a:avLst/>
          </a:prstGeom>
          <a:noFill/>
          <a:ln/>
        </p:spPr>
        <p:txBody>
          <a:bodyPr wrap="square" lIns="0" tIns="0" rIns="0" bIns="0" rtlCol="0" anchor="t"/>
          <a:lstStyle/>
          <a:p>
            <a:pPr marL="0" marR="0" lvl="0" indent="0" algn="l" defTabSz="914400" rtl="0" eaLnBrk="1" fontAlgn="auto" latinLnBrk="0" hangingPunct="1">
              <a:lnSpc>
                <a:spcPts val="1680"/>
              </a:lnSpc>
              <a:spcBef>
                <a:spcPts val="0"/>
              </a:spcBef>
              <a:spcAft>
                <a:spcPts val="75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Mid-Market Expansion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3390900" y="3141315"/>
            <a:ext cx="2362200" cy="554087"/>
          </a:xfrm>
          <a:prstGeom prst="rect">
            <a:avLst/>
          </a:prstGeom>
          <a:noFill/>
          <a:ln/>
        </p:spPr>
        <p:txBody>
          <a:bodyPr wrap="square" lIns="66675" tIns="0" rIns="0" bIns="0" rtlCol="0" anchor="t"/>
          <a:lstStyle/>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Leverage: 5,000+ SMB proof points → "If it works for them, why not us?"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Target:</a:t>
            </a: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200K free → 4K paying → $5-10M ARR</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2" descr="/tmp/rasterized-gradient-3a1b2864.png"/>
          <p:cNvPicPr>
            <a:picLocks noChangeAspect="1"/>
          </p:cNvPicPr>
          <p:nvPr/>
        </p:nvPicPr>
        <p:blipFill>
          <a:blip r:embed="rId5"/>
          <a:stretch>
            <a:fillRect/>
          </a:stretch>
        </p:blipFill>
        <p:spPr>
          <a:xfrm>
            <a:off x="6096000" y="952500"/>
            <a:ext cx="2667000" cy="3962400"/>
          </a:xfrm>
          <a:prstGeom prst="rect">
            <a:avLst/>
          </a:prstGeom>
        </p:spPr>
      </p:pic>
      <p:sp>
        <p:nvSpPr>
          <p:cNvPr id="17" name="Text 12"/>
          <p:cNvSpPr/>
          <p:nvPr/>
        </p:nvSpPr>
        <p:spPr>
          <a:xfrm>
            <a:off x="6248400" y="1968103"/>
            <a:ext cx="2362200" cy="260896"/>
          </a:xfrm>
          <a:prstGeom prst="roundRect">
            <a:avLst>
              <a:gd name="adj" fmla="val 14604"/>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6362700" y="2025253"/>
            <a:ext cx="2176272"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PHASE 3: Y3+</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6248400" y="2476649"/>
            <a:ext cx="2409444" cy="213271"/>
          </a:xfrm>
          <a:prstGeom prst="rect">
            <a:avLst/>
          </a:prstGeom>
          <a:noFill/>
          <a:ln/>
        </p:spPr>
        <p:txBody>
          <a:bodyPr wrap="square" lIns="0" tIns="0" rIns="0" bIns="0" rtlCol="0" anchor="t"/>
          <a:lstStyle/>
          <a:p>
            <a:pPr marL="0" marR="0" lvl="0" indent="0" algn="l" defTabSz="914400" rtl="0" eaLnBrk="1" fontAlgn="auto" latinLnBrk="0" hangingPunct="1">
              <a:lnSpc>
                <a:spcPts val="1680"/>
              </a:lnSpc>
              <a:spcBef>
                <a:spcPts val="0"/>
              </a:spcBef>
              <a:spcAft>
                <a:spcPts val="75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Enterprise &amp; Vertical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6248400" y="2937570"/>
            <a:ext cx="2362200" cy="961579"/>
          </a:xfrm>
          <a:prstGeom prst="rect">
            <a:avLst/>
          </a:prstGeom>
          <a:noFill/>
          <a:ln/>
        </p:spPr>
        <p:txBody>
          <a:bodyPr wrap="square" lIns="66675" tIns="0" rIns="0" bIns="0" rtlCol="0" anchor="t"/>
          <a:lstStyle/>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Strategy: Grassroots adoption + unmatched peer benchmarking</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Target:</a:t>
            </a: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500K+ free → 10K+ paying → $20-40M+ ARR</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6675" marR="0" lvl="0" indent="-66675" algn="l" defTabSz="914400" rtl="0" eaLnBrk="1" fontAlgn="auto" latinLnBrk="0" hangingPunct="1">
              <a:lnSpc>
                <a:spcPts val="1155"/>
              </a:lnSpc>
              <a:spcBef>
                <a:spcPts val="0"/>
              </a:spcBef>
              <a:spcAft>
                <a:spcPts val="600"/>
              </a:spcAft>
              <a:buClrTx/>
              <a:buSzPct val="100000"/>
              <a:buFontTx/>
              <a:buChar char="•"/>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Expand: Finance, IT, HR, Support operations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8733234" y="4743450"/>
            <a:ext cx="10808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10</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741164"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Expansion &amp; Retention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879402"/>
            <a:ext cx="4574027"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Expansion Revenue Levers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81000" y="2332732"/>
            <a:ext cx="1905000" cy="350490"/>
          </a:xfrm>
          <a:prstGeom prst="roundRect">
            <a:avLst>
              <a:gd name="adj" fmla="val 10870"/>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33400" y="2427982"/>
            <a:ext cx="1632204"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Explore → Mine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400300" y="2374553"/>
            <a:ext cx="388924" cy="266700"/>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60%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2895898" y="2434679"/>
            <a:ext cx="51689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conversion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81000" y="2759422"/>
            <a:ext cx="1905000" cy="350490"/>
          </a:xfrm>
          <a:prstGeom prst="roundRect">
            <a:avLst>
              <a:gd name="adj" fmla="val 10870"/>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33400" y="2854672"/>
            <a:ext cx="1632204"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Mine → Design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400300" y="2801243"/>
            <a:ext cx="388924" cy="266700"/>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40%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95898" y="2861370"/>
            <a:ext cx="51689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conversion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81000" y="3186113"/>
            <a:ext cx="1905000" cy="350490"/>
          </a:xfrm>
          <a:prstGeom prst="roundRect">
            <a:avLst>
              <a:gd name="adj" fmla="val 10870"/>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33400" y="3281363"/>
            <a:ext cx="1632204"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Design → Manage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2400300" y="3227933"/>
            <a:ext cx="388924" cy="266700"/>
          </a:xfrm>
          <a:prstGeom prst="rect">
            <a:avLst/>
          </a:prstGeom>
          <a:noFill/>
          <a:ln/>
        </p:spPr>
        <p:txBody>
          <a:bodyPr wrap="square" lIns="0" tIns="0" rIns="0" bIns="0" rtlCol="0" anchor="t"/>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50%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2895898" y="3288060"/>
            <a:ext cx="51689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conversion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81000" y="3650903"/>
            <a:ext cx="4484340" cy="337096"/>
          </a:xfrm>
          <a:prstGeom prst="roundRect">
            <a:avLst>
              <a:gd name="adj" fmla="val 11302"/>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95300" y="3746153"/>
            <a:ext cx="434085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Cross-team adoption:</a:t>
            </a:r>
            <a:r>
              <a:rPr kumimoji="0" lang="en-US" sz="825" b="0"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 Finance, Operations, HR teams using Helm independently</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93940" y="1458516"/>
            <a:ext cx="3742441"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Network Effects &amp; Retention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93940" y="1911846"/>
            <a:ext cx="3669060" cy="2497038"/>
          </a:xfrm>
          <a:prstGeom prst="roundRect">
            <a:avLst>
              <a:gd name="adj" fmla="val 2289"/>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246340" y="2064246"/>
            <a:ext cx="343154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30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Peer Benchmarking NDR</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246340" y="2248942"/>
            <a:ext cx="3431545" cy="426690"/>
          </a:xfrm>
          <a:prstGeom prst="rect">
            <a:avLst/>
          </a:prstGeom>
          <a:noFill/>
          <a:ln/>
        </p:spPr>
        <p:txBody>
          <a:bodyPr wrap="square" lIns="0" tIns="0" rIns="0" bIns="0" rtlCol="0" anchor="t"/>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130-180%</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246340" y="2694682"/>
            <a:ext cx="343154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Driven by expansion revenue</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246340" y="2961382"/>
            <a:ext cx="343154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30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Fleet Learning</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246340" y="3146078"/>
            <a:ext cx="3431545" cy="31998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Every new customer makes product smarter for all (true network effects)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246340" y="3599408"/>
            <a:ext cx="3431545"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30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Viral Coefficient Target</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5246340" y="3784104"/>
            <a:ext cx="3431545"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NPS 50+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5246340" y="4123134"/>
            <a:ext cx="343154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Industry benchmarks incentivize sharing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740229" y="4743450"/>
            <a:ext cx="100950"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11</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Traction &amp; Early Validation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785045"/>
            <a:ext cx="3669060" cy="1062930"/>
          </a:xfrm>
          <a:prstGeom prst="roundRect">
            <a:avLst>
              <a:gd name="adj" fmla="val 5377"/>
            </a:avLst>
          </a:prstGeom>
          <a:solidFill>
            <a:srgbClr val="FEF3F0"/>
          </a:solidFill>
          <a:ln w="9525">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42925" y="1946970"/>
            <a:ext cx="3412114"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750"/>
              </a:spcAft>
              <a:buClrTx/>
              <a:buSzTx/>
              <a:buFontTx/>
              <a:buNone/>
              <a:tabLst/>
              <a:defRPr/>
            </a:pPr>
            <a:r>
              <a:rPr kumimoji="0" lang="en-US" sz="1050" b="1" i="0" u="none" strike="noStrike" kern="1200" cap="none" spc="0" normalizeH="0" baseline="0" noProof="0" dirty="0">
                <a:ln>
                  <a:noFill/>
                </a:ln>
                <a:solidFill>
                  <a:srgbClr val="FB4100"/>
                </a:solidFill>
                <a:effectLst/>
                <a:uLnTx/>
                <a:uFillTx/>
                <a:latin typeface="Arial" pitchFamily="34" charset="0"/>
                <a:ea typeface="Arial" pitchFamily="34" charset="-122"/>
                <a:cs typeface="Arial" pitchFamily="34" charset="-120"/>
              </a:rPr>
              <a:t>Product Status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42925" y="2228850"/>
            <a:ext cx="3345210" cy="457200"/>
          </a:xfrm>
          <a:prstGeom prst="rect">
            <a:avLst/>
          </a:prstGeom>
          <a:noFill/>
          <a:ln/>
        </p:spPr>
        <p:txBody>
          <a:bodyPr wrap="square" lIns="76200" tIns="0" rIns="0" bIns="0" rtlCol="0" anchor="t"/>
          <a:lstStyle/>
          <a:p>
            <a:pPr marL="76200" marR="0" lvl="0" indent="-76200" algn="l" defTabSz="914400" rtl="0" eaLnBrk="1" fontAlgn="auto" latinLnBrk="0" hangingPunct="1">
              <a:lnSpc>
                <a:spcPts val="1350"/>
              </a:lnSpc>
              <a:spcBef>
                <a:spcPts val="0"/>
              </a:spcBef>
              <a:spcAft>
                <a:spcPts val="60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[To fill in]:</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MVP status, beta users, pilot customers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6200" marR="0" lvl="0" indent="-76200" algn="l" defTabSz="914400" rtl="0" eaLnBrk="1" fontAlgn="auto" latinLnBrk="0" hangingPunct="1">
              <a:lnSpc>
                <a:spcPts val="1350"/>
              </a:lnSpc>
              <a:spcBef>
                <a:spcPts val="0"/>
              </a:spcBef>
              <a:spcAft>
                <a:spcPts val="600"/>
              </a:spcAft>
              <a:buClrTx/>
              <a:buSzPct val="100000"/>
              <a:buFontTx/>
              <a:buChar char="•"/>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[To fill in]:</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User signups or waitlist size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81000" y="3152775"/>
            <a:ext cx="3669060" cy="929580"/>
          </a:xfrm>
          <a:prstGeom prst="roundRect">
            <a:avLst>
              <a:gd name="adj" fmla="val 6148"/>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33400" y="3305175"/>
            <a:ext cx="3431545"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75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Product Demonstration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33400" y="3587055"/>
            <a:ext cx="3431545" cy="34290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Radar UI Prototype:</a:t>
            </a:r>
            <a:r>
              <a:rPr kumimoji="0" lang="en-US" sz="9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Interactive visualization of real-time decision patterns (Mine module capability)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278660" y="1751856"/>
            <a:ext cx="4574027"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Triple Validation Framework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278660" y="2205186"/>
            <a:ext cx="4484340" cy="573286"/>
          </a:xfrm>
          <a:prstGeom prst="roundRect">
            <a:avLst>
              <a:gd name="adj" fmla="val 996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297710" y="2205186"/>
            <a:ext cx="0" cy="573286"/>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450110" y="2319486"/>
            <a:ext cx="4263131"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Customer Conversations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450110" y="2517577"/>
            <a:ext cx="4263131"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Service leaders report urgent need for governance + transparency</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278660" y="2873722"/>
            <a:ext cx="4484340" cy="573286"/>
          </a:xfrm>
          <a:prstGeom prst="roundRect">
            <a:avLst>
              <a:gd name="adj" fmla="val 996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297710" y="2873722"/>
            <a:ext cx="0" cy="573286"/>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4450110" y="2988022"/>
            <a:ext cx="4263131"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Our Own Products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450110" y="3186113"/>
            <a:ext cx="4263131"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MAX, Claude Code show teams hitting management constraint daily</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278660" y="3542258"/>
            <a:ext cx="4484340" cy="573286"/>
          </a:xfrm>
          <a:prstGeom prst="roundRect">
            <a:avLst>
              <a:gd name="adj" fmla="val 9969"/>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297710" y="3542258"/>
            <a:ext cx="0" cy="573286"/>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450110" y="3656558"/>
            <a:ext cx="4263131"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30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Market Validation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450110" y="3854648"/>
            <a:ext cx="4263131"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Ed Sim, Gartner, Forrester publishing same thesis (industry converging)</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733234" y="4743450"/>
            <a:ext cx="10808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12</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Product Roadmap</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952500"/>
            <a:ext cx="1981200" cy="3962400"/>
          </a:xfrm>
          <a:prstGeom prst="roundRect">
            <a:avLst>
              <a:gd name="adj" fmla="val 3846"/>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14350" y="2331839"/>
            <a:ext cx="1714500" cy="247650"/>
          </a:xfrm>
          <a:prstGeom prst="roundRect">
            <a:avLst>
              <a:gd name="adj" fmla="val 15385"/>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09600" y="2388989"/>
            <a:ext cx="1554480"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Q1 2026</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14350" y="2827139"/>
            <a:ext cx="174879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Current Release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14350" y="3242370"/>
            <a:ext cx="1748790"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 fill in]: MVP feature set and current capabilities shipped</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514600" y="952500"/>
            <a:ext cx="1981200" cy="3962400"/>
          </a:xfrm>
          <a:prstGeom prst="roundRect">
            <a:avLst>
              <a:gd name="adj" fmla="val 3846"/>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647950" y="2331839"/>
            <a:ext cx="1714500" cy="247650"/>
          </a:xfrm>
          <a:prstGeom prst="roundRect">
            <a:avLst>
              <a:gd name="adj" fmla="val 15385"/>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743200" y="2388989"/>
            <a:ext cx="1554480"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Q2-Q3 2026</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647950" y="2827139"/>
            <a:ext cx="174879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Near-Term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647950" y="3242370"/>
            <a:ext cx="1748790"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 fill in]: Key features and customer feedback integration</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648200" y="952500"/>
            <a:ext cx="1981200" cy="3962400"/>
          </a:xfrm>
          <a:prstGeom prst="roundRect">
            <a:avLst>
              <a:gd name="adj" fmla="val 3846"/>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81550" y="2331839"/>
            <a:ext cx="1714500" cy="247650"/>
          </a:xfrm>
          <a:prstGeom prst="roundRect">
            <a:avLst>
              <a:gd name="adj" fmla="val 15385"/>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876800" y="2388989"/>
            <a:ext cx="1554480"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Q4 '26 - Q2 '27</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781550" y="2827139"/>
            <a:ext cx="174879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Mid-Term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781550" y="3242370"/>
            <a:ext cx="1748790"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 fill in]: New module capabilities and vertical specialization deepening</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781800" y="952500"/>
            <a:ext cx="1981200" cy="3962400"/>
          </a:xfrm>
          <a:prstGeom prst="roundRect">
            <a:avLst>
              <a:gd name="adj" fmla="val 3846"/>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915150" y="2331839"/>
            <a:ext cx="1714500" cy="247650"/>
          </a:xfrm>
          <a:prstGeom prst="roundRect">
            <a:avLst>
              <a:gd name="adj" fmla="val 15385"/>
            </a:avLst>
          </a:prstGeom>
          <a:solidFill>
            <a:srgbClr val="01A9DB"/>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7010400" y="2388989"/>
            <a:ext cx="1554480"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2027+</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6915150" y="2827139"/>
            <a:ext cx="1748790"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Long-Term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915150" y="3242370"/>
            <a:ext cx="1748790" cy="293191"/>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 fill in]: Enterprise features and expansion to adjacent verticals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733234" y="4743450"/>
            <a:ext cx="10808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13</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6200" cy="51435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515350" y="228600"/>
            <a:ext cx="330327" cy="159990"/>
          </a:xfrm>
          <a:prstGeom prst="rect">
            <a:avLst/>
          </a:prstGeom>
          <a:noFill/>
          <a:ln/>
        </p:spPr>
        <p:txBody>
          <a:bodyPr wrap="square" lIns="0" tIns="0" rIns="0" bIns="0" rtlCol="0" anchor="t"/>
          <a:lstStyle/>
          <a:p>
            <a:pPr marL="0" marR="0" lvl="0" indent="0" algn="l" defTabSz="914400" rtl="0" eaLnBrk="1" fontAlgn="auto" latinLnBrk="0" hangingPunct="1">
              <a:lnSpc>
                <a:spcPts val="126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HELM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81000" y="266700"/>
            <a:ext cx="428453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300"/>
              </a:spcAft>
              <a:buClrTx/>
              <a:buSzTx/>
              <a:buFontTx/>
              <a:buNone/>
              <a:tabLst/>
              <a:defRPr/>
            </a:pPr>
            <a:r>
              <a:rPr kumimoji="0" lang="en-US" sz="24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The Ask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81000" y="609600"/>
            <a:ext cx="762000" cy="38100"/>
          </a:xfrm>
          <a:prstGeom prst="rect">
            <a:avLst/>
          </a:prstGeom>
          <a:solidFill>
            <a:srgbClr val="FB4100"/>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81000" y="1921371"/>
            <a:ext cx="3261420" cy="2024509"/>
          </a:xfrm>
          <a:prstGeom prst="roundRect">
            <a:avLst>
              <a:gd name="adj" fmla="val 3764"/>
            </a:avLst>
          </a:prstGeom>
          <a:solidFill>
            <a:srgbClr val="07253D"/>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111871"/>
            <a:ext cx="2938028"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1200"/>
              </a:spcAft>
              <a:buClrTx/>
              <a:buSzTx/>
              <a:buFontTx/>
              <a:buNone/>
              <a:tabLst/>
              <a:defRPr/>
            </a:pPr>
            <a:r>
              <a:rPr kumimoji="0" lang="en-US" sz="1050" b="1" i="0" u="none" strike="noStrike" kern="1200" cap="none" spc="0" normalizeH="0" baseline="0" noProof="0" dirty="0">
                <a:ln>
                  <a:noFill/>
                </a:ln>
                <a:solidFill>
                  <a:srgbClr val="FB4100"/>
                </a:solidFill>
                <a:effectLst/>
                <a:uLnTx/>
                <a:uFillTx/>
                <a:latin typeface="Arial" pitchFamily="34" charset="0"/>
                <a:ea typeface="Arial" pitchFamily="34" charset="-122"/>
                <a:cs typeface="Arial" pitchFamily="34" charset="-120"/>
              </a:rPr>
              <a:t>Funding Request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2450902"/>
            <a:ext cx="2938028"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30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Amount Sought</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2635597"/>
            <a:ext cx="2938028" cy="373261"/>
          </a:xfrm>
          <a:prstGeom prst="rect">
            <a:avLst/>
          </a:prstGeom>
          <a:noFill/>
          <a:ln/>
        </p:spPr>
        <p:txBody>
          <a:bodyPr wrap="square" lIns="0" tIns="0" rIns="0" bIns="0" rtlCol="0" anchor="t"/>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[To fill in]</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71500" y="3199358"/>
            <a:ext cx="2938028"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0"/>
              </a:spcBef>
              <a:spcAft>
                <a:spcPts val="30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Round Structure</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71500" y="3384054"/>
            <a:ext cx="2938028"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 fill in]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71500" y="3608784"/>
            <a:ext cx="2938028" cy="146596"/>
          </a:xfrm>
          <a:prstGeom prst="rect">
            <a:avLst/>
          </a:prstGeom>
          <a:noFill/>
          <a:ln/>
        </p:spPr>
        <p:txBody>
          <a:bodyPr wrap="square" lIns="0" tIns="0" rIns="0" bIns="0" rtlCol="0" anchor="t"/>
          <a:lstStyle/>
          <a:p>
            <a:pPr marL="0" marR="0" lvl="0" indent="0" algn="l" defTabSz="914400" rtl="0" eaLnBrk="1" fontAlgn="auto" latinLnBrk="0" hangingPunct="1">
              <a:lnSpc>
                <a:spcPts val="1155"/>
              </a:lnSpc>
              <a:spcBef>
                <a:spcPts val="30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SAFE, priced, etc.</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871020" y="1923157"/>
            <a:ext cx="4891980" cy="1110407"/>
          </a:xfrm>
          <a:prstGeom prst="roundRect">
            <a:avLst>
              <a:gd name="adj" fmla="val 5147"/>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890070" y="1923157"/>
            <a:ext cx="0" cy="1110407"/>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061520" y="2075557"/>
            <a:ext cx="464006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Use of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047626" y="2376488"/>
            <a:ext cx="1417097" cy="319980"/>
          </a:xfrm>
          <a:prstGeom prst="rect">
            <a:avLst/>
          </a:prstGeom>
          <a:noFill/>
          <a:ln/>
        </p:spPr>
        <p:txBody>
          <a:bodyPr wrap="square" lIns="0" tIns="0" rIns="0" bIns="0" rtlCol="0" anchor="t"/>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[X]%</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047626" y="2734568"/>
            <a:ext cx="1417097" cy="146596"/>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30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Engineering/Product</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5627437" y="2376488"/>
            <a:ext cx="1417097" cy="319980"/>
          </a:xfrm>
          <a:prstGeom prst="rect">
            <a:avLst/>
          </a:prstGeom>
          <a:noFill/>
          <a:ln/>
        </p:spPr>
        <p:txBody>
          <a:bodyPr wrap="square" lIns="0" tIns="0" rIns="0" bIns="0" rtlCol="0" anchor="t"/>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[X]%</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627437" y="2734568"/>
            <a:ext cx="1417097" cy="146596"/>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30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Sales &amp; Marketing</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207248" y="2376488"/>
            <a:ext cx="1417097" cy="319980"/>
          </a:xfrm>
          <a:prstGeom prst="rect">
            <a:avLst/>
          </a:prstGeom>
          <a:noFill/>
          <a:ln/>
        </p:spPr>
        <p:txBody>
          <a:bodyPr wrap="square" lIns="0" tIns="0" rIns="0" bIns="0" rtlCol="0" anchor="t"/>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[X]%</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7207248" y="2734568"/>
            <a:ext cx="1417097" cy="146596"/>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300"/>
              </a:spcBef>
              <a:spcAft>
                <a:spcPts val="0"/>
              </a:spcAft>
              <a:buClrTx/>
              <a:buSzTx/>
              <a:buFontTx/>
              <a:buNone/>
              <a:tabLst/>
              <a:defRPr/>
            </a:pPr>
            <a:r>
              <a:rPr kumimoji="0" lang="en-US" sz="825"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Operations</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3871020" y="3185964"/>
            <a:ext cx="4891980" cy="758130"/>
          </a:xfrm>
          <a:prstGeom prst="roundRect">
            <a:avLst>
              <a:gd name="adj" fmla="val 7538"/>
            </a:avLst>
          </a:prstGeom>
          <a:solidFill>
            <a:srgbClr val="F5F7FA"/>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3890070" y="3185964"/>
            <a:ext cx="0" cy="758130"/>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061520" y="3338364"/>
            <a:ext cx="464006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750"/>
              </a:spcAft>
              <a:buClrTx/>
              <a:buSzTx/>
              <a:buFontTx/>
              <a:buNone/>
              <a:tabLst/>
              <a:defRPr/>
            </a:pPr>
            <a:r>
              <a:rPr kumimoji="0" lang="en-US" sz="1050" b="1"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Key Milestones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061520" y="3620244"/>
            <a:ext cx="4640062" cy="17145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7253D"/>
                </a:solidFill>
                <a:effectLst/>
                <a:uLnTx/>
                <a:uFillTx/>
                <a:latin typeface="Arial" pitchFamily="34" charset="0"/>
                <a:ea typeface="Arial" pitchFamily="34" charset="-122"/>
                <a:cs typeface="Arial" pitchFamily="34" charset="-120"/>
              </a:rPr>
              <a:t>[To fill in]:</a:t>
            </a:r>
            <a:r>
              <a:rPr kumimoji="0" lang="en-US" sz="90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 3-4 major objectives and targets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733234" y="4743450"/>
            <a:ext cx="10808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44546A"/>
                </a:solidFill>
                <a:effectLst/>
                <a:uLnTx/>
                <a:uFillTx/>
                <a:latin typeface="Arial" pitchFamily="34" charset="0"/>
                <a:ea typeface="Arial" pitchFamily="34" charset="-122"/>
                <a:cs typeface="Arial" pitchFamily="34" charset="-120"/>
              </a:rPr>
              <a:t>14</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4800" y="228600"/>
            <a:ext cx="502322" cy="186630"/>
          </a:xfrm>
          <a:prstGeom prst="rect">
            <a:avLst/>
          </a:prstGeom>
          <a:noFill/>
          <a:ln/>
        </p:spPr>
        <p:txBody>
          <a:bodyPr wrap="square" lIns="0" tIns="0" rIns="0" bIns="0" rtlCol="0" anchor="t"/>
          <a:lstStyle/>
          <a:p>
            <a:pPr marL="0" marR="0" lvl="0" indent="0" algn="l" defTabSz="914400" rtl="0" eaLnBrk="1" fontAlgn="auto" latinLnBrk="0" hangingPunct="1">
              <a:lnSpc>
                <a:spcPts val="147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HELM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304800" y="434280"/>
            <a:ext cx="502322"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150"/>
              </a:spcBef>
              <a:spcAft>
                <a:spcPts val="0"/>
              </a:spcAft>
              <a:buClrTx/>
              <a:buSzTx/>
              <a:buFontTx/>
              <a:buNone/>
              <a:tabLst/>
              <a:defRPr/>
            </a:pPr>
            <a:r>
              <a:rPr kumimoji="0" lang="en-US" sz="750" b="0" i="0" u="none" strike="noStrike" kern="1200" cap="none" spc="0" normalizeH="0" baseline="0" noProof="0" dirty="0">
                <a:ln>
                  <a:noFill/>
                </a:ln>
                <a:solidFill>
                  <a:srgbClr val="01A9DB"/>
                </a:solidFill>
                <a:effectLst/>
                <a:uLnTx/>
                <a:uFillTx/>
                <a:latin typeface="Arial" pitchFamily="34" charset="0"/>
                <a:ea typeface="Arial" pitchFamily="34" charset="-122"/>
                <a:cs typeface="Arial" pitchFamily="34" charset="-120"/>
              </a:rPr>
              <a:t>by Synaptic</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57002" y="1006078"/>
            <a:ext cx="6829997" cy="411361"/>
          </a:xfrm>
          <a:prstGeom prst="rect">
            <a:avLst/>
          </a:prstGeom>
          <a:noFill/>
          <a:ln/>
        </p:spPr>
        <p:txBody>
          <a:bodyPr wrap="square" lIns="0" tIns="0" rIns="0" bIns="0" rtlCol="0" anchor="t"/>
          <a:lstStyle/>
          <a:p>
            <a:pPr marL="0" marR="0" lvl="0" indent="0" algn="ctr" defTabSz="914400" rtl="0" eaLnBrk="1" fontAlgn="auto" latinLnBrk="0" hangingPunct="1">
              <a:lnSpc>
                <a:spcPts val="3240"/>
              </a:lnSpc>
              <a:spcBef>
                <a:spcPts val="0"/>
              </a:spcBef>
              <a:spcAft>
                <a:spcPts val="180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Building the Future of Agent Governance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57250" y="1798439"/>
            <a:ext cx="7429500" cy="1020812"/>
          </a:xfrm>
          <a:prstGeom prst="roundRect">
            <a:avLst>
              <a:gd name="adj" fmla="val 7465"/>
            </a:avLst>
          </a:prstGeom>
          <a:solidFill>
            <a:srgbClr val="01A9DB">
              <a:alpha val="15000"/>
            </a:srgbClr>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876300" y="1798439"/>
            <a:ext cx="0" cy="1020812"/>
          </a:xfrm>
          <a:prstGeom prst="line">
            <a:avLst/>
          </a:prstGeom>
          <a:noFill/>
          <a:ln w="38100">
            <a:solidFill>
              <a:srgbClr val="01A9D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093470" y="1988939"/>
            <a:ext cx="6995160" cy="639812"/>
          </a:xfrm>
          <a:prstGeom prst="rect">
            <a:avLst/>
          </a:prstGeom>
          <a:noFill/>
          <a:ln/>
        </p:spPr>
        <p:txBody>
          <a:bodyPr wrap="square" lIns="0" tIns="0" rIns="0" bIns="0" rtlCol="0" anchor="t"/>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"Helm is building the decision intelligence infrastructure for the service industry—a world where every decision is understood, every agent is governed by human wisdom, and every outcome drives continuous organizational learning."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238250" y="3238351"/>
            <a:ext cx="6667500" cy="898922"/>
          </a:xfrm>
          <a:prstGeom prst="roundRect">
            <a:avLst>
              <a:gd name="adj" fmla="val 6358"/>
            </a:avLst>
          </a:prstGeom>
          <a:solidFill>
            <a:srgbClr val="FB4100">
              <a:alpha val="90000"/>
            </a:srgbClr>
          </a:solid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04747" y="3390751"/>
            <a:ext cx="6334506" cy="186630"/>
          </a:xfrm>
          <a:prstGeom prst="rect">
            <a:avLst/>
          </a:prstGeom>
          <a:noFill/>
          <a:ln/>
        </p:spPr>
        <p:txBody>
          <a:bodyPr wrap="square" lIns="0" tIns="0" rIns="0" bIns="0" rtlCol="0" anchor="t"/>
          <a:lstStyle/>
          <a:p>
            <a:pPr marL="0" marR="0" lvl="0" indent="0" algn="ctr" defTabSz="914400" rtl="0" eaLnBrk="1" fontAlgn="auto" latinLnBrk="0" hangingPunct="1">
              <a:lnSpc>
                <a:spcPts val="1470"/>
              </a:lnSpc>
              <a:spcBef>
                <a:spcPts val="0"/>
              </a:spcBef>
              <a:spcAft>
                <a:spcPts val="90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Why Now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48208" y="3691682"/>
            <a:ext cx="1901506" cy="293191"/>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40% of enterprise apps getting agents by end of 2026</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777868" y="3691682"/>
            <a:ext cx="1789777" cy="293191"/>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Market need for governance infrastructure is acute</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97814" y="3691682"/>
            <a:ext cx="1696114" cy="293191"/>
          </a:xfrm>
          <a:prstGeom prst="rect">
            <a:avLst/>
          </a:prstGeom>
          <a:noFill/>
          <a:ln/>
        </p:spPr>
        <p:txBody>
          <a:bodyPr wrap="square" lIns="0" tIns="0" rIns="0" bIns="0" rtlCol="0" anchor="t"/>
          <a:lstStyle/>
          <a:p>
            <a:pPr marL="0" marR="0" lvl="0" indent="0" algn="ctr" defTabSz="914400" rtl="0" eaLnBrk="1" fontAlgn="auto" latinLnBrk="0" hangingPunct="1">
              <a:lnSpc>
                <a:spcPts val="1155"/>
              </a:lnSpc>
              <a:spcBef>
                <a:spcPts val="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Category crystallizing as essential infrastructure</a:t>
            </a:r>
            <a:endParaRPr kumimoji="0" lang="en-US" sz="8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733234" y="4743450"/>
            <a:ext cx="108085" cy="133350"/>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15</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80048" y="1247775"/>
            <a:ext cx="8361045" cy="1219200"/>
          </a:xfrm>
          <a:prstGeom prst="rect">
            <a:avLst/>
          </a:prstGeom>
          <a:noFill/>
          <a:ln/>
        </p:spPr>
        <p:txBody>
          <a:bodyPr wrap="square" lIns="0" tIns="0" rIns="0" bIns="0" rtlCol="0" anchor="ctr"/>
          <a:lstStyle/>
          <a:p>
            <a:pPr algn="ctr" defTabSz="685800"/>
            <a:r>
              <a:rPr lang="en-US" sz="4788" b="1" dirty="0">
                <a:solidFill>
                  <a:srgbClr val="F0F8FF"/>
                </a:solidFill>
                <a:latin typeface="Segoe UI" pitchFamily="34" charset="0"/>
                <a:ea typeface="Segoe UI" pitchFamily="34" charset="-122"/>
                <a:cs typeface="Segoe UI" pitchFamily="34" charset="-120"/>
              </a:rPr>
              <a:t>Executive Agent for Service Leaders</a:t>
            </a:r>
            <a:endParaRPr lang="en-US" sz="4788" dirty="0">
              <a:solidFill>
                <a:prstClr val="black"/>
              </a:solidFill>
              <a:latin typeface="Calibri" panose="020F0502020204030204"/>
            </a:endParaRPr>
          </a:p>
        </p:txBody>
      </p:sp>
      <p:sp>
        <p:nvSpPr>
          <p:cNvPr id="4" name="Text 2"/>
          <p:cNvSpPr txBox="1"/>
          <p:nvPr/>
        </p:nvSpPr>
        <p:spPr>
          <a:xfrm>
            <a:off x="1235155" y="2619375"/>
            <a:ext cx="6650831" cy="457200"/>
          </a:xfrm>
          <a:prstGeom prst="rect">
            <a:avLst/>
          </a:prstGeom>
          <a:noFill/>
          <a:ln/>
        </p:spPr>
        <p:txBody>
          <a:bodyPr wrap="square" lIns="0" tIns="0" rIns="0" bIns="0" rtlCol="0" anchor="ctr"/>
          <a:lstStyle/>
          <a:p>
            <a:pPr algn="ctr" defTabSz="685800"/>
            <a:r>
              <a:rPr lang="en-US" sz="1795" dirty="0">
                <a:solidFill>
                  <a:srgbClr val="68B8D9"/>
                </a:solidFill>
                <a:latin typeface="Century Gothic" pitchFamily="34" charset="0"/>
                <a:ea typeface="Century Gothic" pitchFamily="34" charset="-122"/>
                <a:cs typeface="Century Gothic" pitchFamily="34" charset="-120"/>
              </a:rPr>
              <a:t>Give service leaders the insight and control they need to evolve their operations with confidence and impact</a:t>
            </a:r>
            <a:endParaRPr lang="en-US" sz="1795" dirty="0">
              <a:solidFill>
                <a:prstClr val="black"/>
              </a:solidFill>
              <a:latin typeface="Calibri" panose="020F0502020204030204"/>
            </a:endParaRPr>
          </a:p>
        </p:txBody>
      </p:sp>
      <p:sp>
        <p:nvSpPr>
          <p:cNvPr id="5" name="Text 3"/>
          <p:cNvSpPr txBox="1"/>
          <p:nvPr/>
        </p:nvSpPr>
        <p:spPr>
          <a:xfrm>
            <a:off x="3685793" y="3457575"/>
            <a:ext cx="1749481" cy="190500"/>
          </a:xfrm>
          <a:prstGeom prst="rect">
            <a:avLst/>
          </a:prstGeom>
          <a:noFill/>
          <a:ln/>
        </p:spPr>
        <p:txBody>
          <a:bodyPr wrap="square" lIns="0" tIns="0" rIns="0" bIns="0" rtlCol="0" anchor="ctr"/>
          <a:lstStyle/>
          <a:p>
            <a:pPr defTabSz="685800"/>
            <a:r>
              <a:rPr lang="en-US" sz="1346" dirty="0">
                <a:solidFill>
                  <a:srgbClr val="F0F8FF"/>
                </a:solidFill>
                <a:latin typeface="Segoe UI" pitchFamily="34" charset="0"/>
                <a:ea typeface="Segoe UI" pitchFamily="34" charset="-122"/>
                <a:cs typeface="Segoe UI" pitchFamily="34" charset="-120"/>
              </a:rPr>
              <a:t>Seed Extension Round</a:t>
            </a:r>
            <a:endParaRPr lang="en-US" sz="1346" dirty="0">
              <a:solidFill>
                <a:prstClr val="black"/>
              </a:solidFill>
              <a:latin typeface="Calibri" panose="020F0502020204030204"/>
            </a:endParaRPr>
          </a:p>
        </p:txBody>
      </p:sp>
      <p:sp>
        <p:nvSpPr>
          <p:cNvPr id="6" name="Text 4"/>
          <p:cNvSpPr txBox="1"/>
          <p:nvPr/>
        </p:nvSpPr>
        <p:spPr>
          <a:xfrm>
            <a:off x="4128637" y="3724275"/>
            <a:ext cx="863717" cy="171450"/>
          </a:xfrm>
          <a:prstGeom prst="rect">
            <a:avLst/>
          </a:prstGeom>
          <a:noFill/>
          <a:ln/>
        </p:spPr>
        <p:txBody>
          <a:bodyPr wrap="square" lIns="0" tIns="0" rIns="0" bIns="0" rtlCol="0" anchor="ctr"/>
          <a:lstStyle/>
          <a:p>
            <a:pPr defTabSz="685800"/>
            <a:r>
              <a:rPr lang="en-US" sz="1122" dirty="0">
                <a:solidFill>
                  <a:srgbClr val="68B8D9"/>
                </a:solidFill>
                <a:latin typeface="Century Gothic" pitchFamily="34" charset="0"/>
                <a:ea typeface="Century Gothic" pitchFamily="34" charset="-122"/>
                <a:cs typeface="Century Gothic" pitchFamily="34" charset="-120"/>
              </a:rPr>
              <a:t>January 2026</a:t>
            </a:r>
            <a:endParaRPr lang="en-US" sz="1122" dirty="0">
              <a:solidFill>
                <a:prstClr val="black"/>
              </a:solidFill>
              <a:latin typeface="Calibri" panose="020F0502020204030204"/>
            </a:endParaRPr>
          </a:p>
        </p:txBody>
      </p:sp>
      <p:sp>
        <p:nvSpPr>
          <p:cNvPr id="7" name="Text 5"/>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a:t>
            </a:r>
            <a:endParaRPr lang="en-US" sz="898" dirty="0">
              <a:solidFill>
                <a:prstClr val="black"/>
              </a:solidFill>
              <a:latin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The AI Agent Explosion</a:t>
            </a:r>
            <a:endParaRPr lang="en-US" sz="2245" dirty="0">
              <a:solidFill>
                <a:prstClr val="black"/>
              </a:solidFill>
              <a:latin typeface="Calibri" panose="020F0502020204030204"/>
            </a:endParaRPr>
          </a:p>
        </p:txBody>
      </p:sp>
      <p:sp>
        <p:nvSpPr>
          <p:cNvPr id="4" name="Text 2"/>
          <p:cNvSpPr txBox="1"/>
          <p:nvPr/>
        </p:nvSpPr>
        <p:spPr>
          <a:xfrm>
            <a:off x="304038" y="1581150"/>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Market Inflection Point (2026)</a:t>
            </a:r>
            <a:endParaRPr lang="en-US" sz="1346" dirty="0">
              <a:solidFill>
                <a:prstClr val="black"/>
              </a:solidFill>
              <a:latin typeface="Calibri" panose="020F0502020204030204"/>
            </a:endParaRPr>
          </a:p>
        </p:txBody>
      </p:sp>
      <p:sp>
        <p:nvSpPr>
          <p:cNvPr id="5" name="Text 3"/>
          <p:cNvSpPr txBox="1"/>
          <p:nvPr/>
        </p:nvSpPr>
        <p:spPr>
          <a:xfrm>
            <a:off x="304038" y="18859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Gartner:</a:t>
            </a:r>
            <a:r>
              <a:rPr lang="en-US" sz="1122" dirty="0">
                <a:solidFill>
                  <a:srgbClr val="F0F8FF"/>
                </a:solidFill>
                <a:latin typeface="Century Gothic" pitchFamily="34" charset="0"/>
                <a:ea typeface="Century Gothic" pitchFamily="34" charset="-122"/>
                <a:cs typeface="Century Gothic" pitchFamily="34" charset="-120"/>
              </a:rPr>
              <a:t> 40% of enterprise apps will feature task-specific AI agents by end of 2026 (vs &lt;5% in 2025)</a:t>
            </a:r>
            <a:endParaRPr lang="en-US" sz="1122" dirty="0">
              <a:solidFill>
                <a:prstClr val="black"/>
              </a:solidFill>
              <a:latin typeface="Calibri" panose="020F0502020204030204"/>
            </a:endParaRPr>
          </a:p>
        </p:txBody>
      </p:sp>
      <p:sp>
        <p:nvSpPr>
          <p:cNvPr id="6" name="Text 4"/>
          <p:cNvSpPr txBox="1"/>
          <p:nvPr/>
        </p:nvSpPr>
        <p:spPr>
          <a:xfrm>
            <a:off x="304038" y="213360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Microsoft/Stanford HAI:</a:t>
            </a:r>
            <a:r>
              <a:rPr lang="en-US" sz="1122" dirty="0">
                <a:solidFill>
                  <a:srgbClr val="F0F8FF"/>
                </a:solidFill>
                <a:latin typeface="Century Gothic" pitchFamily="34" charset="0"/>
                <a:ea typeface="Century Gothic" pitchFamily="34" charset="-122"/>
                <a:cs typeface="Century Gothic" pitchFamily="34" charset="-120"/>
              </a:rPr>
              <a:t> Shift from "AI evangelism" to "pragmatic AI evaluation" in 2026</a:t>
            </a:r>
            <a:endParaRPr lang="en-US" sz="1122" dirty="0">
              <a:solidFill>
                <a:prstClr val="black"/>
              </a:solidFill>
              <a:latin typeface="Calibri" panose="020F0502020204030204"/>
            </a:endParaRPr>
          </a:p>
        </p:txBody>
      </p:sp>
      <p:sp>
        <p:nvSpPr>
          <p:cNvPr id="7" name="Text 5"/>
          <p:cNvSpPr txBox="1"/>
          <p:nvPr/>
        </p:nvSpPr>
        <p:spPr>
          <a:xfrm>
            <a:off x="304038" y="23812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Industry consensus:</a:t>
            </a:r>
            <a:r>
              <a:rPr lang="en-US" sz="1122" dirty="0">
                <a:solidFill>
                  <a:srgbClr val="F0F8FF"/>
                </a:solidFill>
                <a:latin typeface="Century Gothic" pitchFamily="34" charset="0"/>
                <a:ea typeface="Century Gothic" pitchFamily="34" charset="-122"/>
                <a:cs typeface="Century Gothic" pitchFamily="34" charset="-120"/>
              </a:rPr>
              <a:t> Agent adoption moving from pilots to production</a:t>
            </a:r>
            <a:endParaRPr lang="en-US" sz="1122" dirty="0">
              <a:solidFill>
                <a:prstClr val="black"/>
              </a:solidFill>
              <a:latin typeface="Calibri" panose="020F0502020204030204"/>
            </a:endParaRPr>
          </a:p>
        </p:txBody>
      </p:sp>
      <p:sp>
        <p:nvSpPr>
          <p:cNvPr id="8" name="Text 6"/>
          <p:cNvSpPr txBox="1"/>
          <p:nvPr/>
        </p:nvSpPr>
        <p:spPr>
          <a:xfrm>
            <a:off x="304038" y="2781300"/>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Why Customer Service First</a:t>
            </a:r>
            <a:endParaRPr lang="en-US" sz="1346" dirty="0">
              <a:solidFill>
                <a:prstClr val="black"/>
              </a:solidFill>
              <a:latin typeface="Calibri" panose="020F0502020204030204"/>
            </a:endParaRPr>
          </a:p>
        </p:txBody>
      </p:sp>
      <p:sp>
        <p:nvSpPr>
          <p:cNvPr id="9" name="Text 7"/>
          <p:cNvSpPr txBox="1"/>
          <p:nvPr/>
        </p:nvSpPr>
        <p:spPr>
          <a:xfrm>
            <a:off x="304038" y="308610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158,000 total addressable companies (150K SMB + 8K enterprise)</a:t>
            </a:r>
            <a:endParaRPr lang="en-US" sz="1122" dirty="0">
              <a:solidFill>
                <a:prstClr val="black"/>
              </a:solidFill>
              <a:latin typeface="Calibri" panose="020F0502020204030204"/>
            </a:endParaRPr>
          </a:p>
        </p:txBody>
      </p:sp>
      <p:sp>
        <p:nvSpPr>
          <p:cNvPr id="10" name="Text 8"/>
          <p:cNvSpPr txBox="1"/>
          <p:nvPr/>
        </p:nvSpPr>
        <p:spPr>
          <a:xfrm>
            <a:off x="304038" y="333375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Highest ROI AI use case: cost per contact, CSAT improvement</a:t>
            </a:r>
            <a:endParaRPr lang="en-US" sz="1122" dirty="0">
              <a:solidFill>
                <a:prstClr val="black"/>
              </a:solidFill>
              <a:latin typeface="Calibri" panose="020F0502020204030204"/>
            </a:endParaRPr>
          </a:p>
        </p:txBody>
      </p:sp>
      <p:sp>
        <p:nvSpPr>
          <p:cNvPr id="11" name="Text 9"/>
          <p:cNvSpPr txBox="1"/>
          <p:nvPr/>
        </p:nvSpPr>
        <p:spPr>
          <a:xfrm>
            <a:off x="304038" y="358140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Salesforce Service Cloud: 70K+ customers, $9B revenue (~$125K ACV)</a:t>
            </a:r>
            <a:endParaRPr lang="en-US" sz="1122" dirty="0">
              <a:solidFill>
                <a:prstClr val="black"/>
              </a:solidFill>
              <a:latin typeface="Calibri" panose="020F0502020204030204"/>
            </a:endParaRPr>
          </a:p>
        </p:txBody>
      </p:sp>
      <p:sp>
        <p:nvSpPr>
          <p:cNvPr id="12" name="Text 10"/>
          <p:cNvSpPr txBox="1"/>
          <p:nvPr/>
        </p:nvSpPr>
        <p:spPr>
          <a:xfrm>
            <a:off x="304038" y="3829050"/>
            <a:ext cx="8513064" cy="171450"/>
          </a:xfrm>
          <a:prstGeom prst="rect">
            <a:avLst/>
          </a:prstGeom>
          <a:noFill/>
          <a:ln/>
        </p:spPr>
        <p:txBody>
          <a:bodyPr wrap="square" lIns="0" tIns="0" rIns="0" bIns="0" rtlCol="0" anchor="ctr"/>
          <a:lstStyle/>
          <a:p>
            <a:pPr defTabSz="685800"/>
            <a:r>
              <a:rPr lang="en-US" sz="1122" b="1" dirty="0">
                <a:solidFill>
                  <a:srgbClr val="FB4100"/>
                </a:solidFill>
                <a:latin typeface="Century Gothic" pitchFamily="34" charset="0"/>
                <a:ea typeface="Century Gothic" pitchFamily="34" charset="-122"/>
                <a:cs typeface="Century Gothic" pitchFamily="34" charset="-120"/>
              </a:rPr>
              <a:t>• 33% of deployments failing due to lack of governance</a:t>
            </a:r>
            <a:endParaRPr lang="en-US" sz="1122" dirty="0">
              <a:solidFill>
                <a:prstClr val="black"/>
              </a:solidFill>
              <a:latin typeface="Calibri" panose="020F0502020204030204"/>
            </a:endParaRPr>
          </a:p>
        </p:txBody>
      </p:sp>
      <p:sp>
        <p:nvSpPr>
          <p:cNvPr id="13" name="Text 11"/>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2</a:t>
            </a:r>
            <a:endParaRPr lang="en-US" sz="898" dirty="0">
              <a:solidFill>
                <a:prstClr val="black"/>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The AI Deployment Crisis</a:t>
            </a:r>
            <a:endParaRPr lang="en-US" sz="2245" dirty="0">
              <a:solidFill>
                <a:prstClr val="black"/>
              </a:solidFill>
              <a:latin typeface="Calibri" panose="020F0502020204030204"/>
            </a:endParaRPr>
          </a:p>
        </p:txBody>
      </p:sp>
      <p:sp>
        <p:nvSpPr>
          <p:cNvPr id="4" name="Text 2"/>
          <p:cNvSpPr txBox="1"/>
          <p:nvPr/>
        </p:nvSpPr>
        <p:spPr>
          <a:xfrm>
            <a:off x="304038" y="1581150"/>
            <a:ext cx="8513064" cy="190500"/>
          </a:xfrm>
          <a:prstGeom prst="rect">
            <a:avLst/>
          </a:prstGeom>
          <a:noFill/>
          <a:ln/>
        </p:spPr>
        <p:txBody>
          <a:bodyPr wrap="square" lIns="0" tIns="0" rIns="0" bIns="0" rtlCol="0" anchor="ctr"/>
          <a:lstStyle/>
          <a:p>
            <a:pPr defTabSz="685800"/>
            <a:r>
              <a:rPr lang="en-US" sz="1346" dirty="0">
                <a:solidFill>
                  <a:srgbClr val="FB4100"/>
                </a:solidFill>
                <a:latin typeface="Segoe UI" pitchFamily="34" charset="0"/>
                <a:ea typeface="Segoe UI" pitchFamily="34" charset="-122"/>
                <a:cs typeface="Segoe UI" pitchFamily="34" charset="-120"/>
              </a:rPr>
              <a:t>The Problem</a:t>
            </a:r>
            <a:endParaRPr lang="en-US" sz="1346" dirty="0">
              <a:solidFill>
                <a:prstClr val="black"/>
              </a:solidFill>
              <a:latin typeface="Calibri" panose="020F0502020204030204"/>
            </a:endParaRPr>
          </a:p>
        </p:txBody>
      </p:sp>
      <p:sp>
        <p:nvSpPr>
          <p:cNvPr id="5" name="Text 3"/>
          <p:cNvSpPr txBox="1"/>
          <p:nvPr/>
        </p:nvSpPr>
        <p:spPr>
          <a:xfrm>
            <a:off x="304038" y="188595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B4100"/>
                </a:solidFill>
                <a:latin typeface="Century Gothic" pitchFamily="34" charset="0"/>
                <a:ea typeface="Century Gothic" pitchFamily="34" charset="-122"/>
                <a:cs typeface="Century Gothic" pitchFamily="34" charset="-120"/>
              </a:rPr>
              <a:t>33% of service AI deployments fail</a:t>
            </a:r>
            <a:r>
              <a:rPr lang="en-US" sz="1122" dirty="0">
                <a:solidFill>
                  <a:srgbClr val="F0F8FF"/>
                </a:solidFill>
                <a:latin typeface="Century Gothic" pitchFamily="34" charset="0"/>
                <a:ea typeface="Century Gothic" pitchFamily="34" charset="-122"/>
                <a:cs typeface="Century Gothic" pitchFamily="34" charset="-120"/>
              </a:rPr>
              <a:t> due to lack of decision context and governance</a:t>
            </a:r>
            <a:endParaRPr lang="en-US" sz="1122" dirty="0">
              <a:solidFill>
                <a:prstClr val="black"/>
              </a:solidFill>
              <a:latin typeface="Calibri" panose="020F0502020204030204"/>
            </a:endParaRPr>
          </a:p>
        </p:txBody>
      </p:sp>
      <p:sp>
        <p:nvSpPr>
          <p:cNvPr id="6" name="Text 4"/>
          <p:cNvSpPr txBox="1"/>
          <p:nvPr/>
        </p:nvSpPr>
        <p:spPr>
          <a:xfrm>
            <a:off x="304038" y="213360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Companies mistake "deploying an agent" for "managing decisions"</a:t>
            </a:r>
            <a:endParaRPr lang="en-US" sz="1122" dirty="0">
              <a:solidFill>
                <a:prstClr val="black"/>
              </a:solidFill>
              <a:latin typeface="Calibri" panose="020F0502020204030204"/>
            </a:endParaRPr>
          </a:p>
        </p:txBody>
      </p:sp>
      <p:sp>
        <p:nvSpPr>
          <p:cNvPr id="7" name="Text 5"/>
          <p:cNvSpPr txBox="1"/>
          <p:nvPr/>
        </p:nvSpPr>
        <p:spPr>
          <a:xfrm>
            <a:off x="304038" y="238125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No audit trail for compliance and transparency (increasingly required)</a:t>
            </a:r>
            <a:endParaRPr lang="en-US" sz="1122" dirty="0">
              <a:solidFill>
                <a:prstClr val="black"/>
              </a:solidFill>
              <a:latin typeface="Calibri" panose="020F0502020204030204"/>
            </a:endParaRPr>
          </a:p>
        </p:txBody>
      </p:sp>
      <p:sp>
        <p:nvSpPr>
          <p:cNvPr id="8" name="Text 6"/>
          <p:cNvSpPr txBox="1"/>
          <p:nvPr/>
        </p:nvSpPr>
        <p:spPr>
          <a:xfrm>
            <a:off x="304038" y="262890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Historic: </a:t>
            </a:r>
            <a:r>
              <a:rPr lang="en-US" sz="1122" b="1" dirty="0">
                <a:solidFill>
                  <a:srgbClr val="FB4100"/>
                </a:solidFill>
                <a:latin typeface="Century Gothic" pitchFamily="34" charset="0"/>
                <a:ea typeface="Century Gothic" pitchFamily="34" charset="-122"/>
                <a:cs typeface="Century Gothic" pitchFamily="34" charset="-120"/>
              </a:rPr>
              <a:t>95% of AI pilots deliver zero ROI</a:t>
            </a:r>
            <a:r>
              <a:rPr lang="en-US" sz="1122" dirty="0">
                <a:solidFill>
                  <a:srgbClr val="F0F8FF"/>
                </a:solidFill>
                <a:latin typeface="Century Gothic" pitchFamily="34" charset="0"/>
                <a:ea typeface="Century Gothic" pitchFamily="34" charset="-122"/>
                <a:cs typeface="Century Gothic" pitchFamily="34" charset="-120"/>
              </a:rPr>
              <a:t> (MIT), </a:t>
            </a:r>
            <a:r>
              <a:rPr lang="en-US" sz="1122" b="1" dirty="0">
                <a:solidFill>
                  <a:srgbClr val="FB4100"/>
                </a:solidFill>
                <a:latin typeface="Century Gothic" pitchFamily="34" charset="0"/>
                <a:ea typeface="Century Gothic" pitchFamily="34" charset="-122"/>
                <a:cs typeface="Century Gothic" pitchFamily="34" charset="-120"/>
              </a:rPr>
              <a:t>85% fail before value</a:t>
            </a:r>
            <a:r>
              <a:rPr lang="en-US" sz="1122" dirty="0">
                <a:solidFill>
                  <a:srgbClr val="F0F8FF"/>
                </a:solidFill>
                <a:latin typeface="Century Gothic" pitchFamily="34" charset="0"/>
                <a:ea typeface="Century Gothic" pitchFamily="34" charset="-122"/>
                <a:cs typeface="Century Gothic" pitchFamily="34" charset="-120"/>
              </a:rPr>
              <a:t> (Gartner)</a:t>
            </a:r>
            <a:endParaRPr lang="en-US" sz="1122" dirty="0">
              <a:solidFill>
                <a:prstClr val="black"/>
              </a:solidFill>
              <a:latin typeface="Calibri" panose="020F0502020204030204"/>
            </a:endParaRPr>
          </a:p>
        </p:txBody>
      </p:sp>
      <p:sp>
        <p:nvSpPr>
          <p:cNvPr id="9" name="Text 7"/>
          <p:cNvSpPr txBox="1"/>
          <p:nvPr/>
        </p:nvSpPr>
        <p:spPr>
          <a:xfrm>
            <a:off x="304038" y="3028950"/>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Why This Matters Now</a:t>
            </a:r>
            <a:endParaRPr lang="en-US" sz="1346" dirty="0">
              <a:solidFill>
                <a:prstClr val="black"/>
              </a:solidFill>
              <a:latin typeface="Calibri" panose="020F0502020204030204"/>
            </a:endParaRPr>
          </a:p>
        </p:txBody>
      </p:sp>
      <p:sp>
        <p:nvSpPr>
          <p:cNvPr id="10" name="Text 8"/>
          <p:cNvSpPr txBox="1"/>
          <p:nvPr/>
        </p:nvSpPr>
        <p:spPr>
          <a:xfrm>
            <a:off x="304038" y="333375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EU AI Act</a:t>
            </a:r>
            <a:r>
              <a:rPr lang="en-US" sz="1122" dirty="0">
                <a:solidFill>
                  <a:srgbClr val="F0F8FF"/>
                </a:solidFill>
                <a:latin typeface="Century Gothic" pitchFamily="34" charset="0"/>
                <a:ea typeface="Century Gothic" pitchFamily="34" charset="-122"/>
                <a:cs typeface="Century Gothic" pitchFamily="34" charset="-120"/>
              </a:rPr>
              <a:t> fully applicable August 2, 2026 (mandatory governance/transparency)</a:t>
            </a:r>
            <a:endParaRPr lang="en-US" sz="1122" dirty="0">
              <a:solidFill>
                <a:prstClr val="black"/>
              </a:solidFill>
              <a:latin typeface="Calibri" panose="020F0502020204030204"/>
            </a:endParaRPr>
          </a:p>
        </p:txBody>
      </p:sp>
      <p:sp>
        <p:nvSpPr>
          <p:cNvPr id="11" name="Text 9"/>
          <p:cNvSpPr txBox="1"/>
          <p:nvPr/>
        </p:nvSpPr>
        <p:spPr>
          <a:xfrm>
            <a:off x="304038" y="358140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60% of Fortune 100</a:t>
            </a:r>
            <a:r>
              <a:rPr lang="en-US" sz="1122" dirty="0">
                <a:solidFill>
                  <a:srgbClr val="F0F8FF"/>
                </a:solidFill>
                <a:latin typeface="Century Gothic" pitchFamily="34" charset="0"/>
                <a:ea typeface="Century Gothic" pitchFamily="34" charset="-122"/>
                <a:cs typeface="Century Gothic" pitchFamily="34" charset="-120"/>
              </a:rPr>
              <a:t> will appoint Chief AI Officer in 2026</a:t>
            </a:r>
            <a:endParaRPr lang="en-US" sz="1122" dirty="0">
              <a:solidFill>
                <a:prstClr val="black"/>
              </a:solidFill>
              <a:latin typeface="Calibri" panose="020F0502020204030204"/>
            </a:endParaRPr>
          </a:p>
        </p:txBody>
      </p:sp>
      <p:sp>
        <p:nvSpPr>
          <p:cNvPr id="12" name="Text 10"/>
          <p:cNvSpPr txBox="1"/>
          <p:nvPr/>
        </p:nvSpPr>
        <p:spPr>
          <a:xfrm>
            <a:off x="304038" y="3829050"/>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Regulatory pressure forces "meaningful human review" of AI decisions</a:t>
            </a:r>
            <a:endParaRPr lang="en-US" sz="1122" dirty="0">
              <a:solidFill>
                <a:prstClr val="black"/>
              </a:solidFill>
              <a:latin typeface="Calibri" panose="020F0502020204030204"/>
            </a:endParaRPr>
          </a:p>
        </p:txBody>
      </p:sp>
      <p:sp>
        <p:nvSpPr>
          <p:cNvPr id="13" name="Text 11"/>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3</a:t>
            </a:r>
            <a:endParaRPr lang="en-US" sz="898" dirty="0">
              <a:solidFill>
                <a:prstClr val="black"/>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Market Evolution &amp; Emerging Category</a:t>
            </a:r>
            <a:endParaRPr lang="en-US" sz="2245" dirty="0">
              <a:solidFill>
                <a:prstClr val="black"/>
              </a:solidFill>
              <a:latin typeface="Calibri" panose="020F0502020204030204"/>
            </a:endParaRPr>
          </a:p>
        </p:txBody>
      </p:sp>
      <p:sp>
        <p:nvSpPr>
          <p:cNvPr id="4" name="Text 2"/>
          <p:cNvSpPr txBox="1"/>
          <p:nvPr/>
        </p:nvSpPr>
        <p:spPr>
          <a:xfrm>
            <a:off x="304038" y="170497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Category Crystallization (2026)</a:t>
            </a:r>
            <a:endParaRPr lang="en-US" sz="1346" dirty="0">
              <a:solidFill>
                <a:prstClr val="black"/>
              </a:solidFill>
              <a:latin typeface="Calibri" panose="020F0502020204030204"/>
            </a:endParaRPr>
          </a:p>
        </p:txBody>
      </p:sp>
      <p:sp>
        <p:nvSpPr>
          <p:cNvPr id="5" name="Text 3"/>
          <p:cNvSpPr txBox="1"/>
          <p:nvPr/>
        </p:nvSpPr>
        <p:spPr>
          <a:xfrm>
            <a:off x="304038" y="200977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Gartner:</a:t>
            </a:r>
            <a:r>
              <a:rPr lang="en-US" sz="1122" dirty="0">
                <a:solidFill>
                  <a:srgbClr val="F0F8FF"/>
                </a:solidFill>
                <a:latin typeface="Century Gothic" pitchFamily="34" charset="0"/>
                <a:ea typeface="Century Gothic" pitchFamily="34" charset="-122"/>
                <a:cs typeface="Century Gothic" pitchFamily="34" charset="-120"/>
              </a:rPr>
              <a:t> Decision Intelligence is #1 trend in 2026 Hype Cycle</a:t>
            </a:r>
            <a:endParaRPr lang="en-US" sz="1122" dirty="0">
              <a:solidFill>
                <a:prstClr val="black"/>
              </a:solidFill>
              <a:latin typeface="Calibri" panose="020F0502020204030204"/>
            </a:endParaRPr>
          </a:p>
        </p:txBody>
      </p:sp>
      <p:sp>
        <p:nvSpPr>
          <p:cNvPr id="6" name="Text 4"/>
          <p:cNvSpPr txBox="1"/>
          <p:nvPr/>
        </p:nvSpPr>
        <p:spPr>
          <a:xfrm>
            <a:off x="304038" y="225742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Forrester:</a:t>
            </a:r>
            <a:r>
              <a:rPr lang="en-US" sz="1122" dirty="0">
                <a:solidFill>
                  <a:srgbClr val="F0F8FF"/>
                </a:solidFill>
                <a:latin typeface="Century Gothic" pitchFamily="34" charset="0"/>
                <a:ea typeface="Century Gothic" pitchFamily="34" charset="-122"/>
                <a:cs typeface="Century Gothic" pitchFamily="34" charset="-120"/>
              </a:rPr>
              <a:t> Agent Control Planes becoming essential governance layer</a:t>
            </a:r>
            <a:endParaRPr lang="en-US" sz="1122" dirty="0">
              <a:solidFill>
                <a:prstClr val="black"/>
              </a:solidFill>
              <a:latin typeface="Calibri" panose="020F0502020204030204"/>
            </a:endParaRPr>
          </a:p>
        </p:txBody>
      </p:sp>
      <p:sp>
        <p:nvSpPr>
          <p:cNvPr id="7" name="Text 5"/>
          <p:cNvSpPr txBox="1"/>
          <p:nvPr/>
        </p:nvSpPr>
        <p:spPr>
          <a:xfrm>
            <a:off x="304038" y="250507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VCs/Foundation Capital:</a:t>
            </a:r>
            <a:r>
              <a:rPr lang="en-US" sz="1122" dirty="0">
                <a:solidFill>
                  <a:srgbClr val="F0F8FF"/>
                </a:solidFill>
                <a:latin typeface="Century Gothic" pitchFamily="34" charset="0"/>
                <a:ea typeface="Century Gothic" pitchFamily="34" charset="-122"/>
                <a:cs typeface="Century Gothic" pitchFamily="34" charset="-120"/>
              </a:rPr>
              <a:t> Context Graphs and "Execution Intelligence Layer" as key infrastructure</a:t>
            </a:r>
            <a:endParaRPr lang="en-US" sz="1122" dirty="0">
              <a:solidFill>
                <a:prstClr val="black"/>
              </a:solidFill>
              <a:latin typeface="Calibri" panose="020F0502020204030204"/>
            </a:endParaRPr>
          </a:p>
        </p:txBody>
      </p:sp>
      <p:sp>
        <p:nvSpPr>
          <p:cNvPr id="8" name="Text 6"/>
          <p:cNvSpPr txBox="1"/>
          <p:nvPr/>
        </p:nvSpPr>
        <p:spPr>
          <a:xfrm>
            <a:off x="304038" y="29051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TAM Expansion</a:t>
            </a:r>
            <a:endParaRPr lang="en-US" sz="1346" dirty="0">
              <a:solidFill>
                <a:prstClr val="black"/>
              </a:solidFill>
              <a:latin typeface="Calibri" panose="020F0502020204030204"/>
            </a:endParaRPr>
          </a:p>
        </p:txBody>
      </p:sp>
      <p:sp>
        <p:nvSpPr>
          <p:cNvPr id="9" name="Text 7"/>
          <p:cNvSpPr txBox="1"/>
          <p:nvPr/>
        </p:nvSpPr>
        <p:spPr>
          <a:xfrm>
            <a:off x="304038" y="320992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Base TAM: 158,000 companies deploying customer service AI</a:t>
            </a:r>
            <a:endParaRPr lang="en-US" sz="1122" dirty="0">
              <a:solidFill>
                <a:prstClr val="black"/>
              </a:solidFill>
              <a:latin typeface="Calibri" panose="020F0502020204030204"/>
            </a:endParaRPr>
          </a:p>
        </p:txBody>
      </p:sp>
      <p:sp>
        <p:nvSpPr>
          <p:cNvPr id="10" name="Text 8"/>
          <p:cNvSpPr txBox="1"/>
          <p:nvPr/>
        </p:nvSpPr>
        <p:spPr>
          <a:xfrm>
            <a:off x="304038" y="345757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40% agent adoption by 2026 = billions in software transformation</a:t>
            </a:r>
            <a:endParaRPr lang="en-US" sz="1122" dirty="0">
              <a:solidFill>
                <a:prstClr val="black"/>
              </a:solidFill>
              <a:latin typeface="Calibri" panose="020F0502020204030204"/>
            </a:endParaRPr>
          </a:p>
        </p:txBody>
      </p:sp>
      <p:sp>
        <p:nvSpPr>
          <p:cNvPr id="11" name="Text 9"/>
          <p:cNvSpPr txBox="1"/>
          <p:nvPr/>
        </p:nvSpPr>
        <p:spPr>
          <a:xfrm>
            <a:off x="304038" y="370522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Revenue TAM: $2-3B annual market opportunity</a:t>
            </a:r>
            <a:r>
              <a:rPr lang="en-US" sz="1122" dirty="0">
                <a:solidFill>
                  <a:srgbClr val="F0F8FF"/>
                </a:solidFill>
                <a:latin typeface="Century Gothic" pitchFamily="34" charset="0"/>
                <a:ea typeface="Century Gothic" pitchFamily="34" charset="-122"/>
                <a:cs typeface="Century Gothic" pitchFamily="34" charset="-120"/>
              </a:rPr>
              <a:t> for decision intelligence infrastructure in CS alone</a:t>
            </a:r>
            <a:endParaRPr lang="en-US" sz="1122" dirty="0">
              <a:solidFill>
                <a:prstClr val="black"/>
              </a:solidFill>
              <a:latin typeface="Calibri" panose="020F0502020204030204"/>
            </a:endParaRPr>
          </a:p>
        </p:txBody>
      </p:sp>
      <p:sp>
        <p:nvSpPr>
          <p:cNvPr id="12" name="Text 10"/>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4</a:t>
            </a:r>
            <a:endParaRPr lang="en-US" sz="898" dirty="0">
              <a:solidFill>
                <a:prstClr val="black"/>
              </a:solidFill>
              <a:latin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Helm's Unique Approach</a:t>
            </a:r>
            <a:endParaRPr lang="en-US" sz="2245" dirty="0">
              <a:solidFill>
                <a:prstClr val="black"/>
              </a:solidFill>
              <a:latin typeface="Calibri" panose="020F0502020204030204"/>
            </a:endParaRPr>
          </a:p>
        </p:txBody>
      </p:sp>
      <p:sp>
        <p:nvSpPr>
          <p:cNvPr id="4" name="Text 2"/>
          <p:cNvSpPr txBox="1"/>
          <p:nvPr/>
        </p:nvSpPr>
        <p:spPr>
          <a:xfrm>
            <a:off x="304038" y="1314450"/>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What Helm Does</a:t>
            </a:r>
            <a:endParaRPr lang="en-US" sz="1346" dirty="0">
              <a:solidFill>
                <a:prstClr val="black"/>
              </a:solidFill>
              <a:latin typeface="Calibri" panose="020F0502020204030204"/>
            </a:endParaRPr>
          </a:p>
        </p:txBody>
      </p:sp>
      <p:sp>
        <p:nvSpPr>
          <p:cNvPr id="5" name="Shape 3"/>
          <p:cNvSpPr/>
          <p:nvPr/>
        </p:nvSpPr>
        <p:spPr>
          <a:xfrm>
            <a:off x="304038" y="1657350"/>
            <a:ext cx="2736342" cy="1257300"/>
          </a:xfrm>
          <a:prstGeom prst="roundRect">
            <a:avLst>
              <a:gd name="adj" fmla="val 495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pic>
        <p:nvPicPr>
          <p:cNvPr id="6" name="Image 0" descr="preencoded.png"/>
          <p:cNvPicPr>
            <a:picLocks noChangeAspect="1"/>
          </p:cNvPicPr>
          <p:nvPr/>
        </p:nvPicPr>
        <p:blipFill>
          <a:blip r:embed="rId3"/>
          <a:srcRect/>
          <a:stretch/>
        </p:blipFill>
        <p:spPr>
          <a:xfrm>
            <a:off x="1520190" y="1809750"/>
            <a:ext cx="304038" cy="304800"/>
          </a:xfrm>
          <a:prstGeom prst="rect">
            <a:avLst/>
          </a:prstGeom>
        </p:spPr>
      </p:pic>
      <p:sp>
        <p:nvSpPr>
          <p:cNvPr id="7" name="Text 4"/>
          <p:cNvSpPr txBox="1"/>
          <p:nvPr/>
        </p:nvSpPr>
        <p:spPr>
          <a:xfrm>
            <a:off x="1477361" y="2190750"/>
            <a:ext cx="389623" cy="190500"/>
          </a:xfrm>
          <a:prstGeom prst="rect">
            <a:avLst/>
          </a:prstGeom>
          <a:noFill/>
          <a:ln/>
        </p:spPr>
        <p:txBody>
          <a:bodyPr wrap="square" lIns="0" tIns="0" rIns="0" bIns="0" rtlCol="0" anchor="ctr"/>
          <a:lstStyle/>
          <a:p>
            <a:pPr algn="ctr" defTabSz="685800"/>
            <a:r>
              <a:rPr lang="en-US" sz="1346" b="1" dirty="0">
                <a:solidFill>
                  <a:srgbClr val="68B8D9"/>
                </a:solidFill>
                <a:latin typeface="Segoe UI" pitchFamily="34" charset="0"/>
                <a:ea typeface="Segoe UI" pitchFamily="34" charset="-122"/>
                <a:cs typeface="Segoe UI" pitchFamily="34" charset="-120"/>
              </a:rPr>
              <a:t>Mine</a:t>
            </a:r>
            <a:endParaRPr lang="en-US" sz="1346" dirty="0">
              <a:solidFill>
                <a:prstClr val="black"/>
              </a:solidFill>
              <a:latin typeface="Calibri" panose="020F0502020204030204"/>
            </a:endParaRPr>
          </a:p>
        </p:txBody>
      </p:sp>
      <p:sp>
        <p:nvSpPr>
          <p:cNvPr id="8" name="Text 5"/>
          <p:cNvSpPr txBox="1"/>
          <p:nvPr/>
        </p:nvSpPr>
        <p:spPr>
          <a:xfrm>
            <a:off x="456057" y="2457450"/>
            <a:ext cx="2432304" cy="304800"/>
          </a:xfrm>
          <a:prstGeom prst="rect">
            <a:avLst/>
          </a:prstGeom>
          <a:noFill/>
          <a:ln/>
        </p:spPr>
        <p:txBody>
          <a:bodyPr wrap="square" lIns="0" tIns="0" rIns="0" bIns="0" rtlCol="0" anchor="ctr"/>
          <a:lstStyle/>
          <a:p>
            <a:pPr algn="ctr" defTabSz="685800"/>
            <a:r>
              <a:rPr lang="en-US" sz="898" dirty="0">
                <a:solidFill>
                  <a:srgbClr val="F0F8FF"/>
                </a:solidFill>
                <a:latin typeface="Century Gothic" pitchFamily="34" charset="0"/>
                <a:ea typeface="Century Gothic" pitchFamily="34" charset="-122"/>
                <a:cs typeface="Century Gothic" pitchFamily="34" charset="-120"/>
              </a:rPr>
              <a:t>Captures how decisions are made across your customer service operation</a:t>
            </a:r>
            <a:endParaRPr lang="en-US" sz="898" dirty="0">
              <a:solidFill>
                <a:prstClr val="black"/>
              </a:solidFill>
              <a:latin typeface="Calibri" panose="020F0502020204030204"/>
            </a:endParaRPr>
          </a:p>
        </p:txBody>
      </p:sp>
      <p:sp>
        <p:nvSpPr>
          <p:cNvPr id="9" name="Shape 6"/>
          <p:cNvSpPr/>
          <p:nvPr/>
        </p:nvSpPr>
        <p:spPr>
          <a:xfrm>
            <a:off x="3192399" y="1657350"/>
            <a:ext cx="2736342" cy="1257300"/>
          </a:xfrm>
          <a:prstGeom prst="roundRect">
            <a:avLst>
              <a:gd name="adj" fmla="val 495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pic>
        <p:nvPicPr>
          <p:cNvPr id="10" name="Image 1" descr="preencoded.png"/>
          <p:cNvPicPr>
            <a:picLocks noChangeAspect="1"/>
          </p:cNvPicPr>
          <p:nvPr/>
        </p:nvPicPr>
        <p:blipFill>
          <a:blip r:embed="rId4"/>
          <a:srcRect/>
          <a:stretch/>
        </p:blipFill>
        <p:spPr>
          <a:xfrm>
            <a:off x="4408551" y="1809750"/>
            <a:ext cx="304038" cy="304800"/>
          </a:xfrm>
          <a:prstGeom prst="rect">
            <a:avLst/>
          </a:prstGeom>
        </p:spPr>
      </p:pic>
      <p:sp>
        <p:nvSpPr>
          <p:cNvPr id="11" name="Text 7"/>
          <p:cNvSpPr txBox="1"/>
          <p:nvPr/>
        </p:nvSpPr>
        <p:spPr>
          <a:xfrm>
            <a:off x="4275461" y="2190750"/>
            <a:ext cx="570220" cy="190500"/>
          </a:xfrm>
          <a:prstGeom prst="rect">
            <a:avLst/>
          </a:prstGeom>
          <a:noFill/>
          <a:ln/>
        </p:spPr>
        <p:txBody>
          <a:bodyPr wrap="square" lIns="0" tIns="0" rIns="0" bIns="0" rtlCol="0" anchor="ctr"/>
          <a:lstStyle/>
          <a:p>
            <a:pPr algn="ctr" defTabSz="685800"/>
            <a:r>
              <a:rPr lang="en-US" sz="1346" b="1" dirty="0">
                <a:solidFill>
                  <a:srgbClr val="68B8D9"/>
                </a:solidFill>
                <a:latin typeface="Segoe UI" pitchFamily="34" charset="0"/>
                <a:ea typeface="Segoe UI" pitchFamily="34" charset="-122"/>
                <a:cs typeface="Segoe UI" pitchFamily="34" charset="-120"/>
              </a:rPr>
              <a:t>Design</a:t>
            </a:r>
            <a:endParaRPr lang="en-US" sz="1346" dirty="0">
              <a:solidFill>
                <a:prstClr val="black"/>
              </a:solidFill>
              <a:latin typeface="Calibri" panose="020F0502020204030204"/>
            </a:endParaRPr>
          </a:p>
        </p:txBody>
      </p:sp>
      <p:sp>
        <p:nvSpPr>
          <p:cNvPr id="12" name="Text 8"/>
          <p:cNvSpPr txBox="1"/>
          <p:nvPr/>
        </p:nvSpPr>
        <p:spPr>
          <a:xfrm>
            <a:off x="3344418" y="2457450"/>
            <a:ext cx="2432304" cy="304800"/>
          </a:xfrm>
          <a:prstGeom prst="rect">
            <a:avLst/>
          </a:prstGeom>
          <a:noFill/>
          <a:ln/>
        </p:spPr>
        <p:txBody>
          <a:bodyPr wrap="square" lIns="0" tIns="0" rIns="0" bIns="0" rtlCol="0" anchor="ctr"/>
          <a:lstStyle/>
          <a:p>
            <a:pPr algn="ctr" defTabSz="685800"/>
            <a:r>
              <a:rPr lang="en-US" sz="898" dirty="0">
                <a:solidFill>
                  <a:srgbClr val="F0F8FF"/>
                </a:solidFill>
                <a:latin typeface="Century Gothic" pitchFamily="34" charset="0"/>
                <a:ea typeface="Century Gothic" pitchFamily="34" charset="-122"/>
                <a:cs typeface="Century Gothic" pitchFamily="34" charset="-120"/>
              </a:rPr>
              <a:t>Helps you design better processes and agent workflows</a:t>
            </a:r>
            <a:endParaRPr lang="en-US" sz="898" dirty="0">
              <a:solidFill>
                <a:prstClr val="black"/>
              </a:solidFill>
              <a:latin typeface="Calibri" panose="020F0502020204030204"/>
            </a:endParaRPr>
          </a:p>
        </p:txBody>
      </p:sp>
      <p:sp>
        <p:nvSpPr>
          <p:cNvPr id="13" name="Shape 9"/>
          <p:cNvSpPr/>
          <p:nvPr/>
        </p:nvSpPr>
        <p:spPr>
          <a:xfrm>
            <a:off x="6080760" y="1657350"/>
            <a:ext cx="2736342" cy="1257300"/>
          </a:xfrm>
          <a:prstGeom prst="roundRect">
            <a:avLst>
              <a:gd name="adj" fmla="val 495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pic>
        <p:nvPicPr>
          <p:cNvPr id="14" name="Image 2" descr="preencoded.png"/>
          <p:cNvPicPr>
            <a:picLocks noChangeAspect="1"/>
          </p:cNvPicPr>
          <p:nvPr/>
        </p:nvPicPr>
        <p:blipFill>
          <a:blip r:embed="rId5"/>
          <a:srcRect/>
          <a:stretch/>
        </p:blipFill>
        <p:spPr>
          <a:xfrm>
            <a:off x="7296912" y="1809750"/>
            <a:ext cx="304038" cy="304800"/>
          </a:xfrm>
          <a:prstGeom prst="rect">
            <a:avLst/>
          </a:prstGeom>
        </p:spPr>
      </p:pic>
      <p:sp>
        <p:nvSpPr>
          <p:cNvPr id="15" name="Text 10"/>
          <p:cNvSpPr txBox="1"/>
          <p:nvPr/>
        </p:nvSpPr>
        <p:spPr>
          <a:xfrm>
            <a:off x="7130493" y="2190750"/>
            <a:ext cx="636803" cy="190500"/>
          </a:xfrm>
          <a:prstGeom prst="rect">
            <a:avLst/>
          </a:prstGeom>
          <a:noFill/>
          <a:ln/>
        </p:spPr>
        <p:txBody>
          <a:bodyPr wrap="square" lIns="0" tIns="0" rIns="0" bIns="0" rtlCol="0" anchor="ctr"/>
          <a:lstStyle/>
          <a:p>
            <a:pPr algn="ctr" defTabSz="685800"/>
            <a:r>
              <a:rPr lang="en-US" sz="1346" b="1" dirty="0">
                <a:solidFill>
                  <a:srgbClr val="68B8D9"/>
                </a:solidFill>
                <a:latin typeface="Segoe UI" pitchFamily="34" charset="0"/>
                <a:ea typeface="Segoe UI" pitchFamily="34" charset="-122"/>
                <a:cs typeface="Segoe UI" pitchFamily="34" charset="-120"/>
              </a:rPr>
              <a:t>Manage</a:t>
            </a:r>
            <a:endParaRPr lang="en-US" sz="1346" dirty="0">
              <a:solidFill>
                <a:prstClr val="black"/>
              </a:solidFill>
              <a:latin typeface="Calibri" panose="020F0502020204030204"/>
            </a:endParaRPr>
          </a:p>
        </p:txBody>
      </p:sp>
      <p:sp>
        <p:nvSpPr>
          <p:cNvPr id="16" name="Text 11"/>
          <p:cNvSpPr txBox="1"/>
          <p:nvPr/>
        </p:nvSpPr>
        <p:spPr>
          <a:xfrm>
            <a:off x="6232779" y="2457450"/>
            <a:ext cx="2432304" cy="304800"/>
          </a:xfrm>
          <a:prstGeom prst="rect">
            <a:avLst/>
          </a:prstGeom>
          <a:noFill/>
          <a:ln/>
        </p:spPr>
        <p:txBody>
          <a:bodyPr wrap="square" lIns="0" tIns="0" rIns="0" bIns="0" rtlCol="0" anchor="ctr"/>
          <a:lstStyle/>
          <a:p>
            <a:pPr algn="ctr" defTabSz="685800"/>
            <a:r>
              <a:rPr lang="en-US" sz="898" dirty="0">
                <a:solidFill>
                  <a:srgbClr val="F0F8FF"/>
                </a:solidFill>
                <a:latin typeface="Century Gothic" pitchFamily="34" charset="0"/>
                <a:ea typeface="Century Gothic" pitchFamily="34" charset="-122"/>
                <a:cs typeface="Century Gothic" pitchFamily="34" charset="-120"/>
              </a:rPr>
              <a:t>Continuously monitors and improves with governance guardrails</a:t>
            </a:r>
            <a:endParaRPr lang="en-US" sz="898" dirty="0">
              <a:solidFill>
                <a:prstClr val="black"/>
              </a:solidFill>
              <a:latin typeface="Calibri" panose="020F0502020204030204"/>
            </a:endParaRPr>
          </a:p>
        </p:txBody>
      </p:sp>
      <p:sp>
        <p:nvSpPr>
          <p:cNvPr id="17" name="Text 12"/>
          <p:cNvSpPr txBox="1"/>
          <p:nvPr/>
        </p:nvSpPr>
        <p:spPr>
          <a:xfrm>
            <a:off x="304038" y="3105150"/>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Key Differentiators</a:t>
            </a:r>
            <a:endParaRPr lang="en-US" sz="1346" dirty="0">
              <a:solidFill>
                <a:prstClr val="black"/>
              </a:solidFill>
              <a:latin typeface="Calibri" panose="020F0502020204030204"/>
            </a:endParaRPr>
          </a:p>
        </p:txBody>
      </p:sp>
      <p:sp>
        <p:nvSpPr>
          <p:cNvPr id="18" name="Text 13"/>
          <p:cNvSpPr txBox="1"/>
          <p:nvPr/>
        </p:nvSpPr>
        <p:spPr>
          <a:xfrm>
            <a:off x="304038" y="34099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Executive-Friendly:</a:t>
            </a:r>
            <a:r>
              <a:rPr lang="en-US" sz="1122" dirty="0">
                <a:solidFill>
                  <a:srgbClr val="F0F8FF"/>
                </a:solidFill>
                <a:latin typeface="Century Gothic" pitchFamily="34" charset="0"/>
                <a:ea typeface="Century Gothic" pitchFamily="34" charset="-122"/>
                <a:cs typeface="Century Gothic" pitchFamily="34" charset="-120"/>
              </a:rPr>
              <a:t> Natural language interface, no technical training required</a:t>
            </a:r>
            <a:endParaRPr lang="en-US" sz="1122" dirty="0">
              <a:solidFill>
                <a:prstClr val="black"/>
              </a:solidFill>
              <a:latin typeface="Calibri" panose="020F0502020204030204"/>
            </a:endParaRPr>
          </a:p>
        </p:txBody>
      </p:sp>
      <p:sp>
        <p:nvSpPr>
          <p:cNvPr id="19" name="Text 14"/>
          <p:cNvSpPr txBox="1"/>
          <p:nvPr/>
        </p:nvSpPr>
        <p:spPr>
          <a:xfrm>
            <a:off x="304038" y="36385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Fast Time-to-Value:</a:t>
            </a:r>
            <a:r>
              <a:rPr lang="en-US" sz="1122" dirty="0">
                <a:solidFill>
                  <a:srgbClr val="F0F8FF"/>
                </a:solidFill>
                <a:latin typeface="Century Gothic" pitchFamily="34" charset="0"/>
                <a:ea typeface="Century Gothic" pitchFamily="34" charset="-122"/>
                <a:cs typeface="Century Gothic" pitchFamily="34" charset="-120"/>
              </a:rPr>
              <a:t> Start free, get insights immediately (Mine in days, not months)</a:t>
            </a:r>
            <a:endParaRPr lang="en-US" sz="1122" dirty="0">
              <a:solidFill>
                <a:prstClr val="black"/>
              </a:solidFill>
              <a:latin typeface="Calibri" panose="020F0502020204030204"/>
            </a:endParaRPr>
          </a:p>
        </p:txBody>
      </p:sp>
      <p:sp>
        <p:nvSpPr>
          <p:cNvPr id="20" name="Text 15"/>
          <p:cNvSpPr txBox="1"/>
          <p:nvPr/>
        </p:nvSpPr>
        <p:spPr>
          <a:xfrm>
            <a:off x="304038" y="38671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AI-Native:</a:t>
            </a:r>
            <a:r>
              <a:rPr lang="en-US" sz="1122" dirty="0">
                <a:solidFill>
                  <a:srgbClr val="F0F8FF"/>
                </a:solidFill>
                <a:latin typeface="Century Gothic" pitchFamily="34" charset="0"/>
                <a:ea typeface="Century Gothic" pitchFamily="34" charset="-122"/>
                <a:cs typeface="Century Gothic" pitchFamily="34" charset="-120"/>
              </a:rPr>
              <a:t> Continuously learns and improves from usage patterns and outcomes</a:t>
            </a:r>
            <a:endParaRPr lang="en-US" sz="1122" dirty="0">
              <a:solidFill>
                <a:prstClr val="black"/>
              </a:solidFill>
              <a:latin typeface="Calibri" panose="020F0502020204030204"/>
            </a:endParaRPr>
          </a:p>
        </p:txBody>
      </p:sp>
      <p:sp>
        <p:nvSpPr>
          <p:cNvPr id="21" name="Text 16"/>
          <p:cNvSpPr txBox="1"/>
          <p:nvPr/>
        </p:nvSpPr>
        <p:spPr>
          <a:xfrm>
            <a:off x="304038" y="4095750"/>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Platform Independent:</a:t>
            </a:r>
            <a:r>
              <a:rPr lang="en-US" sz="1122" dirty="0">
                <a:solidFill>
                  <a:srgbClr val="F0F8FF"/>
                </a:solidFill>
                <a:latin typeface="Century Gothic" pitchFamily="34" charset="0"/>
                <a:ea typeface="Century Gothic" pitchFamily="34" charset="-122"/>
                <a:cs typeface="Century Gothic" pitchFamily="34" charset="-120"/>
              </a:rPr>
              <a:t> Works across Salesforce, Zendesk, and any customer service system</a:t>
            </a:r>
            <a:endParaRPr lang="en-US" sz="1122" dirty="0">
              <a:solidFill>
                <a:prstClr val="black"/>
              </a:solidFill>
              <a:latin typeface="Calibri" panose="020F0502020204030204"/>
            </a:endParaRPr>
          </a:p>
        </p:txBody>
      </p:sp>
      <p:sp>
        <p:nvSpPr>
          <p:cNvPr id="22" name="Text 17"/>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5</a:t>
            </a:r>
            <a:endParaRPr lang="en-US" sz="898" dirty="0">
              <a:solidFill>
                <a:prstClr val="black"/>
              </a:solidFill>
              <a:latin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Four-Module Monetization Journey</a:t>
            </a:r>
            <a:endParaRPr lang="en-US" sz="2245" dirty="0">
              <a:solidFill>
                <a:prstClr val="black"/>
              </a:solidFill>
              <a:latin typeface="Calibri" panose="020F0502020204030204"/>
            </a:endParaRPr>
          </a:p>
        </p:txBody>
      </p:sp>
      <p:sp>
        <p:nvSpPr>
          <p:cNvPr id="4" name="Text 2"/>
          <p:cNvSpPr txBox="1"/>
          <p:nvPr/>
        </p:nvSpPr>
        <p:spPr>
          <a:xfrm>
            <a:off x="418052" y="1771650"/>
            <a:ext cx="997328"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Module</a:t>
            </a:r>
            <a:endParaRPr lang="en-US" sz="1122" dirty="0">
              <a:solidFill>
                <a:prstClr val="black"/>
              </a:solidFill>
              <a:latin typeface="Calibri" panose="020F0502020204030204"/>
            </a:endParaRPr>
          </a:p>
        </p:txBody>
      </p:sp>
      <p:sp>
        <p:nvSpPr>
          <p:cNvPr id="5" name="Text 3"/>
          <p:cNvSpPr txBox="1"/>
          <p:nvPr/>
        </p:nvSpPr>
        <p:spPr>
          <a:xfrm>
            <a:off x="1643408" y="1771650"/>
            <a:ext cx="3252078"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Purpose</a:t>
            </a:r>
            <a:endParaRPr lang="en-US" sz="1122" dirty="0">
              <a:solidFill>
                <a:prstClr val="black"/>
              </a:solidFill>
              <a:latin typeface="Calibri" panose="020F0502020204030204"/>
            </a:endParaRPr>
          </a:p>
        </p:txBody>
      </p:sp>
      <p:sp>
        <p:nvSpPr>
          <p:cNvPr id="6" name="Text 4"/>
          <p:cNvSpPr txBox="1"/>
          <p:nvPr/>
        </p:nvSpPr>
        <p:spPr>
          <a:xfrm>
            <a:off x="5123516" y="1771650"/>
            <a:ext cx="1378934"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Price</a:t>
            </a:r>
            <a:endParaRPr lang="en-US" sz="1122" dirty="0">
              <a:solidFill>
                <a:prstClr val="black"/>
              </a:solidFill>
              <a:latin typeface="Calibri" panose="020F0502020204030204"/>
            </a:endParaRPr>
          </a:p>
        </p:txBody>
      </p:sp>
      <p:sp>
        <p:nvSpPr>
          <p:cNvPr id="7" name="Text 5"/>
          <p:cNvSpPr txBox="1"/>
          <p:nvPr/>
        </p:nvSpPr>
        <p:spPr>
          <a:xfrm>
            <a:off x="6730478" y="1771650"/>
            <a:ext cx="1972610"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Users</a:t>
            </a:r>
            <a:endParaRPr lang="en-US" sz="1122" dirty="0">
              <a:solidFill>
                <a:prstClr val="black"/>
              </a:solidFill>
              <a:latin typeface="Calibri" panose="020F0502020204030204"/>
            </a:endParaRPr>
          </a:p>
        </p:txBody>
      </p:sp>
      <p:sp>
        <p:nvSpPr>
          <p:cNvPr id="8" name="Text 6"/>
          <p:cNvSpPr txBox="1"/>
          <p:nvPr/>
        </p:nvSpPr>
        <p:spPr>
          <a:xfrm>
            <a:off x="418052" y="2171700"/>
            <a:ext cx="997328"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Explore</a:t>
            </a:r>
            <a:endParaRPr lang="en-US" sz="1122" dirty="0">
              <a:solidFill>
                <a:prstClr val="black"/>
              </a:solidFill>
              <a:latin typeface="Calibri" panose="020F0502020204030204"/>
            </a:endParaRPr>
          </a:p>
        </p:txBody>
      </p:sp>
      <p:sp>
        <p:nvSpPr>
          <p:cNvPr id="9" name="Text 7"/>
          <p:cNvSpPr txBox="1"/>
          <p:nvPr/>
        </p:nvSpPr>
        <p:spPr>
          <a:xfrm>
            <a:off x="1643408" y="2181225"/>
            <a:ext cx="3252078"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Build user base, education</a:t>
            </a:r>
            <a:endParaRPr lang="en-US" sz="898" dirty="0">
              <a:solidFill>
                <a:prstClr val="black"/>
              </a:solidFill>
              <a:latin typeface="Calibri" panose="020F0502020204030204"/>
            </a:endParaRPr>
          </a:p>
        </p:txBody>
      </p:sp>
      <p:sp>
        <p:nvSpPr>
          <p:cNvPr id="10" name="Text 8"/>
          <p:cNvSpPr txBox="1"/>
          <p:nvPr/>
        </p:nvSpPr>
        <p:spPr>
          <a:xfrm>
            <a:off x="5123516" y="2181225"/>
            <a:ext cx="1378934"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Free</a:t>
            </a:r>
            <a:endParaRPr lang="en-US" sz="898" dirty="0">
              <a:solidFill>
                <a:prstClr val="black"/>
              </a:solidFill>
              <a:latin typeface="Calibri" panose="020F0502020204030204"/>
            </a:endParaRPr>
          </a:p>
        </p:txBody>
      </p:sp>
      <p:sp>
        <p:nvSpPr>
          <p:cNvPr id="11" name="Text 9"/>
          <p:cNvSpPr txBox="1"/>
          <p:nvPr/>
        </p:nvSpPr>
        <p:spPr>
          <a:xfrm>
            <a:off x="6730478" y="2181225"/>
            <a:ext cx="1972610"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Individual Contributors</a:t>
            </a:r>
            <a:endParaRPr lang="en-US" sz="898" dirty="0">
              <a:solidFill>
                <a:prstClr val="black"/>
              </a:solidFill>
              <a:latin typeface="Calibri" panose="020F0502020204030204"/>
            </a:endParaRPr>
          </a:p>
        </p:txBody>
      </p:sp>
      <p:sp>
        <p:nvSpPr>
          <p:cNvPr id="12" name="Text 10"/>
          <p:cNvSpPr txBox="1"/>
          <p:nvPr/>
        </p:nvSpPr>
        <p:spPr>
          <a:xfrm>
            <a:off x="418052" y="2576513"/>
            <a:ext cx="997328"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Mine</a:t>
            </a:r>
            <a:endParaRPr lang="en-US" sz="1122" dirty="0">
              <a:solidFill>
                <a:prstClr val="black"/>
              </a:solidFill>
              <a:latin typeface="Calibri" panose="020F0502020204030204"/>
            </a:endParaRPr>
          </a:p>
        </p:txBody>
      </p:sp>
      <p:sp>
        <p:nvSpPr>
          <p:cNvPr id="13" name="Text 11"/>
          <p:cNvSpPr txBox="1"/>
          <p:nvPr/>
        </p:nvSpPr>
        <p:spPr>
          <a:xfrm>
            <a:off x="1643408" y="2586038"/>
            <a:ext cx="3252078"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Baseline understanding, quick wins</a:t>
            </a:r>
            <a:endParaRPr lang="en-US" sz="898" dirty="0">
              <a:solidFill>
                <a:prstClr val="black"/>
              </a:solidFill>
              <a:latin typeface="Calibri" panose="020F0502020204030204"/>
            </a:endParaRPr>
          </a:p>
        </p:txBody>
      </p:sp>
      <p:sp>
        <p:nvSpPr>
          <p:cNvPr id="14" name="Text 12"/>
          <p:cNvSpPr txBox="1"/>
          <p:nvPr/>
        </p:nvSpPr>
        <p:spPr>
          <a:xfrm>
            <a:off x="5123516" y="2586038"/>
            <a:ext cx="1378934"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$10K-$50K</a:t>
            </a:r>
            <a:endParaRPr lang="en-US" sz="898" dirty="0">
              <a:solidFill>
                <a:prstClr val="black"/>
              </a:solidFill>
              <a:latin typeface="Calibri" panose="020F0502020204030204"/>
            </a:endParaRPr>
          </a:p>
        </p:txBody>
      </p:sp>
      <p:sp>
        <p:nvSpPr>
          <p:cNvPr id="15" name="Text 13"/>
          <p:cNvSpPr txBox="1"/>
          <p:nvPr/>
        </p:nvSpPr>
        <p:spPr>
          <a:xfrm>
            <a:off x="6730478" y="2586038"/>
            <a:ext cx="1972610"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Directors, VPs</a:t>
            </a:r>
            <a:endParaRPr lang="en-US" sz="898" dirty="0">
              <a:solidFill>
                <a:prstClr val="black"/>
              </a:solidFill>
              <a:latin typeface="Calibri" panose="020F0502020204030204"/>
            </a:endParaRPr>
          </a:p>
        </p:txBody>
      </p:sp>
      <p:sp>
        <p:nvSpPr>
          <p:cNvPr id="16" name="Text 14"/>
          <p:cNvSpPr txBox="1"/>
          <p:nvPr/>
        </p:nvSpPr>
        <p:spPr>
          <a:xfrm>
            <a:off x="418052" y="2981325"/>
            <a:ext cx="997328"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Design</a:t>
            </a:r>
            <a:endParaRPr lang="en-US" sz="1122" dirty="0">
              <a:solidFill>
                <a:prstClr val="black"/>
              </a:solidFill>
              <a:latin typeface="Calibri" panose="020F0502020204030204"/>
            </a:endParaRPr>
          </a:p>
        </p:txBody>
      </p:sp>
      <p:sp>
        <p:nvSpPr>
          <p:cNvPr id="17" name="Text 15"/>
          <p:cNvSpPr txBox="1"/>
          <p:nvPr/>
        </p:nvSpPr>
        <p:spPr>
          <a:xfrm>
            <a:off x="1643408" y="2990850"/>
            <a:ext cx="3252078"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AI-readiness plan, roadmap</a:t>
            </a:r>
            <a:endParaRPr lang="en-US" sz="898" dirty="0">
              <a:solidFill>
                <a:prstClr val="black"/>
              </a:solidFill>
              <a:latin typeface="Calibri" panose="020F0502020204030204"/>
            </a:endParaRPr>
          </a:p>
        </p:txBody>
      </p:sp>
      <p:sp>
        <p:nvSpPr>
          <p:cNvPr id="18" name="Text 16"/>
          <p:cNvSpPr txBox="1"/>
          <p:nvPr/>
        </p:nvSpPr>
        <p:spPr>
          <a:xfrm>
            <a:off x="5123516" y="2990850"/>
            <a:ext cx="1378934"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$25K-$100K</a:t>
            </a:r>
            <a:endParaRPr lang="en-US" sz="898" dirty="0">
              <a:solidFill>
                <a:prstClr val="black"/>
              </a:solidFill>
              <a:latin typeface="Calibri" panose="020F0502020204030204"/>
            </a:endParaRPr>
          </a:p>
        </p:txBody>
      </p:sp>
      <p:sp>
        <p:nvSpPr>
          <p:cNvPr id="19" name="Text 17"/>
          <p:cNvSpPr txBox="1"/>
          <p:nvPr/>
        </p:nvSpPr>
        <p:spPr>
          <a:xfrm>
            <a:off x="6730478" y="2990850"/>
            <a:ext cx="1972610"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VPs, C-Suite</a:t>
            </a:r>
            <a:endParaRPr lang="en-US" sz="898" dirty="0">
              <a:solidFill>
                <a:prstClr val="black"/>
              </a:solidFill>
              <a:latin typeface="Calibri" panose="020F0502020204030204"/>
            </a:endParaRPr>
          </a:p>
        </p:txBody>
      </p:sp>
      <p:sp>
        <p:nvSpPr>
          <p:cNvPr id="20" name="Text 18"/>
          <p:cNvSpPr txBox="1"/>
          <p:nvPr/>
        </p:nvSpPr>
        <p:spPr>
          <a:xfrm>
            <a:off x="418052" y="3386138"/>
            <a:ext cx="997328"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Manage</a:t>
            </a:r>
            <a:endParaRPr lang="en-US" sz="1122" dirty="0">
              <a:solidFill>
                <a:prstClr val="black"/>
              </a:solidFill>
              <a:latin typeface="Calibri" panose="020F0502020204030204"/>
            </a:endParaRPr>
          </a:p>
        </p:txBody>
      </p:sp>
      <p:sp>
        <p:nvSpPr>
          <p:cNvPr id="21" name="Text 19"/>
          <p:cNvSpPr txBox="1"/>
          <p:nvPr/>
        </p:nvSpPr>
        <p:spPr>
          <a:xfrm>
            <a:off x="1643408" y="3395663"/>
            <a:ext cx="3252078"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Continuous improvement, governance</a:t>
            </a:r>
            <a:endParaRPr lang="en-US" sz="898" dirty="0">
              <a:solidFill>
                <a:prstClr val="black"/>
              </a:solidFill>
              <a:latin typeface="Calibri" panose="020F0502020204030204"/>
            </a:endParaRPr>
          </a:p>
        </p:txBody>
      </p:sp>
      <p:sp>
        <p:nvSpPr>
          <p:cNvPr id="22" name="Text 20"/>
          <p:cNvSpPr txBox="1"/>
          <p:nvPr/>
        </p:nvSpPr>
        <p:spPr>
          <a:xfrm>
            <a:off x="5123516" y="3395663"/>
            <a:ext cx="1378934"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$500-$50K/mo</a:t>
            </a:r>
            <a:endParaRPr lang="en-US" sz="898" dirty="0">
              <a:solidFill>
                <a:prstClr val="black"/>
              </a:solidFill>
              <a:latin typeface="Calibri" panose="020F0502020204030204"/>
            </a:endParaRPr>
          </a:p>
        </p:txBody>
      </p:sp>
      <p:sp>
        <p:nvSpPr>
          <p:cNvPr id="23" name="Text 21"/>
          <p:cNvSpPr txBox="1"/>
          <p:nvPr/>
        </p:nvSpPr>
        <p:spPr>
          <a:xfrm>
            <a:off x="6730478" y="3395663"/>
            <a:ext cx="1972610"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C-Suite, Operations</a:t>
            </a:r>
            <a:endParaRPr lang="en-US" sz="898" dirty="0">
              <a:solidFill>
                <a:prstClr val="black"/>
              </a:solidFill>
              <a:latin typeface="Calibri" panose="020F0502020204030204"/>
            </a:endParaRPr>
          </a:p>
        </p:txBody>
      </p:sp>
      <p:sp>
        <p:nvSpPr>
          <p:cNvPr id="24" name="Text 22"/>
          <p:cNvSpPr txBox="1"/>
          <p:nvPr/>
        </p:nvSpPr>
        <p:spPr>
          <a:xfrm>
            <a:off x="304038" y="3905250"/>
            <a:ext cx="8513064" cy="171450"/>
          </a:xfrm>
          <a:prstGeom prst="rect">
            <a:avLst/>
          </a:prstGeom>
          <a:noFill/>
          <a:ln/>
        </p:spPr>
        <p:txBody>
          <a:bodyPr wrap="square" lIns="0" tIns="0" rIns="0" bIns="0" rtlCol="0" anchor="ctr"/>
          <a:lstStyle/>
          <a:p>
            <a:pPr algn="ctr" defTabSz="685800"/>
            <a:r>
              <a:rPr lang="en-US" sz="1122" b="1" dirty="0">
                <a:solidFill>
                  <a:srgbClr val="F0F8FF"/>
                </a:solidFill>
                <a:latin typeface="Century Gothic" pitchFamily="34" charset="0"/>
                <a:ea typeface="Century Gothic" pitchFamily="34" charset="-122"/>
                <a:cs typeface="Century Gothic" pitchFamily="34" charset="-120"/>
              </a:rPr>
              <a:t>Result:</a:t>
            </a:r>
            <a:r>
              <a:rPr lang="en-US" sz="1122" dirty="0">
                <a:solidFill>
                  <a:srgbClr val="F0F8FF"/>
                </a:solidFill>
                <a:latin typeface="Century Gothic" pitchFamily="34" charset="0"/>
                <a:ea typeface="Century Gothic" pitchFamily="34" charset="-122"/>
                <a:cs typeface="Century Gothic" pitchFamily="34" charset="-120"/>
              </a:rPr>
              <a:t> 2% freemium conversion → 50K+ free users → </a:t>
            </a:r>
            <a:r>
              <a:rPr lang="en-US" sz="1122" b="1" dirty="0">
                <a:solidFill>
                  <a:srgbClr val="68B8D9"/>
                </a:solidFill>
                <a:latin typeface="Century Gothic" pitchFamily="34" charset="0"/>
                <a:ea typeface="Century Gothic" pitchFamily="34" charset="-122"/>
                <a:cs typeface="Century Gothic" pitchFamily="34" charset="-120"/>
              </a:rPr>
              <a:t>$1-2M Y1 ARR</a:t>
            </a:r>
            <a:endParaRPr lang="en-US" sz="1122" dirty="0">
              <a:solidFill>
                <a:prstClr val="black"/>
              </a:solidFill>
              <a:latin typeface="Calibri" panose="020F0502020204030204"/>
            </a:endParaRPr>
          </a:p>
        </p:txBody>
      </p:sp>
      <p:sp>
        <p:nvSpPr>
          <p:cNvPr id="25" name="Text 23"/>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6</a:t>
            </a:r>
            <a:endParaRPr lang="en-US" sz="898" dirty="0">
              <a:solidFill>
                <a:prstClr val="black"/>
              </a:solidFill>
              <a:latin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The Unfair Advantage</a:t>
            </a:r>
            <a:endParaRPr lang="en-US" sz="2245" dirty="0">
              <a:solidFill>
                <a:prstClr val="black"/>
              </a:solidFill>
              <a:latin typeface="Calibri" panose="020F0502020204030204"/>
            </a:endParaRPr>
          </a:p>
        </p:txBody>
      </p:sp>
      <p:sp>
        <p:nvSpPr>
          <p:cNvPr id="4" name="Text 2"/>
          <p:cNvSpPr txBox="1"/>
          <p:nvPr/>
        </p:nvSpPr>
        <p:spPr>
          <a:xfrm>
            <a:off x="304038" y="16859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Four Interconnected Advantages</a:t>
            </a:r>
            <a:endParaRPr lang="en-US" sz="1346" dirty="0">
              <a:solidFill>
                <a:prstClr val="black"/>
              </a:solidFill>
              <a:latin typeface="Calibri" panose="020F0502020204030204"/>
            </a:endParaRPr>
          </a:p>
        </p:txBody>
      </p:sp>
      <p:sp>
        <p:nvSpPr>
          <p:cNvPr id="5" name="Text 3"/>
          <p:cNvSpPr txBox="1"/>
          <p:nvPr/>
        </p:nvSpPr>
        <p:spPr>
          <a:xfrm>
            <a:off x="304038" y="1990725"/>
            <a:ext cx="8513064" cy="190500"/>
          </a:xfrm>
          <a:prstGeom prst="rect">
            <a:avLst/>
          </a:prstGeom>
          <a:noFill/>
          <a:ln/>
        </p:spPr>
        <p:txBody>
          <a:bodyPr wrap="square" lIns="0" tIns="0" rIns="0" bIns="0" rtlCol="0" anchor="ctr"/>
          <a:lstStyle/>
          <a:p>
            <a:pPr defTabSz="685800"/>
            <a:r>
              <a:rPr lang="en-US" sz="1346" b="1" dirty="0">
                <a:solidFill>
                  <a:srgbClr val="68B8D9"/>
                </a:solidFill>
                <a:latin typeface="Century Gothic" pitchFamily="34" charset="0"/>
                <a:ea typeface="Century Gothic" pitchFamily="34" charset="-122"/>
                <a:cs typeface="Century Gothic" pitchFamily="34" charset="-120"/>
              </a:rPr>
              <a:t>1.</a:t>
            </a:r>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AI-Native Architecture:</a:t>
            </a:r>
            <a:r>
              <a:rPr lang="en-US" sz="1122" dirty="0">
                <a:solidFill>
                  <a:srgbClr val="F0F8FF"/>
                </a:solidFill>
                <a:latin typeface="Century Gothic" pitchFamily="34" charset="0"/>
                <a:ea typeface="Century Gothic" pitchFamily="34" charset="-122"/>
                <a:cs typeface="Century Gothic" pitchFamily="34" charset="-120"/>
              </a:rPr>
              <a:t> Every component AI-driven = simplified deployment + experiences competitors can't match</a:t>
            </a:r>
            <a:endParaRPr lang="en-US" sz="1346" dirty="0">
              <a:solidFill>
                <a:prstClr val="black"/>
              </a:solidFill>
              <a:latin typeface="Calibri" panose="020F0502020204030204"/>
            </a:endParaRPr>
          </a:p>
        </p:txBody>
      </p:sp>
      <p:sp>
        <p:nvSpPr>
          <p:cNvPr id="6" name="Text 4"/>
          <p:cNvSpPr txBox="1"/>
          <p:nvPr/>
        </p:nvSpPr>
        <p:spPr>
          <a:xfrm>
            <a:off x="304038" y="2257425"/>
            <a:ext cx="8513064" cy="190500"/>
          </a:xfrm>
          <a:prstGeom prst="rect">
            <a:avLst/>
          </a:prstGeom>
          <a:noFill/>
          <a:ln/>
        </p:spPr>
        <p:txBody>
          <a:bodyPr wrap="square" lIns="0" tIns="0" rIns="0" bIns="0" rtlCol="0" anchor="ctr"/>
          <a:lstStyle/>
          <a:p>
            <a:pPr defTabSz="685800"/>
            <a:r>
              <a:rPr lang="en-US" sz="1346" b="1" dirty="0">
                <a:solidFill>
                  <a:srgbClr val="68B8D9"/>
                </a:solidFill>
                <a:latin typeface="Century Gothic" pitchFamily="34" charset="0"/>
                <a:ea typeface="Century Gothic" pitchFamily="34" charset="-122"/>
                <a:cs typeface="Century Gothic" pitchFamily="34" charset="-120"/>
              </a:rPr>
              <a:t>2.</a:t>
            </a:r>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Platform Independence:</a:t>
            </a:r>
            <a:r>
              <a:rPr lang="en-US" sz="1122" dirty="0">
                <a:solidFill>
                  <a:srgbClr val="F0F8FF"/>
                </a:solidFill>
                <a:latin typeface="Century Gothic" pitchFamily="34" charset="0"/>
                <a:ea typeface="Century Gothic" pitchFamily="34" charset="-122"/>
                <a:cs typeface="Century Gothic" pitchFamily="34" charset="-120"/>
              </a:rPr>
              <a:t> Multi-platform aware, unbiased, vendor-neutral position (customers maintain optionality)</a:t>
            </a:r>
            <a:endParaRPr lang="en-US" sz="1346" dirty="0">
              <a:solidFill>
                <a:prstClr val="black"/>
              </a:solidFill>
              <a:latin typeface="Calibri" panose="020F0502020204030204"/>
            </a:endParaRPr>
          </a:p>
        </p:txBody>
      </p:sp>
      <p:sp>
        <p:nvSpPr>
          <p:cNvPr id="7" name="Text 5"/>
          <p:cNvSpPr txBox="1"/>
          <p:nvPr/>
        </p:nvSpPr>
        <p:spPr>
          <a:xfrm>
            <a:off x="304038" y="2524125"/>
            <a:ext cx="8513064" cy="190500"/>
          </a:xfrm>
          <a:prstGeom prst="rect">
            <a:avLst/>
          </a:prstGeom>
          <a:noFill/>
          <a:ln/>
        </p:spPr>
        <p:txBody>
          <a:bodyPr wrap="square" lIns="0" tIns="0" rIns="0" bIns="0" rtlCol="0" anchor="ctr"/>
          <a:lstStyle/>
          <a:p>
            <a:pPr defTabSz="685800"/>
            <a:r>
              <a:rPr lang="en-US" sz="1346" b="1" dirty="0">
                <a:solidFill>
                  <a:srgbClr val="68B8D9"/>
                </a:solidFill>
                <a:latin typeface="Century Gothic" pitchFamily="34" charset="0"/>
                <a:ea typeface="Century Gothic" pitchFamily="34" charset="-122"/>
                <a:cs typeface="Century Gothic" pitchFamily="34" charset="-120"/>
              </a:rPr>
              <a:t>3.</a:t>
            </a:r>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Data Network Effects:</a:t>
            </a:r>
            <a:r>
              <a:rPr lang="en-US" sz="1122" dirty="0">
                <a:solidFill>
                  <a:srgbClr val="F0F8FF"/>
                </a:solidFill>
                <a:latin typeface="Century Gothic" pitchFamily="34" charset="0"/>
                <a:ea typeface="Century Gothic" pitchFamily="34" charset="-122"/>
                <a:cs typeface="Century Gothic" pitchFamily="34" charset="-120"/>
              </a:rPr>
              <a:t> Fleet learning + peer benchmarks from customer segment = true network effects moat</a:t>
            </a:r>
            <a:endParaRPr lang="en-US" sz="1346" dirty="0">
              <a:solidFill>
                <a:prstClr val="black"/>
              </a:solidFill>
              <a:latin typeface="Calibri" panose="020F0502020204030204"/>
            </a:endParaRPr>
          </a:p>
        </p:txBody>
      </p:sp>
      <p:sp>
        <p:nvSpPr>
          <p:cNvPr id="8" name="Text 6"/>
          <p:cNvSpPr txBox="1"/>
          <p:nvPr/>
        </p:nvSpPr>
        <p:spPr>
          <a:xfrm>
            <a:off x="304038" y="2790825"/>
            <a:ext cx="8513064" cy="190500"/>
          </a:xfrm>
          <a:prstGeom prst="rect">
            <a:avLst/>
          </a:prstGeom>
          <a:noFill/>
          <a:ln/>
        </p:spPr>
        <p:txBody>
          <a:bodyPr wrap="square" lIns="0" tIns="0" rIns="0" bIns="0" rtlCol="0" anchor="ctr"/>
          <a:lstStyle/>
          <a:p>
            <a:pPr defTabSz="685800"/>
            <a:r>
              <a:rPr lang="en-US" sz="1346" b="1" dirty="0">
                <a:solidFill>
                  <a:srgbClr val="68B8D9"/>
                </a:solidFill>
                <a:latin typeface="Century Gothic" pitchFamily="34" charset="0"/>
                <a:ea typeface="Century Gothic" pitchFamily="34" charset="-122"/>
                <a:cs typeface="Century Gothic" pitchFamily="34" charset="-120"/>
              </a:rPr>
              <a:t>4.</a:t>
            </a:r>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First-Mover Advantage:</a:t>
            </a:r>
            <a:r>
              <a:rPr lang="en-US" sz="1122" dirty="0">
                <a:solidFill>
                  <a:srgbClr val="F0F8FF"/>
                </a:solidFill>
                <a:latin typeface="Century Gothic" pitchFamily="34" charset="0"/>
                <a:ea typeface="Century Gothic" pitchFamily="34" charset="-122"/>
                <a:cs typeface="Century Gothic" pitchFamily="34" charset="-120"/>
              </a:rPr>
              <a:t> Own "Executive Agent" category before competitors recognize the opportunity (12-18 month window)</a:t>
            </a:r>
            <a:endParaRPr lang="en-US" sz="1346" dirty="0">
              <a:solidFill>
                <a:prstClr val="black"/>
              </a:solidFill>
              <a:latin typeface="Calibri" panose="020F0502020204030204"/>
            </a:endParaRPr>
          </a:p>
        </p:txBody>
      </p:sp>
      <p:sp>
        <p:nvSpPr>
          <p:cNvPr id="9" name="Text 7"/>
          <p:cNvSpPr txBox="1"/>
          <p:nvPr/>
        </p:nvSpPr>
        <p:spPr>
          <a:xfrm>
            <a:off x="304038" y="3171825"/>
            <a:ext cx="8513064" cy="190500"/>
          </a:xfrm>
          <a:prstGeom prst="rect">
            <a:avLst/>
          </a:prstGeom>
          <a:noFill/>
          <a:ln/>
        </p:spPr>
        <p:txBody>
          <a:bodyPr wrap="square" lIns="0" tIns="0" rIns="0" bIns="0" rtlCol="0" anchor="ctr"/>
          <a:lstStyle/>
          <a:p>
            <a:pPr defTabSz="685800"/>
            <a:r>
              <a:rPr lang="en-US" sz="1346" dirty="0">
                <a:solidFill>
                  <a:srgbClr val="FB4100"/>
                </a:solidFill>
                <a:latin typeface="Segoe UI" pitchFamily="34" charset="0"/>
                <a:ea typeface="Segoe UI" pitchFamily="34" charset="-122"/>
                <a:cs typeface="Segoe UI" pitchFamily="34" charset="-120"/>
              </a:rPr>
              <a:t>Why Competitors Can't Match</a:t>
            </a:r>
            <a:endParaRPr lang="en-US" sz="1346" dirty="0">
              <a:solidFill>
                <a:prstClr val="black"/>
              </a:solidFill>
              <a:latin typeface="Calibri" panose="020F0502020204030204"/>
            </a:endParaRPr>
          </a:p>
        </p:txBody>
      </p:sp>
      <p:sp>
        <p:nvSpPr>
          <p:cNvPr id="10" name="Text 8"/>
          <p:cNvSpPr txBox="1"/>
          <p:nvPr/>
        </p:nvSpPr>
        <p:spPr>
          <a:xfrm>
            <a:off x="304038" y="3476625"/>
            <a:ext cx="8513064" cy="171450"/>
          </a:xfrm>
          <a:prstGeom prst="rect">
            <a:avLst/>
          </a:prstGeom>
          <a:noFill/>
          <a:ln/>
        </p:spPr>
        <p:txBody>
          <a:bodyPr wrap="square" lIns="0" tIns="0" rIns="0" bIns="0" rtlCol="0" anchor="ctr"/>
          <a:lstStyle/>
          <a:p>
            <a:pPr defTabSz="685800"/>
            <a:r>
              <a:rPr lang="en-US" sz="1122" b="1" dirty="0">
                <a:solidFill>
                  <a:srgbClr val="F0F8FF"/>
                </a:solidFill>
                <a:latin typeface="Century Gothic" pitchFamily="34" charset="0"/>
                <a:ea typeface="Century Gothic" pitchFamily="34" charset="-122"/>
                <a:cs typeface="Century Gothic" pitchFamily="34" charset="-120"/>
              </a:rPr>
              <a:t>• Legacy Vendors:</a:t>
            </a:r>
            <a:r>
              <a:rPr lang="en-US" sz="1122" dirty="0">
                <a:solidFill>
                  <a:srgbClr val="F0F8FF"/>
                </a:solidFill>
                <a:latin typeface="Century Gothic" pitchFamily="34" charset="0"/>
                <a:ea typeface="Century Gothic" pitchFamily="34" charset="-122"/>
                <a:cs typeface="Century Gothic" pitchFamily="34" charset="-120"/>
              </a:rPr>
              <a:t> Trapped in enterprise model, revenue locked in upfront analytics, no network effects</a:t>
            </a:r>
            <a:endParaRPr lang="en-US" sz="1122" dirty="0">
              <a:solidFill>
                <a:prstClr val="black"/>
              </a:solidFill>
              <a:latin typeface="Calibri" panose="020F0502020204030204"/>
            </a:endParaRPr>
          </a:p>
        </p:txBody>
      </p:sp>
      <p:sp>
        <p:nvSpPr>
          <p:cNvPr id="11" name="Text 9"/>
          <p:cNvSpPr txBox="1"/>
          <p:nvPr/>
        </p:nvSpPr>
        <p:spPr>
          <a:xfrm>
            <a:off x="304038" y="3724275"/>
            <a:ext cx="8513064" cy="171450"/>
          </a:xfrm>
          <a:prstGeom prst="rect">
            <a:avLst/>
          </a:prstGeom>
          <a:noFill/>
          <a:ln/>
        </p:spPr>
        <p:txBody>
          <a:bodyPr wrap="square" lIns="0" tIns="0" rIns="0" bIns="0" rtlCol="0" anchor="ctr"/>
          <a:lstStyle/>
          <a:p>
            <a:pPr defTabSz="685800"/>
            <a:r>
              <a:rPr lang="en-US" sz="1122" b="1" dirty="0">
                <a:solidFill>
                  <a:srgbClr val="F0F8FF"/>
                </a:solidFill>
                <a:latin typeface="Century Gothic" pitchFamily="34" charset="0"/>
                <a:ea typeface="Century Gothic" pitchFamily="34" charset="-122"/>
                <a:cs typeface="Century Gothic" pitchFamily="34" charset="-120"/>
              </a:rPr>
              <a:t>• Incumbents (Salesforce):</a:t>
            </a:r>
            <a:r>
              <a:rPr lang="en-US" sz="1122" dirty="0">
                <a:solidFill>
                  <a:srgbClr val="F0F8FF"/>
                </a:solidFill>
                <a:latin typeface="Century Gothic" pitchFamily="34" charset="0"/>
                <a:ea typeface="Century Gothic" pitchFamily="34" charset="-122"/>
                <a:cs typeface="Century Gothic" pitchFamily="34" charset="-120"/>
              </a:rPr>
              <a:t> Platform bias, can't be trustworthy governance layer, lack specialization</a:t>
            </a:r>
            <a:endParaRPr lang="en-US" sz="1122" dirty="0">
              <a:solidFill>
                <a:prstClr val="black"/>
              </a:solidFill>
              <a:latin typeface="Calibri" panose="020F0502020204030204"/>
            </a:endParaRPr>
          </a:p>
        </p:txBody>
      </p:sp>
      <p:sp>
        <p:nvSpPr>
          <p:cNvPr id="12" name="Text 10"/>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7</a:t>
            </a:r>
            <a:endParaRPr lang="en-US" sz="898" dirty="0">
              <a:solidFill>
                <a:prstClr val="black"/>
              </a:solidFill>
              <a:latin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5-Year Financial Trajectory</a:t>
            </a:r>
            <a:endParaRPr lang="en-US" sz="2245" dirty="0">
              <a:solidFill>
                <a:prstClr val="black"/>
              </a:solidFill>
              <a:latin typeface="Calibri" panose="020F0502020204030204"/>
            </a:endParaRPr>
          </a:p>
        </p:txBody>
      </p:sp>
      <p:sp>
        <p:nvSpPr>
          <p:cNvPr id="4" name="Text 2"/>
          <p:cNvSpPr txBox="1"/>
          <p:nvPr/>
        </p:nvSpPr>
        <p:spPr>
          <a:xfrm>
            <a:off x="418053" y="1771650"/>
            <a:ext cx="1270487"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Year</a:t>
            </a:r>
            <a:endParaRPr lang="en-US" sz="1122" dirty="0">
              <a:solidFill>
                <a:prstClr val="black"/>
              </a:solidFill>
              <a:latin typeface="Calibri" panose="020F0502020204030204"/>
            </a:endParaRPr>
          </a:p>
        </p:txBody>
      </p:sp>
      <p:sp>
        <p:nvSpPr>
          <p:cNvPr id="5" name="Text 3"/>
          <p:cNvSpPr txBox="1"/>
          <p:nvPr/>
        </p:nvSpPr>
        <p:spPr>
          <a:xfrm>
            <a:off x="1916568" y="1771650"/>
            <a:ext cx="1465262"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Free Users</a:t>
            </a:r>
            <a:endParaRPr lang="en-US" sz="1122" dirty="0">
              <a:solidFill>
                <a:prstClr val="black"/>
              </a:solidFill>
              <a:latin typeface="Calibri" panose="020F0502020204030204"/>
            </a:endParaRPr>
          </a:p>
        </p:txBody>
      </p:sp>
      <p:sp>
        <p:nvSpPr>
          <p:cNvPr id="6" name="Text 4"/>
          <p:cNvSpPr txBox="1"/>
          <p:nvPr/>
        </p:nvSpPr>
        <p:spPr>
          <a:xfrm>
            <a:off x="3609857" y="1771650"/>
            <a:ext cx="2368245"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Paying Customers</a:t>
            </a:r>
            <a:endParaRPr lang="en-US" sz="1122" dirty="0">
              <a:solidFill>
                <a:prstClr val="black"/>
              </a:solidFill>
              <a:latin typeface="Calibri" panose="020F0502020204030204"/>
            </a:endParaRPr>
          </a:p>
        </p:txBody>
      </p:sp>
      <p:sp>
        <p:nvSpPr>
          <p:cNvPr id="7" name="Text 5"/>
          <p:cNvSpPr txBox="1"/>
          <p:nvPr/>
        </p:nvSpPr>
        <p:spPr>
          <a:xfrm>
            <a:off x="6206132" y="1771650"/>
            <a:ext cx="1184383"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ARR</a:t>
            </a:r>
            <a:endParaRPr lang="en-US" sz="1122" dirty="0">
              <a:solidFill>
                <a:prstClr val="black"/>
              </a:solidFill>
              <a:latin typeface="Calibri" panose="020F0502020204030204"/>
            </a:endParaRPr>
          </a:p>
        </p:txBody>
      </p:sp>
      <p:sp>
        <p:nvSpPr>
          <p:cNvPr id="8" name="Text 6"/>
          <p:cNvSpPr txBox="1"/>
          <p:nvPr/>
        </p:nvSpPr>
        <p:spPr>
          <a:xfrm>
            <a:off x="7618542" y="1771650"/>
            <a:ext cx="1084546"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NDR</a:t>
            </a:r>
            <a:endParaRPr lang="en-US" sz="1122" dirty="0">
              <a:solidFill>
                <a:prstClr val="black"/>
              </a:solidFill>
              <a:latin typeface="Calibri" panose="020F0502020204030204"/>
            </a:endParaRPr>
          </a:p>
        </p:txBody>
      </p:sp>
      <p:sp>
        <p:nvSpPr>
          <p:cNvPr id="9" name="Text 7"/>
          <p:cNvSpPr txBox="1"/>
          <p:nvPr/>
        </p:nvSpPr>
        <p:spPr>
          <a:xfrm>
            <a:off x="418053" y="2171700"/>
            <a:ext cx="1270487"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Y1 (2026)</a:t>
            </a:r>
            <a:endParaRPr lang="en-US" sz="1122" dirty="0">
              <a:solidFill>
                <a:prstClr val="black"/>
              </a:solidFill>
              <a:latin typeface="Calibri" panose="020F0502020204030204"/>
            </a:endParaRPr>
          </a:p>
        </p:txBody>
      </p:sp>
      <p:sp>
        <p:nvSpPr>
          <p:cNvPr id="10" name="Text 8"/>
          <p:cNvSpPr txBox="1"/>
          <p:nvPr/>
        </p:nvSpPr>
        <p:spPr>
          <a:xfrm>
            <a:off x="1916568" y="2181225"/>
            <a:ext cx="1465262"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50,000</a:t>
            </a:r>
            <a:endParaRPr lang="en-US" sz="898" dirty="0">
              <a:solidFill>
                <a:prstClr val="black"/>
              </a:solidFill>
              <a:latin typeface="Calibri" panose="020F0502020204030204"/>
            </a:endParaRPr>
          </a:p>
        </p:txBody>
      </p:sp>
      <p:sp>
        <p:nvSpPr>
          <p:cNvPr id="11" name="Text 9"/>
          <p:cNvSpPr txBox="1"/>
          <p:nvPr/>
        </p:nvSpPr>
        <p:spPr>
          <a:xfrm>
            <a:off x="3609857" y="2181225"/>
            <a:ext cx="2368245"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500-1,000</a:t>
            </a:r>
            <a:endParaRPr lang="en-US" sz="898" dirty="0">
              <a:solidFill>
                <a:prstClr val="black"/>
              </a:solidFill>
              <a:latin typeface="Calibri" panose="020F0502020204030204"/>
            </a:endParaRPr>
          </a:p>
        </p:txBody>
      </p:sp>
      <p:sp>
        <p:nvSpPr>
          <p:cNvPr id="12" name="Text 10"/>
          <p:cNvSpPr txBox="1"/>
          <p:nvPr/>
        </p:nvSpPr>
        <p:spPr>
          <a:xfrm>
            <a:off x="6206132" y="2181225"/>
            <a:ext cx="1184383"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$1-2M</a:t>
            </a:r>
            <a:endParaRPr lang="en-US" sz="898" dirty="0">
              <a:solidFill>
                <a:prstClr val="black"/>
              </a:solidFill>
              <a:latin typeface="Calibri" panose="020F0502020204030204"/>
            </a:endParaRPr>
          </a:p>
        </p:txBody>
      </p:sp>
      <p:sp>
        <p:nvSpPr>
          <p:cNvPr id="13" name="Text 11"/>
          <p:cNvSpPr txBox="1"/>
          <p:nvPr/>
        </p:nvSpPr>
        <p:spPr>
          <a:xfrm>
            <a:off x="7618542" y="2181225"/>
            <a:ext cx="108454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110-120%</a:t>
            </a:r>
            <a:endParaRPr lang="en-US" sz="898" dirty="0">
              <a:solidFill>
                <a:prstClr val="black"/>
              </a:solidFill>
              <a:latin typeface="Calibri" panose="020F0502020204030204"/>
            </a:endParaRPr>
          </a:p>
        </p:txBody>
      </p:sp>
      <p:sp>
        <p:nvSpPr>
          <p:cNvPr id="14" name="Text 12"/>
          <p:cNvSpPr txBox="1"/>
          <p:nvPr/>
        </p:nvSpPr>
        <p:spPr>
          <a:xfrm>
            <a:off x="418053" y="2576513"/>
            <a:ext cx="1270487"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Y2 (2027)</a:t>
            </a:r>
            <a:endParaRPr lang="en-US" sz="1122" dirty="0">
              <a:solidFill>
                <a:prstClr val="black"/>
              </a:solidFill>
              <a:latin typeface="Calibri" panose="020F0502020204030204"/>
            </a:endParaRPr>
          </a:p>
        </p:txBody>
      </p:sp>
      <p:sp>
        <p:nvSpPr>
          <p:cNvPr id="15" name="Text 13"/>
          <p:cNvSpPr txBox="1"/>
          <p:nvPr/>
        </p:nvSpPr>
        <p:spPr>
          <a:xfrm>
            <a:off x="1916568" y="2586038"/>
            <a:ext cx="1465262"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200,000</a:t>
            </a:r>
            <a:endParaRPr lang="en-US" sz="898" dirty="0">
              <a:solidFill>
                <a:prstClr val="black"/>
              </a:solidFill>
              <a:latin typeface="Calibri" panose="020F0502020204030204"/>
            </a:endParaRPr>
          </a:p>
        </p:txBody>
      </p:sp>
      <p:sp>
        <p:nvSpPr>
          <p:cNvPr id="16" name="Text 14"/>
          <p:cNvSpPr txBox="1"/>
          <p:nvPr/>
        </p:nvSpPr>
        <p:spPr>
          <a:xfrm>
            <a:off x="3609857" y="2586038"/>
            <a:ext cx="2368245"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2,500-4,000</a:t>
            </a:r>
            <a:endParaRPr lang="en-US" sz="898" dirty="0">
              <a:solidFill>
                <a:prstClr val="black"/>
              </a:solidFill>
              <a:latin typeface="Calibri" panose="020F0502020204030204"/>
            </a:endParaRPr>
          </a:p>
        </p:txBody>
      </p:sp>
      <p:sp>
        <p:nvSpPr>
          <p:cNvPr id="17" name="Text 15"/>
          <p:cNvSpPr txBox="1"/>
          <p:nvPr/>
        </p:nvSpPr>
        <p:spPr>
          <a:xfrm>
            <a:off x="6206132" y="2586038"/>
            <a:ext cx="1184383"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$5-10M</a:t>
            </a:r>
            <a:endParaRPr lang="en-US" sz="898" dirty="0">
              <a:solidFill>
                <a:prstClr val="black"/>
              </a:solidFill>
              <a:latin typeface="Calibri" panose="020F0502020204030204"/>
            </a:endParaRPr>
          </a:p>
        </p:txBody>
      </p:sp>
      <p:sp>
        <p:nvSpPr>
          <p:cNvPr id="18" name="Text 16"/>
          <p:cNvSpPr txBox="1"/>
          <p:nvPr/>
        </p:nvSpPr>
        <p:spPr>
          <a:xfrm>
            <a:off x="7618542" y="2586038"/>
            <a:ext cx="108454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130-150%</a:t>
            </a:r>
            <a:endParaRPr lang="en-US" sz="898" dirty="0">
              <a:solidFill>
                <a:prstClr val="black"/>
              </a:solidFill>
              <a:latin typeface="Calibri" panose="020F0502020204030204"/>
            </a:endParaRPr>
          </a:p>
        </p:txBody>
      </p:sp>
      <p:sp>
        <p:nvSpPr>
          <p:cNvPr id="19" name="Text 17"/>
          <p:cNvSpPr txBox="1"/>
          <p:nvPr/>
        </p:nvSpPr>
        <p:spPr>
          <a:xfrm>
            <a:off x="418053" y="2981325"/>
            <a:ext cx="1270487"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Y3 (2028)</a:t>
            </a:r>
            <a:endParaRPr lang="en-US" sz="1122" dirty="0">
              <a:solidFill>
                <a:prstClr val="black"/>
              </a:solidFill>
              <a:latin typeface="Calibri" panose="020F0502020204030204"/>
            </a:endParaRPr>
          </a:p>
        </p:txBody>
      </p:sp>
      <p:sp>
        <p:nvSpPr>
          <p:cNvPr id="20" name="Text 18"/>
          <p:cNvSpPr txBox="1"/>
          <p:nvPr/>
        </p:nvSpPr>
        <p:spPr>
          <a:xfrm>
            <a:off x="1916568" y="2990850"/>
            <a:ext cx="1465262"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500,000</a:t>
            </a:r>
            <a:endParaRPr lang="en-US" sz="898" dirty="0">
              <a:solidFill>
                <a:prstClr val="black"/>
              </a:solidFill>
              <a:latin typeface="Calibri" panose="020F0502020204030204"/>
            </a:endParaRPr>
          </a:p>
        </p:txBody>
      </p:sp>
      <p:sp>
        <p:nvSpPr>
          <p:cNvPr id="21" name="Text 19"/>
          <p:cNvSpPr txBox="1"/>
          <p:nvPr/>
        </p:nvSpPr>
        <p:spPr>
          <a:xfrm>
            <a:off x="3609857" y="2990850"/>
            <a:ext cx="2368245"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7,000-10,000</a:t>
            </a:r>
            <a:endParaRPr lang="en-US" sz="898" dirty="0">
              <a:solidFill>
                <a:prstClr val="black"/>
              </a:solidFill>
              <a:latin typeface="Calibri" panose="020F0502020204030204"/>
            </a:endParaRPr>
          </a:p>
        </p:txBody>
      </p:sp>
      <p:sp>
        <p:nvSpPr>
          <p:cNvPr id="22" name="Text 20"/>
          <p:cNvSpPr txBox="1"/>
          <p:nvPr/>
        </p:nvSpPr>
        <p:spPr>
          <a:xfrm>
            <a:off x="6206132" y="2990850"/>
            <a:ext cx="1184383"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$20-40M</a:t>
            </a:r>
            <a:endParaRPr lang="en-US" sz="898" dirty="0">
              <a:solidFill>
                <a:prstClr val="black"/>
              </a:solidFill>
              <a:latin typeface="Calibri" panose="020F0502020204030204"/>
            </a:endParaRPr>
          </a:p>
        </p:txBody>
      </p:sp>
      <p:sp>
        <p:nvSpPr>
          <p:cNvPr id="23" name="Text 21"/>
          <p:cNvSpPr txBox="1"/>
          <p:nvPr/>
        </p:nvSpPr>
        <p:spPr>
          <a:xfrm>
            <a:off x="7618542" y="2990850"/>
            <a:ext cx="108454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140-160%</a:t>
            </a:r>
            <a:endParaRPr lang="en-US" sz="898" dirty="0">
              <a:solidFill>
                <a:prstClr val="black"/>
              </a:solidFill>
              <a:latin typeface="Calibri" panose="020F0502020204030204"/>
            </a:endParaRPr>
          </a:p>
        </p:txBody>
      </p:sp>
      <p:sp>
        <p:nvSpPr>
          <p:cNvPr id="24" name="Text 22"/>
          <p:cNvSpPr txBox="1"/>
          <p:nvPr/>
        </p:nvSpPr>
        <p:spPr>
          <a:xfrm>
            <a:off x="418053" y="3386138"/>
            <a:ext cx="1270487"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Y5 (2030)</a:t>
            </a:r>
            <a:endParaRPr lang="en-US" sz="1122" dirty="0">
              <a:solidFill>
                <a:prstClr val="black"/>
              </a:solidFill>
              <a:latin typeface="Calibri" panose="020F0502020204030204"/>
            </a:endParaRPr>
          </a:p>
        </p:txBody>
      </p:sp>
      <p:sp>
        <p:nvSpPr>
          <p:cNvPr id="25" name="Text 23"/>
          <p:cNvSpPr txBox="1"/>
          <p:nvPr/>
        </p:nvSpPr>
        <p:spPr>
          <a:xfrm>
            <a:off x="1916568" y="3395663"/>
            <a:ext cx="1465262"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2,000,000+</a:t>
            </a:r>
            <a:endParaRPr lang="en-US" sz="898" dirty="0">
              <a:solidFill>
                <a:prstClr val="black"/>
              </a:solidFill>
              <a:latin typeface="Calibri" panose="020F0502020204030204"/>
            </a:endParaRPr>
          </a:p>
        </p:txBody>
      </p:sp>
      <p:sp>
        <p:nvSpPr>
          <p:cNvPr id="26" name="Text 24"/>
          <p:cNvSpPr txBox="1"/>
          <p:nvPr/>
        </p:nvSpPr>
        <p:spPr>
          <a:xfrm>
            <a:off x="3609857" y="3395663"/>
            <a:ext cx="2368245"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18,000-20,000</a:t>
            </a:r>
            <a:endParaRPr lang="en-US" sz="898" dirty="0">
              <a:solidFill>
                <a:prstClr val="black"/>
              </a:solidFill>
              <a:latin typeface="Calibri" panose="020F0502020204030204"/>
            </a:endParaRPr>
          </a:p>
        </p:txBody>
      </p:sp>
      <p:sp>
        <p:nvSpPr>
          <p:cNvPr id="27" name="Text 25"/>
          <p:cNvSpPr txBox="1"/>
          <p:nvPr/>
        </p:nvSpPr>
        <p:spPr>
          <a:xfrm>
            <a:off x="6206132" y="3395663"/>
            <a:ext cx="1184383"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$100-150M</a:t>
            </a:r>
            <a:endParaRPr lang="en-US" sz="898" dirty="0">
              <a:solidFill>
                <a:prstClr val="black"/>
              </a:solidFill>
              <a:latin typeface="Calibri" panose="020F0502020204030204"/>
            </a:endParaRPr>
          </a:p>
        </p:txBody>
      </p:sp>
      <p:sp>
        <p:nvSpPr>
          <p:cNvPr id="28" name="Text 26"/>
          <p:cNvSpPr txBox="1"/>
          <p:nvPr/>
        </p:nvSpPr>
        <p:spPr>
          <a:xfrm>
            <a:off x="7618542" y="3395663"/>
            <a:ext cx="108454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150-180%</a:t>
            </a:r>
            <a:endParaRPr lang="en-US" sz="898" dirty="0">
              <a:solidFill>
                <a:prstClr val="black"/>
              </a:solidFill>
              <a:latin typeface="Calibri" panose="020F0502020204030204"/>
            </a:endParaRPr>
          </a:p>
        </p:txBody>
      </p:sp>
      <p:sp>
        <p:nvSpPr>
          <p:cNvPr id="29" name="Text 27"/>
          <p:cNvSpPr txBox="1"/>
          <p:nvPr/>
        </p:nvSpPr>
        <p:spPr>
          <a:xfrm>
            <a:off x="304038" y="3905250"/>
            <a:ext cx="8513064" cy="171450"/>
          </a:xfrm>
          <a:prstGeom prst="rect">
            <a:avLst/>
          </a:prstGeom>
          <a:noFill/>
          <a:ln/>
        </p:spPr>
        <p:txBody>
          <a:bodyPr wrap="square" lIns="0" tIns="0" rIns="0" bIns="0" rtlCol="0" anchor="ctr"/>
          <a:lstStyle/>
          <a:p>
            <a:pPr algn="ctr" defTabSz="685800"/>
            <a:r>
              <a:rPr lang="en-US" sz="1122" b="1" dirty="0">
                <a:solidFill>
                  <a:srgbClr val="F0F8FF"/>
                </a:solidFill>
                <a:latin typeface="Century Gothic" pitchFamily="34" charset="0"/>
                <a:ea typeface="Century Gothic" pitchFamily="34" charset="-122"/>
                <a:cs typeface="Century Gothic" pitchFamily="34" charset="-120"/>
              </a:rPr>
              <a:t>Key Driver:</a:t>
            </a:r>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68B8D9"/>
                </a:solidFill>
                <a:latin typeface="Century Gothic" pitchFamily="34" charset="0"/>
                <a:ea typeface="Century Gothic" pitchFamily="34" charset="-122"/>
                <a:cs typeface="Century Gothic" pitchFamily="34" charset="-120"/>
              </a:rPr>
              <a:t>2% freemium conversion</a:t>
            </a:r>
            <a:r>
              <a:rPr lang="en-US" sz="1122" dirty="0">
                <a:solidFill>
                  <a:srgbClr val="F0F8FF"/>
                </a:solidFill>
                <a:latin typeface="Century Gothic" pitchFamily="34" charset="0"/>
                <a:ea typeface="Century Gothic" pitchFamily="34" charset="-122"/>
                <a:cs typeface="Century Gothic" pitchFamily="34" charset="-120"/>
              </a:rPr>
              <a:t> + </a:t>
            </a:r>
            <a:r>
              <a:rPr lang="en-US" sz="1122" b="1" dirty="0">
                <a:solidFill>
                  <a:srgbClr val="68B8D9"/>
                </a:solidFill>
                <a:latin typeface="Century Gothic" pitchFamily="34" charset="0"/>
                <a:ea typeface="Century Gothic" pitchFamily="34" charset="-122"/>
                <a:cs typeface="Century Gothic" pitchFamily="34" charset="-120"/>
              </a:rPr>
              <a:t>130-180% NDR</a:t>
            </a:r>
            <a:r>
              <a:rPr lang="en-US" sz="1122" dirty="0">
                <a:solidFill>
                  <a:srgbClr val="F0F8FF"/>
                </a:solidFill>
                <a:latin typeface="Century Gothic" pitchFamily="34" charset="0"/>
                <a:ea typeface="Century Gothic" pitchFamily="34" charset="-122"/>
                <a:cs typeface="Century Gothic" pitchFamily="34" charset="-120"/>
              </a:rPr>
              <a:t> = </a:t>
            </a:r>
            <a:r>
              <a:rPr lang="en-US" sz="1122" b="1" dirty="0">
                <a:solidFill>
                  <a:srgbClr val="68B8D9"/>
                </a:solidFill>
                <a:latin typeface="Century Gothic" pitchFamily="34" charset="0"/>
                <a:ea typeface="Century Gothic" pitchFamily="34" charset="-122"/>
                <a:cs typeface="Century Gothic" pitchFamily="34" charset="-120"/>
              </a:rPr>
              <a:t>exponential growth trajectory</a:t>
            </a:r>
            <a:endParaRPr lang="en-US" sz="1122" dirty="0">
              <a:solidFill>
                <a:prstClr val="black"/>
              </a:solidFill>
              <a:latin typeface="Calibri" panose="020F0502020204030204"/>
            </a:endParaRPr>
          </a:p>
        </p:txBody>
      </p:sp>
      <p:sp>
        <p:nvSpPr>
          <p:cNvPr id="30" name="Text 28"/>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8</a:t>
            </a:r>
            <a:endParaRPr lang="en-US" sz="898" dirty="0">
              <a:solidFill>
                <a:prstClr val="black"/>
              </a:solidFill>
              <a:latin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Unit Economics &amp; Path to Profitability</a:t>
            </a:r>
            <a:endParaRPr lang="en-US" sz="2245" dirty="0">
              <a:solidFill>
                <a:prstClr val="black"/>
              </a:solidFill>
              <a:latin typeface="Calibri" panose="020F0502020204030204"/>
            </a:endParaRPr>
          </a:p>
        </p:txBody>
      </p:sp>
      <p:sp>
        <p:nvSpPr>
          <p:cNvPr id="4" name="Text 2"/>
          <p:cNvSpPr txBox="1"/>
          <p:nvPr/>
        </p:nvSpPr>
        <p:spPr>
          <a:xfrm>
            <a:off x="399050" y="1669256"/>
            <a:ext cx="1525980"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Segment</a:t>
            </a:r>
            <a:endParaRPr lang="en-US" sz="1122" dirty="0">
              <a:solidFill>
                <a:prstClr val="black"/>
              </a:solidFill>
              <a:latin typeface="Calibri" panose="020F0502020204030204"/>
            </a:endParaRPr>
          </a:p>
        </p:txBody>
      </p:sp>
      <p:sp>
        <p:nvSpPr>
          <p:cNvPr id="5" name="Text 3"/>
          <p:cNvSpPr txBox="1"/>
          <p:nvPr/>
        </p:nvSpPr>
        <p:spPr>
          <a:xfrm>
            <a:off x="2115054" y="1669256"/>
            <a:ext cx="1261357"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LTV:CAC</a:t>
            </a:r>
            <a:endParaRPr lang="en-US" sz="1122" dirty="0">
              <a:solidFill>
                <a:prstClr val="black"/>
              </a:solidFill>
              <a:latin typeface="Calibri" panose="020F0502020204030204"/>
            </a:endParaRPr>
          </a:p>
        </p:txBody>
      </p:sp>
      <p:sp>
        <p:nvSpPr>
          <p:cNvPr id="6" name="Text 4"/>
          <p:cNvSpPr txBox="1"/>
          <p:nvPr/>
        </p:nvSpPr>
        <p:spPr>
          <a:xfrm>
            <a:off x="3566434" y="1669256"/>
            <a:ext cx="1843824"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CAC Payback</a:t>
            </a:r>
            <a:endParaRPr lang="en-US" sz="1122" dirty="0">
              <a:solidFill>
                <a:prstClr val="black"/>
              </a:solidFill>
              <a:latin typeface="Calibri" panose="020F0502020204030204"/>
            </a:endParaRPr>
          </a:p>
        </p:txBody>
      </p:sp>
      <p:sp>
        <p:nvSpPr>
          <p:cNvPr id="7" name="Text 5"/>
          <p:cNvSpPr txBox="1"/>
          <p:nvPr/>
        </p:nvSpPr>
        <p:spPr>
          <a:xfrm>
            <a:off x="5600282" y="1669256"/>
            <a:ext cx="1828979"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Gross Margin</a:t>
            </a:r>
            <a:endParaRPr lang="en-US" sz="1122" dirty="0">
              <a:solidFill>
                <a:prstClr val="black"/>
              </a:solidFill>
              <a:latin typeface="Calibri" panose="020F0502020204030204"/>
            </a:endParaRPr>
          </a:p>
        </p:txBody>
      </p:sp>
      <p:sp>
        <p:nvSpPr>
          <p:cNvPr id="8" name="Text 6"/>
          <p:cNvSpPr txBox="1"/>
          <p:nvPr/>
        </p:nvSpPr>
        <p:spPr>
          <a:xfrm>
            <a:off x="7619285" y="1669256"/>
            <a:ext cx="1102806" cy="171450"/>
          </a:xfrm>
          <a:prstGeom prst="rect">
            <a:avLst/>
          </a:prstGeom>
          <a:noFill/>
          <a:ln/>
        </p:spPr>
        <p:txBody>
          <a:bodyPr wrap="square" lIns="0" tIns="0" rIns="0" bIns="0" rtlCol="0" anchor="ctr"/>
          <a:lstStyle/>
          <a:p>
            <a:pPr defTabSz="685800"/>
            <a:r>
              <a:rPr lang="en-US" sz="1122" dirty="0">
                <a:solidFill>
                  <a:srgbClr val="F0F8FF"/>
                </a:solidFill>
                <a:latin typeface="Segoe UI" pitchFamily="34" charset="0"/>
                <a:ea typeface="Segoe UI" pitchFamily="34" charset="-122"/>
                <a:cs typeface="Segoe UI" pitchFamily="34" charset="-120"/>
              </a:rPr>
              <a:t>NDR</a:t>
            </a:r>
            <a:endParaRPr lang="en-US" sz="1122" dirty="0">
              <a:solidFill>
                <a:prstClr val="black"/>
              </a:solidFill>
              <a:latin typeface="Calibri" panose="020F0502020204030204"/>
            </a:endParaRPr>
          </a:p>
        </p:txBody>
      </p:sp>
      <p:sp>
        <p:nvSpPr>
          <p:cNvPr id="9" name="Text 7"/>
          <p:cNvSpPr txBox="1"/>
          <p:nvPr/>
        </p:nvSpPr>
        <p:spPr>
          <a:xfrm>
            <a:off x="399050" y="2031206"/>
            <a:ext cx="1525980"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SMB</a:t>
            </a:r>
            <a:endParaRPr lang="en-US" sz="1122" dirty="0">
              <a:solidFill>
                <a:prstClr val="black"/>
              </a:solidFill>
              <a:latin typeface="Calibri" panose="020F0502020204030204"/>
            </a:endParaRPr>
          </a:p>
        </p:txBody>
      </p:sp>
      <p:sp>
        <p:nvSpPr>
          <p:cNvPr id="10" name="Text 8"/>
          <p:cNvSpPr txBox="1"/>
          <p:nvPr/>
        </p:nvSpPr>
        <p:spPr>
          <a:xfrm>
            <a:off x="2115054" y="2040731"/>
            <a:ext cx="1261357"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80-250:1</a:t>
            </a:r>
            <a:endParaRPr lang="en-US" sz="898" dirty="0">
              <a:solidFill>
                <a:prstClr val="black"/>
              </a:solidFill>
              <a:latin typeface="Calibri" panose="020F0502020204030204"/>
            </a:endParaRPr>
          </a:p>
        </p:txBody>
      </p:sp>
      <p:sp>
        <p:nvSpPr>
          <p:cNvPr id="11" name="Text 9"/>
          <p:cNvSpPr txBox="1"/>
          <p:nvPr/>
        </p:nvSpPr>
        <p:spPr>
          <a:xfrm>
            <a:off x="3566434" y="2040731"/>
            <a:ext cx="1843824"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1-2 mo</a:t>
            </a:r>
            <a:endParaRPr lang="en-US" sz="898" dirty="0">
              <a:solidFill>
                <a:prstClr val="black"/>
              </a:solidFill>
              <a:latin typeface="Calibri" panose="020F0502020204030204"/>
            </a:endParaRPr>
          </a:p>
        </p:txBody>
      </p:sp>
      <p:sp>
        <p:nvSpPr>
          <p:cNvPr id="12" name="Text 10"/>
          <p:cNvSpPr txBox="1"/>
          <p:nvPr/>
        </p:nvSpPr>
        <p:spPr>
          <a:xfrm>
            <a:off x="5600282" y="2040731"/>
            <a:ext cx="1828979"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80-85%</a:t>
            </a:r>
            <a:endParaRPr lang="en-US" sz="898" dirty="0">
              <a:solidFill>
                <a:prstClr val="black"/>
              </a:solidFill>
              <a:latin typeface="Calibri" panose="020F0502020204030204"/>
            </a:endParaRPr>
          </a:p>
        </p:txBody>
      </p:sp>
      <p:sp>
        <p:nvSpPr>
          <p:cNvPr id="13" name="Text 11"/>
          <p:cNvSpPr txBox="1"/>
          <p:nvPr/>
        </p:nvSpPr>
        <p:spPr>
          <a:xfrm>
            <a:off x="7619285" y="2040731"/>
            <a:ext cx="110280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110-120%</a:t>
            </a:r>
            <a:endParaRPr lang="en-US" sz="898" dirty="0">
              <a:solidFill>
                <a:prstClr val="black"/>
              </a:solidFill>
              <a:latin typeface="Calibri" panose="020F0502020204030204"/>
            </a:endParaRPr>
          </a:p>
        </p:txBody>
      </p:sp>
      <p:sp>
        <p:nvSpPr>
          <p:cNvPr id="14" name="Text 12"/>
          <p:cNvSpPr txBox="1"/>
          <p:nvPr/>
        </p:nvSpPr>
        <p:spPr>
          <a:xfrm>
            <a:off x="399050" y="2397919"/>
            <a:ext cx="1525980"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Mid-Market</a:t>
            </a:r>
            <a:endParaRPr lang="en-US" sz="1122" dirty="0">
              <a:solidFill>
                <a:prstClr val="black"/>
              </a:solidFill>
              <a:latin typeface="Calibri" panose="020F0502020204030204"/>
            </a:endParaRPr>
          </a:p>
        </p:txBody>
      </p:sp>
      <p:sp>
        <p:nvSpPr>
          <p:cNvPr id="15" name="Text 13"/>
          <p:cNvSpPr txBox="1"/>
          <p:nvPr/>
        </p:nvSpPr>
        <p:spPr>
          <a:xfrm>
            <a:off x="2115054" y="2407444"/>
            <a:ext cx="1261357"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100-300:1</a:t>
            </a:r>
            <a:endParaRPr lang="en-US" sz="898" dirty="0">
              <a:solidFill>
                <a:prstClr val="black"/>
              </a:solidFill>
              <a:latin typeface="Calibri" panose="020F0502020204030204"/>
            </a:endParaRPr>
          </a:p>
        </p:txBody>
      </p:sp>
      <p:sp>
        <p:nvSpPr>
          <p:cNvPr id="16" name="Text 14"/>
          <p:cNvSpPr txBox="1"/>
          <p:nvPr/>
        </p:nvSpPr>
        <p:spPr>
          <a:xfrm>
            <a:off x="3566434" y="2407444"/>
            <a:ext cx="1843824"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2-4 mo</a:t>
            </a:r>
            <a:endParaRPr lang="en-US" sz="898" dirty="0">
              <a:solidFill>
                <a:prstClr val="black"/>
              </a:solidFill>
              <a:latin typeface="Calibri" panose="020F0502020204030204"/>
            </a:endParaRPr>
          </a:p>
        </p:txBody>
      </p:sp>
      <p:sp>
        <p:nvSpPr>
          <p:cNvPr id="17" name="Text 15"/>
          <p:cNvSpPr txBox="1"/>
          <p:nvPr/>
        </p:nvSpPr>
        <p:spPr>
          <a:xfrm>
            <a:off x="5600282" y="2407444"/>
            <a:ext cx="1828979"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82-87%</a:t>
            </a:r>
            <a:endParaRPr lang="en-US" sz="898" dirty="0">
              <a:solidFill>
                <a:prstClr val="black"/>
              </a:solidFill>
              <a:latin typeface="Calibri" panose="020F0502020204030204"/>
            </a:endParaRPr>
          </a:p>
        </p:txBody>
      </p:sp>
      <p:sp>
        <p:nvSpPr>
          <p:cNvPr id="18" name="Text 16"/>
          <p:cNvSpPr txBox="1"/>
          <p:nvPr/>
        </p:nvSpPr>
        <p:spPr>
          <a:xfrm>
            <a:off x="7619285" y="2407444"/>
            <a:ext cx="110280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130-150%</a:t>
            </a:r>
            <a:endParaRPr lang="en-US" sz="898" dirty="0">
              <a:solidFill>
                <a:prstClr val="black"/>
              </a:solidFill>
              <a:latin typeface="Calibri" panose="020F0502020204030204"/>
            </a:endParaRPr>
          </a:p>
        </p:txBody>
      </p:sp>
      <p:sp>
        <p:nvSpPr>
          <p:cNvPr id="19" name="Text 17"/>
          <p:cNvSpPr txBox="1"/>
          <p:nvPr/>
        </p:nvSpPr>
        <p:spPr>
          <a:xfrm>
            <a:off x="399050" y="2764631"/>
            <a:ext cx="1525980" cy="171450"/>
          </a:xfrm>
          <a:prstGeom prst="rect">
            <a:avLst/>
          </a:prstGeom>
          <a:noFill/>
          <a:ln/>
        </p:spPr>
        <p:txBody>
          <a:bodyPr wrap="square" lIns="0" tIns="0" rIns="0" bIns="0" rtlCol="0" anchor="ctr"/>
          <a:lstStyle/>
          <a:p>
            <a:pPr defTabSz="685800"/>
            <a:r>
              <a:rPr lang="en-US" sz="1122" b="1" dirty="0">
                <a:solidFill>
                  <a:srgbClr val="68B8D9"/>
                </a:solidFill>
                <a:latin typeface="Segoe UI" pitchFamily="34" charset="0"/>
                <a:ea typeface="Segoe UI" pitchFamily="34" charset="-122"/>
                <a:cs typeface="Segoe UI" pitchFamily="34" charset="-120"/>
              </a:rPr>
              <a:t>Enterprise</a:t>
            </a:r>
            <a:endParaRPr lang="en-US" sz="1122" dirty="0">
              <a:solidFill>
                <a:prstClr val="black"/>
              </a:solidFill>
              <a:latin typeface="Calibri" panose="020F0502020204030204"/>
            </a:endParaRPr>
          </a:p>
        </p:txBody>
      </p:sp>
      <p:sp>
        <p:nvSpPr>
          <p:cNvPr id="20" name="Text 18"/>
          <p:cNvSpPr txBox="1"/>
          <p:nvPr/>
        </p:nvSpPr>
        <p:spPr>
          <a:xfrm>
            <a:off x="2115054" y="2774156"/>
            <a:ext cx="1261357" cy="152400"/>
          </a:xfrm>
          <a:prstGeom prst="rect">
            <a:avLst/>
          </a:prstGeom>
          <a:noFill/>
          <a:ln/>
        </p:spPr>
        <p:txBody>
          <a:bodyPr wrap="square" lIns="0" tIns="0" rIns="0" bIns="0" rtlCol="0" anchor="ctr"/>
          <a:lstStyle/>
          <a:p>
            <a:pPr defTabSz="685800"/>
            <a:r>
              <a:rPr lang="en-US" sz="898" b="1" dirty="0">
                <a:solidFill>
                  <a:srgbClr val="68B8D9"/>
                </a:solidFill>
                <a:latin typeface="Century Gothic" pitchFamily="34" charset="0"/>
                <a:ea typeface="Century Gothic" pitchFamily="34" charset="-122"/>
                <a:cs typeface="Century Gothic" pitchFamily="34" charset="-120"/>
              </a:rPr>
              <a:t>100-400:1</a:t>
            </a:r>
            <a:endParaRPr lang="en-US" sz="898" dirty="0">
              <a:solidFill>
                <a:prstClr val="black"/>
              </a:solidFill>
              <a:latin typeface="Calibri" panose="020F0502020204030204"/>
            </a:endParaRPr>
          </a:p>
        </p:txBody>
      </p:sp>
      <p:sp>
        <p:nvSpPr>
          <p:cNvPr id="21" name="Text 19"/>
          <p:cNvSpPr txBox="1"/>
          <p:nvPr/>
        </p:nvSpPr>
        <p:spPr>
          <a:xfrm>
            <a:off x="3566434" y="2774156"/>
            <a:ext cx="1843824"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3-6 mo</a:t>
            </a:r>
            <a:endParaRPr lang="en-US" sz="898" dirty="0">
              <a:solidFill>
                <a:prstClr val="black"/>
              </a:solidFill>
              <a:latin typeface="Calibri" panose="020F0502020204030204"/>
            </a:endParaRPr>
          </a:p>
        </p:txBody>
      </p:sp>
      <p:sp>
        <p:nvSpPr>
          <p:cNvPr id="22" name="Text 20"/>
          <p:cNvSpPr txBox="1"/>
          <p:nvPr/>
        </p:nvSpPr>
        <p:spPr>
          <a:xfrm>
            <a:off x="5600282" y="2774156"/>
            <a:ext cx="1828979" cy="152400"/>
          </a:xfrm>
          <a:prstGeom prst="rect">
            <a:avLst/>
          </a:prstGeom>
          <a:noFill/>
          <a:ln/>
        </p:spPr>
        <p:txBody>
          <a:bodyPr wrap="square" lIns="0" tIns="0" rIns="0" bIns="0" rtlCol="0" anchor="ctr"/>
          <a:lstStyle/>
          <a:p>
            <a:pPr defTabSz="685800"/>
            <a:r>
              <a:rPr lang="en-US" sz="898" dirty="0">
                <a:solidFill>
                  <a:srgbClr val="F0F8FF"/>
                </a:solidFill>
                <a:latin typeface="Century Gothic" pitchFamily="34" charset="0"/>
                <a:ea typeface="Century Gothic" pitchFamily="34" charset="-122"/>
                <a:cs typeface="Century Gothic" pitchFamily="34" charset="-120"/>
              </a:rPr>
              <a:t>85-90%</a:t>
            </a:r>
            <a:endParaRPr lang="en-US" sz="898" dirty="0">
              <a:solidFill>
                <a:prstClr val="black"/>
              </a:solidFill>
              <a:latin typeface="Calibri" panose="020F0502020204030204"/>
            </a:endParaRPr>
          </a:p>
        </p:txBody>
      </p:sp>
      <p:sp>
        <p:nvSpPr>
          <p:cNvPr id="23" name="Text 21"/>
          <p:cNvSpPr txBox="1"/>
          <p:nvPr/>
        </p:nvSpPr>
        <p:spPr>
          <a:xfrm>
            <a:off x="7619285" y="2774156"/>
            <a:ext cx="1102806" cy="152400"/>
          </a:xfrm>
          <a:prstGeom prst="rect">
            <a:avLst/>
          </a:prstGeom>
          <a:noFill/>
          <a:ln/>
        </p:spPr>
        <p:txBody>
          <a:bodyPr wrap="square" lIns="0" tIns="0" rIns="0" bIns="0" rtlCol="0" anchor="ctr"/>
          <a:lstStyle/>
          <a:p>
            <a:pPr defTabSz="685800"/>
            <a:r>
              <a:rPr lang="en-US" sz="898" dirty="0">
                <a:solidFill>
                  <a:srgbClr val="68B8D9"/>
                </a:solidFill>
                <a:latin typeface="Century Gothic" pitchFamily="34" charset="0"/>
                <a:ea typeface="Century Gothic" pitchFamily="34" charset="-122"/>
                <a:cs typeface="Century Gothic" pitchFamily="34" charset="-120"/>
              </a:rPr>
              <a:t>140-180%</a:t>
            </a:r>
            <a:endParaRPr lang="en-US" sz="898" dirty="0">
              <a:solidFill>
                <a:prstClr val="black"/>
              </a:solidFill>
              <a:latin typeface="Calibri" panose="020F0502020204030204"/>
            </a:endParaRPr>
          </a:p>
        </p:txBody>
      </p:sp>
      <p:sp>
        <p:nvSpPr>
          <p:cNvPr id="24" name="Text 22"/>
          <p:cNvSpPr txBox="1"/>
          <p:nvPr/>
        </p:nvSpPr>
        <p:spPr>
          <a:xfrm>
            <a:off x="304038" y="3188494"/>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Profitability Timeline</a:t>
            </a:r>
            <a:endParaRPr lang="en-US" sz="1346" dirty="0">
              <a:solidFill>
                <a:prstClr val="black"/>
              </a:solidFill>
              <a:latin typeface="Calibri" panose="020F0502020204030204"/>
            </a:endParaRPr>
          </a:p>
        </p:txBody>
      </p:sp>
      <p:sp>
        <p:nvSpPr>
          <p:cNvPr id="25" name="Text 23"/>
          <p:cNvSpPr txBox="1"/>
          <p:nvPr/>
        </p:nvSpPr>
        <p:spPr>
          <a:xfrm>
            <a:off x="304038" y="3493294"/>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Gross Margin:</a:t>
            </a:r>
            <a:r>
              <a:rPr lang="en-US" sz="1122" dirty="0">
                <a:solidFill>
                  <a:srgbClr val="F0F8FF"/>
                </a:solidFill>
                <a:latin typeface="Century Gothic" pitchFamily="34" charset="0"/>
                <a:ea typeface="Century Gothic" pitchFamily="34" charset="-122"/>
                <a:cs typeface="Century Gothic" pitchFamily="34" charset="-120"/>
              </a:rPr>
              <a:t> 80-85% from day 1 (software high margin)</a:t>
            </a:r>
            <a:endParaRPr lang="en-US" sz="1122" dirty="0">
              <a:solidFill>
                <a:prstClr val="black"/>
              </a:solidFill>
              <a:latin typeface="Calibri" panose="020F0502020204030204"/>
            </a:endParaRPr>
          </a:p>
        </p:txBody>
      </p:sp>
      <p:sp>
        <p:nvSpPr>
          <p:cNvPr id="26" name="Text 24"/>
          <p:cNvSpPr txBox="1"/>
          <p:nvPr/>
        </p:nvSpPr>
        <p:spPr>
          <a:xfrm>
            <a:off x="304038" y="3740944"/>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EBITDA Positive:</a:t>
            </a:r>
            <a:r>
              <a:rPr lang="en-US" sz="1122" dirty="0">
                <a:solidFill>
                  <a:srgbClr val="F0F8FF"/>
                </a:solidFill>
                <a:latin typeface="Century Gothic" pitchFamily="34" charset="0"/>
                <a:ea typeface="Century Gothic" pitchFamily="34" charset="-122"/>
                <a:cs typeface="Century Gothic" pitchFamily="34" charset="-120"/>
              </a:rPr>
              <a:t> Year 2-3 (when growth moderates)</a:t>
            </a:r>
            <a:endParaRPr lang="en-US" sz="1122" dirty="0">
              <a:solidFill>
                <a:prstClr val="black"/>
              </a:solidFill>
              <a:latin typeface="Calibri" panose="020F0502020204030204"/>
            </a:endParaRPr>
          </a:p>
        </p:txBody>
      </p:sp>
      <p:sp>
        <p:nvSpPr>
          <p:cNvPr id="27" name="Text 25"/>
          <p:cNvSpPr txBox="1"/>
          <p:nvPr/>
        </p:nvSpPr>
        <p:spPr>
          <a:xfrm>
            <a:off x="304038" y="3988594"/>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Path to $100M ARR:</a:t>
            </a:r>
            <a:r>
              <a:rPr lang="en-US" sz="1122" dirty="0">
                <a:solidFill>
                  <a:srgbClr val="F0F8FF"/>
                </a:solidFill>
                <a:latin typeface="Century Gothic" pitchFamily="34" charset="0"/>
                <a:ea typeface="Century Gothic" pitchFamily="34" charset="-122"/>
                <a:cs typeface="Century Gothic" pitchFamily="34" charset="-120"/>
              </a:rPr>
              <a:t> Year 5 (sustainable, cash-generative)</a:t>
            </a:r>
            <a:endParaRPr lang="en-US" sz="1122" dirty="0">
              <a:solidFill>
                <a:prstClr val="black"/>
              </a:solidFill>
              <a:latin typeface="Calibri" panose="020F0502020204030204"/>
            </a:endParaRPr>
          </a:p>
        </p:txBody>
      </p:sp>
      <p:sp>
        <p:nvSpPr>
          <p:cNvPr id="28" name="Text 26"/>
          <p:cNvSpPr txBox="1"/>
          <p:nvPr/>
        </p:nvSpPr>
        <p:spPr>
          <a:xfrm>
            <a:off x="8915157" y="4848225"/>
            <a:ext cx="63465"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9</a:t>
            </a:r>
            <a:endParaRPr lang="en-US" sz="898" dirty="0">
              <a:solidFill>
                <a:prstClr val="black"/>
              </a:solidFill>
              <a:latin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Three-Phase Market Expansion</a:t>
            </a:r>
            <a:endParaRPr lang="en-US" sz="2245" dirty="0">
              <a:solidFill>
                <a:prstClr val="black"/>
              </a:solidFill>
              <a:latin typeface="Calibri" panose="020F0502020204030204"/>
            </a:endParaRPr>
          </a:p>
        </p:txBody>
      </p:sp>
      <p:sp>
        <p:nvSpPr>
          <p:cNvPr id="4" name="Shape 2"/>
          <p:cNvSpPr/>
          <p:nvPr/>
        </p:nvSpPr>
        <p:spPr>
          <a:xfrm>
            <a:off x="304038" y="895350"/>
            <a:ext cx="8513064" cy="1238250"/>
          </a:xfrm>
          <a:prstGeom prst="roundRect">
            <a:avLst>
              <a:gd name="adj" fmla="val 5112"/>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5" name="Text 3"/>
          <p:cNvSpPr txBox="1"/>
          <p:nvPr/>
        </p:nvSpPr>
        <p:spPr>
          <a:xfrm>
            <a:off x="456057" y="1190625"/>
            <a:ext cx="8209026"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Phase 1: SMB Domination (Y1-2)</a:t>
            </a:r>
            <a:endParaRPr lang="en-US" sz="1346" dirty="0">
              <a:solidFill>
                <a:prstClr val="black"/>
              </a:solidFill>
              <a:latin typeface="Calibri" panose="020F0502020204030204"/>
            </a:endParaRPr>
          </a:p>
        </p:txBody>
      </p:sp>
      <p:sp>
        <p:nvSpPr>
          <p:cNvPr id="6" name="Text 4"/>
          <p:cNvSpPr txBox="1"/>
          <p:nvPr/>
        </p:nvSpPr>
        <p:spPr>
          <a:xfrm>
            <a:off x="456057" y="1457325"/>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Beachhead: 150,000 SMB companies via Salesforce AppExchange</a:t>
            </a:r>
            <a:endParaRPr lang="en-US" sz="1122" dirty="0">
              <a:solidFill>
                <a:prstClr val="black"/>
              </a:solidFill>
              <a:latin typeface="Calibri" panose="020F0502020204030204"/>
            </a:endParaRPr>
          </a:p>
        </p:txBody>
      </p:sp>
      <p:sp>
        <p:nvSpPr>
          <p:cNvPr id="7" name="Text 5"/>
          <p:cNvSpPr txBox="1"/>
          <p:nvPr/>
        </p:nvSpPr>
        <p:spPr>
          <a:xfrm>
            <a:off x="456057" y="1666875"/>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Target: 50K free → 1K paying → </a:t>
            </a:r>
            <a:r>
              <a:rPr lang="en-US" sz="1122" b="1" dirty="0">
                <a:solidFill>
                  <a:srgbClr val="68B8D9"/>
                </a:solidFill>
                <a:latin typeface="Century Gothic" pitchFamily="34" charset="0"/>
                <a:ea typeface="Century Gothic" pitchFamily="34" charset="-122"/>
                <a:cs typeface="Century Gothic" pitchFamily="34" charset="-120"/>
              </a:rPr>
              <a:t>$1-2M ARR</a:t>
            </a:r>
            <a:endParaRPr lang="en-US" sz="1122" dirty="0">
              <a:solidFill>
                <a:prstClr val="black"/>
              </a:solidFill>
              <a:latin typeface="Calibri" panose="020F0502020204030204"/>
            </a:endParaRPr>
          </a:p>
        </p:txBody>
      </p:sp>
      <p:sp>
        <p:nvSpPr>
          <p:cNvPr id="8" name="Shape 6"/>
          <p:cNvSpPr/>
          <p:nvPr/>
        </p:nvSpPr>
        <p:spPr>
          <a:xfrm>
            <a:off x="304038" y="2247900"/>
            <a:ext cx="8513064" cy="1238250"/>
          </a:xfrm>
          <a:prstGeom prst="roundRect">
            <a:avLst>
              <a:gd name="adj" fmla="val 5112"/>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9" name="Text 7"/>
          <p:cNvSpPr txBox="1"/>
          <p:nvPr/>
        </p:nvSpPr>
        <p:spPr>
          <a:xfrm>
            <a:off x="456057" y="2543175"/>
            <a:ext cx="8209026"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Phase 2: Mid-Market Expansion (Y2-3)</a:t>
            </a:r>
            <a:endParaRPr lang="en-US" sz="1346" dirty="0">
              <a:solidFill>
                <a:prstClr val="black"/>
              </a:solidFill>
              <a:latin typeface="Calibri" panose="020F0502020204030204"/>
            </a:endParaRPr>
          </a:p>
        </p:txBody>
      </p:sp>
      <p:sp>
        <p:nvSpPr>
          <p:cNvPr id="10" name="Text 8"/>
          <p:cNvSpPr txBox="1"/>
          <p:nvPr/>
        </p:nvSpPr>
        <p:spPr>
          <a:xfrm>
            <a:off x="456057" y="2809875"/>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Leverage: 5,000+ SMB proof points → "If it works for them, why not us?"</a:t>
            </a:r>
            <a:endParaRPr lang="en-US" sz="1122" dirty="0">
              <a:solidFill>
                <a:prstClr val="black"/>
              </a:solidFill>
              <a:latin typeface="Calibri" panose="020F0502020204030204"/>
            </a:endParaRPr>
          </a:p>
        </p:txBody>
      </p:sp>
      <p:sp>
        <p:nvSpPr>
          <p:cNvPr id="11" name="Text 9"/>
          <p:cNvSpPr txBox="1"/>
          <p:nvPr/>
        </p:nvSpPr>
        <p:spPr>
          <a:xfrm>
            <a:off x="456057" y="3019425"/>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Target: 200K free → 4K paying → </a:t>
            </a:r>
            <a:r>
              <a:rPr lang="en-US" sz="1122" b="1" dirty="0">
                <a:solidFill>
                  <a:srgbClr val="68B8D9"/>
                </a:solidFill>
                <a:latin typeface="Century Gothic" pitchFamily="34" charset="0"/>
                <a:ea typeface="Century Gothic" pitchFamily="34" charset="-122"/>
                <a:cs typeface="Century Gothic" pitchFamily="34" charset="-120"/>
              </a:rPr>
              <a:t>$5-10M ARR</a:t>
            </a:r>
            <a:endParaRPr lang="en-US" sz="1122" dirty="0">
              <a:solidFill>
                <a:prstClr val="black"/>
              </a:solidFill>
              <a:latin typeface="Calibri" panose="020F0502020204030204"/>
            </a:endParaRPr>
          </a:p>
        </p:txBody>
      </p:sp>
      <p:sp>
        <p:nvSpPr>
          <p:cNvPr id="12" name="Shape 10"/>
          <p:cNvSpPr/>
          <p:nvPr/>
        </p:nvSpPr>
        <p:spPr>
          <a:xfrm>
            <a:off x="304038" y="3600450"/>
            <a:ext cx="8513064" cy="1238250"/>
          </a:xfrm>
          <a:prstGeom prst="roundRect">
            <a:avLst>
              <a:gd name="adj" fmla="val 5112"/>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13" name="Text 11"/>
          <p:cNvSpPr txBox="1"/>
          <p:nvPr/>
        </p:nvSpPr>
        <p:spPr>
          <a:xfrm>
            <a:off x="456057" y="3790950"/>
            <a:ext cx="8209026"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Phase 3: Enterprise &amp; Vertical Expansion (Y3+)</a:t>
            </a:r>
            <a:endParaRPr lang="en-US" sz="1346" dirty="0">
              <a:solidFill>
                <a:prstClr val="black"/>
              </a:solidFill>
              <a:latin typeface="Calibri" panose="020F0502020204030204"/>
            </a:endParaRPr>
          </a:p>
        </p:txBody>
      </p:sp>
      <p:sp>
        <p:nvSpPr>
          <p:cNvPr id="14" name="Text 12"/>
          <p:cNvSpPr txBox="1"/>
          <p:nvPr/>
        </p:nvSpPr>
        <p:spPr>
          <a:xfrm>
            <a:off x="456057" y="4057650"/>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Strategy: Grassroots adoption + unmatched peer benchmarking (competitive moat)</a:t>
            </a:r>
            <a:endParaRPr lang="en-US" sz="1122" dirty="0">
              <a:solidFill>
                <a:prstClr val="black"/>
              </a:solidFill>
              <a:latin typeface="Calibri" panose="020F0502020204030204"/>
            </a:endParaRPr>
          </a:p>
        </p:txBody>
      </p:sp>
      <p:sp>
        <p:nvSpPr>
          <p:cNvPr id="15" name="Text 13"/>
          <p:cNvSpPr txBox="1"/>
          <p:nvPr/>
        </p:nvSpPr>
        <p:spPr>
          <a:xfrm>
            <a:off x="456057" y="4267200"/>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Target: 500K+ free → 10K+ paying → </a:t>
            </a:r>
            <a:r>
              <a:rPr lang="en-US" sz="1122" b="1" dirty="0">
                <a:solidFill>
                  <a:srgbClr val="68B8D9"/>
                </a:solidFill>
                <a:latin typeface="Century Gothic" pitchFamily="34" charset="0"/>
                <a:ea typeface="Century Gothic" pitchFamily="34" charset="-122"/>
                <a:cs typeface="Century Gothic" pitchFamily="34" charset="-120"/>
              </a:rPr>
              <a:t>$20-40M+ ARR</a:t>
            </a:r>
            <a:endParaRPr lang="en-US" sz="1122" dirty="0">
              <a:solidFill>
                <a:prstClr val="black"/>
              </a:solidFill>
              <a:latin typeface="Calibri" panose="020F0502020204030204"/>
            </a:endParaRPr>
          </a:p>
        </p:txBody>
      </p:sp>
      <p:sp>
        <p:nvSpPr>
          <p:cNvPr id="16" name="Text 14"/>
          <p:cNvSpPr txBox="1"/>
          <p:nvPr/>
        </p:nvSpPr>
        <p:spPr>
          <a:xfrm>
            <a:off x="456057" y="4476750"/>
            <a:ext cx="820902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Expand: Finance, IT, HR, Support operations</a:t>
            </a:r>
            <a:endParaRPr lang="en-US" sz="1122" dirty="0">
              <a:solidFill>
                <a:prstClr val="black"/>
              </a:solidFill>
              <a:latin typeface="Calibri" panose="020F0502020204030204"/>
            </a:endParaRPr>
          </a:p>
        </p:txBody>
      </p:sp>
      <p:sp>
        <p:nvSpPr>
          <p:cNvPr id="17" name="Text 15"/>
          <p:cNvSpPr txBox="1"/>
          <p:nvPr/>
        </p:nvSpPr>
        <p:spPr>
          <a:xfrm>
            <a:off x="8851767" y="4848225"/>
            <a:ext cx="126856"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10</a:t>
            </a:r>
            <a:endParaRPr lang="en-US" sz="898" dirty="0">
              <a:solidFill>
                <a:prstClr val="black"/>
              </a:solidFill>
              <a:latin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Expansion &amp; Retention Strategy</a:t>
            </a:r>
            <a:endParaRPr lang="en-US" sz="2245" dirty="0">
              <a:solidFill>
                <a:prstClr val="black"/>
              </a:solidFill>
              <a:latin typeface="Calibri" panose="020F0502020204030204"/>
            </a:endParaRPr>
          </a:p>
        </p:txBody>
      </p:sp>
      <p:sp>
        <p:nvSpPr>
          <p:cNvPr id="4" name="Text 2"/>
          <p:cNvSpPr txBox="1"/>
          <p:nvPr/>
        </p:nvSpPr>
        <p:spPr>
          <a:xfrm>
            <a:off x="304038" y="15716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Expansion Revenue Levers</a:t>
            </a:r>
            <a:endParaRPr lang="en-US" sz="1346" dirty="0">
              <a:solidFill>
                <a:prstClr val="black"/>
              </a:solidFill>
              <a:latin typeface="Calibri" panose="020F0502020204030204"/>
            </a:endParaRPr>
          </a:p>
        </p:txBody>
      </p:sp>
      <p:sp>
        <p:nvSpPr>
          <p:cNvPr id="5" name="Text 3"/>
          <p:cNvSpPr txBox="1"/>
          <p:nvPr/>
        </p:nvSpPr>
        <p:spPr>
          <a:xfrm>
            <a:off x="304039" y="1876425"/>
            <a:ext cx="522788"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Explore</a:t>
            </a:r>
            <a:endParaRPr lang="en-US" sz="1122" dirty="0">
              <a:solidFill>
                <a:prstClr val="black"/>
              </a:solidFill>
              <a:latin typeface="Calibri" panose="020F0502020204030204"/>
            </a:endParaRPr>
          </a:p>
        </p:txBody>
      </p:sp>
      <p:pic>
        <p:nvPicPr>
          <p:cNvPr id="6" name="Image 0" descr="preencoded.png"/>
          <p:cNvPicPr>
            <a:picLocks noChangeAspect="1"/>
          </p:cNvPicPr>
          <p:nvPr/>
        </p:nvPicPr>
        <p:blipFill>
          <a:blip r:embed="rId3"/>
          <a:srcRect/>
          <a:stretch/>
        </p:blipFill>
        <p:spPr>
          <a:xfrm>
            <a:off x="902836" y="1885950"/>
            <a:ext cx="152019" cy="152400"/>
          </a:xfrm>
          <a:prstGeom prst="rect">
            <a:avLst/>
          </a:prstGeom>
        </p:spPr>
      </p:pic>
      <p:sp>
        <p:nvSpPr>
          <p:cNvPr id="7" name="Text 4"/>
          <p:cNvSpPr txBox="1"/>
          <p:nvPr/>
        </p:nvSpPr>
        <p:spPr>
          <a:xfrm>
            <a:off x="1130864" y="1876425"/>
            <a:ext cx="372105"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Mine:</a:t>
            </a:r>
            <a:endParaRPr lang="en-US" sz="1122" dirty="0">
              <a:solidFill>
                <a:prstClr val="black"/>
              </a:solidFill>
              <a:latin typeface="Calibri" panose="020F0502020204030204"/>
            </a:endParaRPr>
          </a:p>
        </p:txBody>
      </p:sp>
      <p:sp>
        <p:nvSpPr>
          <p:cNvPr id="8" name="Text 5"/>
          <p:cNvSpPr txBox="1"/>
          <p:nvPr/>
        </p:nvSpPr>
        <p:spPr>
          <a:xfrm>
            <a:off x="1578979" y="1876425"/>
            <a:ext cx="4523753"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60% conversion</a:t>
            </a:r>
            <a:r>
              <a:rPr lang="en-US" sz="1122" dirty="0">
                <a:solidFill>
                  <a:srgbClr val="F0F8FF"/>
                </a:solidFill>
                <a:latin typeface="Century Gothic" pitchFamily="34" charset="0"/>
                <a:ea typeface="Century Gothic" pitchFamily="34" charset="-122"/>
                <a:cs typeface="Century Gothic" pitchFamily="34" charset="-120"/>
              </a:rPr>
              <a:t> (baseline understanding triggers deeper engagement)</a:t>
            </a:r>
            <a:endParaRPr lang="en-US" sz="1122" dirty="0">
              <a:solidFill>
                <a:prstClr val="black"/>
              </a:solidFill>
              <a:latin typeface="Calibri" panose="020F0502020204030204"/>
            </a:endParaRPr>
          </a:p>
        </p:txBody>
      </p:sp>
      <p:sp>
        <p:nvSpPr>
          <p:cNvPr id="9" name="Text 6"/>
          <p:cNvSpPr txBox="1"/>
          <p:nvPr/>
        </p:nvSpPr>
        <p:spPr>
          <a:xfrm>
            <a:off x="304038" y="2124075"/>
            <a:ext cx="32467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Mine</a:t>
            </a:r>
            <a:endParaRPr lang="en-US" sz="1122" dirty="0">
              <a:solidFill>
                <a:prstClr val="black"/>
              </a:solidFill>
              <a:latin typeface="Calibri" panose="020F0502020204030204"/>
            </a:endParaRPr>
          </a:p>
        </p:txBody>
      </p:sp>
      <p:pic>
        <p:nvPicPr>
          <p:cNvPr id="10" name="Image 1" descr="preencoded.png"/>
          <p:cNvPicPr>
            <a:picLocks noChangeAspect="1"/>
          </p:cNvPicPr>
          <p:nvPr/>
        </p:nvPicPr>
        <p:blipFill>
          <a:blip r:embed="rId3"/>
          <a:srcRect/>
          <a:stretch/>
        </p:blipFill>
        <p:spPr>
          <a:xfrm>
            <a:off x="704721" y="2133600"/>
            <a:ext cx="152019" cy="152400"/>
          </a:xfrm>
          <a:prstGeom prst="rect">
            <a:avLst/>
          </a:prstGeom>
        </p:spPr>
      </p:pic>
      <p:sp>
        <p:nvSpPr>
          <p:cNvPr id="11" name="Text 7"/>
          <p:cNvSpPr txBox="1"/>
          <p:nvPr/>
        </p:nvSpPr>
        <p:spPr>
          <a:xfrm>
            <a:off x="932750" y="2124075"/>
            <a:ext cx="522640"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Design:</a:t>
            </a:r>
            <a:endParaRPr lang="en-US" sz="1122" dirty="0">
              <a:solidFill>
                <a:prstClr val="black"/>
              </a:solidFill>
              <a:latin typeface="Calibri" panose="020F0502020204030204"/>
            </a:endParaRPr>
          </a:p>
        </p:txBody>
      </p:sp>
      <p:sp>
        <p:nvSpPr>
          <p:cNvPr id="12" name="Text 8"/>
          <p:cNvSpPr txBox="1"/>
          <p:nvPr/>
        </p:nvSpPr>
        <p:spPr>
          <a:xfrm>
            <a:off x="1531399" y="2124075"/>
            <a:ext cx="4396823"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40% conversion</a:t>
            </a:r>
            <a:r>
              <a:rPr lang="en-US" sz="1122" dirty="0">
                <a:solidFill>
                  <a:srgbClr val="F0F8FF"/>
                </a:solidFill>
                <a:latin typeface="Century Gothic" pitchFamily="34" charset="0"/>
                <a:ea typeface="Century Gothic" pitchFamily="34" charset="-122"/>
                <a:cs typeface="Century Gothic" pitchFamily="34" charset="-120"/>
              </a:rPr>
              <a:t> (roadmap needed after understanding current state)</a:t>
            </a:r>
            <a:endParaRPr lang="en-US" sz="1122" dirty="0">
              <a:solidFill>
                <a:prstClr val="black"/>
              </a:solidFill>
              <a:latin typeface="Calibri" panose="020F0502020204030204"/>
            </a:endParaRPr>
          </a:p>
        </p:txBody>
      </p:sp>
      <p:sp>
        <p:nvSpPr>
          <p:cNvPr id="13" name="Text 9"/>
          <p:cNvSpPr txBox="1"/>
          <p:nvPr/>
        </p:nvSpPr>
        <p:spPr>
          <a:xfrm>
            <a:off x="304038" y="2371725"/>
            <a:ext cx="475208"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Design</a:t>
            </a:r>
            <a:endParaRPr lang="en-US" sz="1122" dirty="0">
              <a:solidFill>
                <a:prstClr val="black"/>
              </a:solidFill>
              <a:latin typeface="Calibri" panose="020F0502020204030204"/>
            </a:endParaRPr>
          </a:p>
        </p:txBody>
      </p:sp>
      <p:pic>
        <p:nvPicPr>
          <p:cNvPr id="14" name="Image 2" descr="preencoded.png"/>
          <p:cNvPicPr>
            <a:picLocks noChangeAspect="1"/>
          </p:cNvPicPr>
          <p:nvPr/>
        </p:nvPicPr>
        <p:blipFill>
          <a:blip r:embed="rId3"/>
          <a:srcRect/>
          <a:stretch/>
        </p:blipFill>
        <p:spPr>
          <a:xfrm>
            <a:off x="855255" y="2381250"/>
            <a:ext cx="152019" cy="152400"/>
          </a:xfrm>
          <a:prstGeom prst="rect">
            <a:avLst/>
          </a:prstGeom>
        </p:spPr>
      </p:pic>
      <p:sp>
        <p:nvSpPr>
          <p:cNvPr id="15" name="Text 10"/>
          <p:cNvSpPr txBox="1"/>
          <p:nvPr/>
        </p:nvSpPr>
        <p:spPr>
          <a:xfrm>
            <a:off x="1083284" y="2371725"/>
            <a:ext cx="578088"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Manage:</a:t>
            </a:r>
            <a:endParaRPr lang="en-US" sz="1122" dirty="0">
              <a:solidFill>
                <a:prstClr val="black"/>
              </a:solidFill>
              <a:latin typeface="Calibri" panose="020F0502020204030204"/>
            </a:endParaRPr>
          </a:p>
        </p:txBody>
      </p:sp>
      <p:sp>
        <p:nvSpPr>
          <p:cNvPr id="16" name="Text 11"/>
          <p:cNvSpPr txBox="1"/>
          <p:nvPr/>
        </p:nvSpPr>
        <p:spPr>
          <a:xfrm>
            <a:off x="1737381" y="2371725"/>
            <a:ext cx="457081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50% conversion</a:t>
            </a:r>
            <a:r>
              <a:rPr lang="en-US" sz="1122" dirty="0">
                <a:solidFill>
                  <a:srgbClr val="F0F8FF"/>
                </a:solidFill>
                <a:latin typeface="Century Gothic" pitchFamily="34" charset="0"/>
                <a:ea typeface="Century Gothic" pitchFamily="34" charset="-122"/>
                <a:cs typeface="Century Gothic" pitchFamily="34" charset="-120"/>
              </a:rPr>
              <a:t> (transformation success requires ongoing governance)</a:t>
            </a:r>
            <a:endParaRPr lang="en-US" sz="1122" dirty="0">
              <a:solidFill>
                <a:prstClr val="black"/>
              </a:solidFill>
              <a:latin typeface="Calibri" panose="020F0502020204030204"/>
            </a:endParaRPr>
          </a:p>
        </p:txBody>
      </p:sp>
      <p:sp>
        <p:nvSpPr>
          <p:cNvPr id="17" name="Text 12"/>
          <p:cNvSpPr txBox="1"/>
          <p:nvPr/>
        </p:nvSpPr>
        <p:spPr>
          <a:xfrm>
            <a:off x="304038" y="265747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Cross-team adoption:</a:t>
            </a:r>
            <a:r>
              <a:rPr lang="en-US" sz="1122" dirty="0">
                <a:solidFill>
                  <a:srgbClr val="F0F8FF"/>
                </a:solidFill>
                <a:latin typeface="Century Gothic" pitchFamily="34" charset="0"/>
                <a:ea typeface="Century Gothic" pitchFamily="34" charset="-122"/>
                <a:cs typeface="Century Gothic" pitchFamily="34" charset="-120"/>
              </a:rPr>
              <a:t> Finance, Operations, HR teams using Helm independently</a:t>
            </a:r>
            <a:endParaRPr lang="en-US" sz="1122" dirty="0">
              <a:solidFill>
                <a:prstClr val="black"/>
              </a:solidFill>
              <a:latin typeface="Calibri" panose="020F0502020204030204"/>
            </a:endParaRPr>
          </a:p>
        </p:txBody>
      </p:sp>
      <p:sp>
        <p:nvSpPr>
          <p:cNvPr id="18" name="Text 13"/>
          <p:cNvSpPr txBox="1"/>
          <p:nvPr/>
        </p:nvSpPr>
        <p:spPr>
          <a:xfrm>
            <a:off x="304038" y="30194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Network Effects &amp; Retention</a:t>
            </a:r>
            <a:endParaRPr lang="en-US" sz="1346" dirty="0">
              <a:solidFill>
                <a:prstClr val="black"/>
              </a:solidFill>
              <a:latin typeface="Calibri" panose="020F0502020204030204"/>
            </a:endParaRPr>
          </a:p>
        </p:txBody>
      </p:sp>
      <p:sp>
        <p:nvSpPr>
          <p:cNvPr id="19" name="Text 14"/>
          <p:cNvSpPr txBox="1"/>
          <p:nvPr/>
        </p:nvSpPr>
        <p:spPr>
          <a:xfrm>
            <a:off x="304038" y="3324225"/>
            <a:ext cx="8513064" cy="19050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Peer benchmarking:</a:t>
            </a:r>
            <a:r>
              <a:rPr lang="en-US" sz="1122" dirty="0">
                <a:solidFill>
                  <a:srgbClr val="F0F8FF"/>
                </a:solidFill>
                <a:latin typeface="Century Gothic" pitchFamily="34" charset="0"/>
                <a:ea typeface="Century Gothic" pitchFamily="34" charset="-122"/>
                <a:cs typeface="Century Gothic" pitchFamily="34" charset="-120"/>
              </a:rPr>
              <a:t> </a:t>
            </a:r>
            <a:r>
              <a:rPr lang="en-US" sz="1346" b="1" dirty="0">
                <a:solidFill>
                  <a:srgbClr val="68B8D9"/>
                </a:solidFill>
                <a:latin typeface="Century Gothic" pitchFamily="34" charset="0"/>
                <a:ea typeface="Century Gothic" pitchFamily="34" charset="-122"/>
                <a:cs typeface="Century Gothic" pitchFamily="34" charset="-120"/>
              </a:rPr>
              <a:t>130-180% NDR</a:t>
            </a:r>
            <a:r>
              <a:rPr lang="en-US" sz="1122" dirty="0">
                <a:solidFill>
                  <a:srgbClr val="F0F8FF"/>
                </a:solidFill>
                <a:latin typeface="Century Gothic" pitchFamily="34" charset="0"/>
                <a:ea typeface="Century Gothic" pitchFamily="34" charset="-122"/>
                <a:cs typeface="Century Gothic" pitchFamily="34" charset="-120"/>
              </a:rPr>
              <a:t> driven by expansion revenue</a:t>
            </a:r>
            <a:endParaRPr lang="en-US" sz="1122" dirty="0">
              <a:solidFill>
                <a:prstClr val="black"/>
              </a:solidFill>
              <a:latin typeface="Calibri" panose="020F0502020204030204"/>
            </a:endParaRPr>
          </a:p>
        </p:txBody>
      </p:sp>
      <p:sp>
        <p:nvSpPr>
          <p:cNvPr id="20" name="Text 15"/>
          <p:cNvSpPr txBox="1"/>
          <p:nvPr/>
        </p:nvSpPr>
        <p:spPr>
          <a:xfrm>
            <a:off x="304038" y="359092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Fleet learning:</a:t>
            </a:r>
            <a:r>
              <a:rPr lang="en-US" sz="1122" dirty="0">
                <a:solidFill>
                  <a:srgbClr val="F0F8FF"/>
                </a:solidFill>
                <a:latin typeface="Century Gothic" pitchFamily="34" charset="0"/>
                <a:ea typeface="Century Gothic" pitchFamily="34" charset="-122"/>
                <a:cs typeface="Century Gothic" pitchFamily="34" charset="-120"/>
              </a:rPr>
              <a:t> Every new customer makes product smarter for all (true network effects)</a:t>
            </a:r>
            <a:endParaRPr lang="en-US" sz="1122" dirty="0">
              <a:solidFill>
                <a:prstClr val="black"/>
              </a:solidFill>
              <a:latin typeface="Calibri" panose="020F0502020204030204"/>
            </a:endParaRPr>
          </a:p>
        </p:txBody>
      </p:sp>
      <p:sp>
        <p:nvSpPr>
          <p:cNvPr id="21" name="Text 16"/>
          <p:cNvSpPr txBox="1"/>
          <p:nvPr/>
        </p:nvSpPr>
        <p:spPr>
          <a:xfrm>
            <a:off x="304038" y="383857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Viral coefficient:</a:t>
            </a:r>
            <a:r>
              <a:rPr lang="en-US" sz="1122" dirty="0">
                <a:solidFill>
                  <a:srgbClr val="F0F8FF"/>
                </a:solidFill>
                <a:latin typeface="Century Gothic" pitchFamily="34" charset="0"/>
                <a:ea typeface="Century Gothic" pitchFamily="34" charset="-122"/>
                <a:cs typeface="Century Gothic" pitchFamily="34" charset="-120"/>
              </a:rPr>
              <a:t> Industry benchmarks incentivize sharing (NPS 50+ target)</a:t>
            </a:r>
            <a:endParaRPr lang="en-US" sz="1122" dirty="0">
              <a:solidFill>
                <a:prstClr val="black"/>
              </a:solidFill>
              <a:latin typeface="Calibri" panose="020F0502020204030204"/>
            </a:endParaRPr>
          </a:p>
        </p:txBody>
      </p:sp>
      <p:sp>
        <p:nvSpPr>
          <p:cNvPr id="22" name="Text 17"/>
          <p:cNvSpPr txBox="1"/>
          <p:nvPr/>
        </p:nvSpPr>
        <p:spPr>
          <a:xfrm>
            <a:off x="8860228" y="4848225"/>
            <a:ext cx="118394"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11</a:t>
            </a:r>
            <a:endParaRPr lang="en-US" sz="898" dirty="0">
              <a:solidFill>
                <a:prstClr val="black"/>
              </a:solidFill>
              <a:latin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Traction &amp; Early Validation</a:t>
            </a:r>
            <a:endParaRPr lang="en-US" sz="2245" dirty="0">
              <a:solidFill>
                <a:prstClr val="black"/>
              </a:solidFill>
              <a:latin typeface="Calibri" panose="020F0502020204030204"/>
            </a:endParaRPr>
          </a:p>
        </p:txBody>
      </p:sp>
      <p:sp>
        <p:nvSpPr>
          <p:cNvPr id="4" name="Text 2"/>
          <p:cNvSpPr txBox="1"/>
          <p:nvPr/>
        </p:nvSpPr>
        <p:spPr>
          <a:xfrm>
            <a:off x="304038" y="1514475"/>
            <a:ext cx="8513064" cy="190500"/>
          </a:xfrm>
          <a:prstGeom prst="rect">
            <a:avLst/>
          </a:prstGeom>
          <a:noFill/>
          <a:ln/>
        </p:spPr>
        <p:txBody>
          <a:bodyPr wrap="square" lIns="0" tIns="0" rIns="0" bIns="0" rtlCol="0" anchor="ctr"/>
          <a:lstStyle/>
          <a:p>
            <a:pPr defTabSz="685800"/>
            <a:r>
              <a:rPr lang="en-US" sz="1346" dirty="0">
                <a:solidFill>
                  <a:srgbClr val="FB4100"/>
                </a:solidFill>
                <a:latin typeface="Segoe UI" pitchFamily="34" charset="0"/>
                <a:ea typeface="Segoe UI" pitchFamily="34" charset="-122"/>
                <a:cs typeface="Segoe UI" pitchFamily="34" charset="-120"/>
              </a:rPr>
              <a:t>Product Status</a:t>
            </a:r>
            <a:endParaRPr lang="en-US" sz="1346" dirty="0">
              <a:solidFill>
                <a:prstClr val="black"/>
              </a:solidFill>
              <a:latin typeface="Calibri" panose="020F0502020204030204"/>
            </a:endParaRPr>
          </a:p>
        </p:txBody>
      </p:sp>
      <p:sp>
        <p:nvSpPr>
          <p:cNvPr id="5" name="Text 3"/>
          <p:cNvSpPr txBox="1"/>
          <p:nvPr/>
        </p:nvSpPr>
        <p:spPr>
          <a:xfrm>
            <a:off x="304038" y="181927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[To fill in]:</a:t>
            </a:r>
            <a:r>
              <a:rPr lang="en-US" sz="1122" dirty="0">
                <a:solidFill>
                  <a:srgbClr val="F0F8FF"/>
                </a:solidFill>
                <a:latin typeface="Century Gothic" pitchFamily="34" charset="0"/>
                <a:ea typeface="Century Gothic" pitchFamily="34" charset="-122"/>
                <a:cs typeface="Century Gothic" pitchFamily="34" charset="-120"/>
              </a:rPr>
              <a:t> MVP status, beta users, pilot customers</a:t>
            </a:r>
            <a:endParaRPr lang="en-US" sz="1122" dirty="0">
              <a:solidFill>
                <a:prstClr val="black"/>
              </a:solidFill>
              <a:latin typeface="Calibri" panose="020F0502020204030204"/>
            </a:endParaRPr>
          </a:p>
        </p:txBody>
      </p:sp>
      <p:sp>
        <p:nvSpPr>
          <p:cNvPr id="6" name="Text 4"/>
          <p:cNvSpPr txBox="1"/>
          <p:nvPr/>
        </p:nvSpPr>
        <p:spPr>
          <a:xfrm>
            <a:off x="304038" y="206692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[To fill in]:</a:t>
            </a:r>
            <a:r>
              <a:rPr lang="en-US" sz="1122" dirty="0">
                <a:solidFill>
                  <a:srgbClr val="F0F8FF"/>
                </a:solidFill>
                <a:latin typeface="Century Gothic" pitchFamily="34" charset="0"/>
                <a:ea typeface="Century Gothic" pitchFamily="34" charset="-122"/>
                <a:cs typeface="Century Gothic" pitchFamily="34" charset="-120"/>
              </a:rPr>
              <a:t> User signups or waitlist size</a:t>
            </a:r>
            <a:endParaRPr lang="en-US" sz="1122" dirty="0">
              <a:solidFill>
                <a:prstClr val="black"/>
              </a:solidFill>
              <a:latin typeface="Calibri" panose="020F0502020204030204"/>
            </a:endParaRPr>
          </a:p>
        </p:txBody>
      </p:sp>
      <p:sp>
        <p:nvSpPr>
          <p:cNvPr id="7" name="Text 5"/>
          <p:cNvSpPr txBox="1"/>
          <p:nvPr/>
        </p:nvSpPr>
        <p:spPr>
          <a:xfrm>
            <a:off x="304038" y="242887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Triple Validation Framework</a:t>
            </a:r>
            <a:endParaRPr lang="en-US" sz="1346" dirty="0">
              <a:solidFill>
                <a:prstClr val="black"/>
              </a:solidFill>
              <a:latin typeface="Calibri" panose="020F0502020204030204"/>
            </a:endParaRPr>
          </a:p>
        </p:txBody>
      </p:sp>
      <p:pic>
        <p:nvPicPr>
          <p:cNvPr id="8" name="Image 0" descr="preencoded.png"/>
          <p:cNvPicPr>
            <a:picLocks noChangeAspect="1"/>
          </p:cNvPicPr>
          <p:nvPr/>
        </p:nvPicPr>
        <p:blipFill>
          <a:blip r:embed="rId3"/>
          <a:srcRect/>
          <a:stretch/>
        </p:blipFill>
        <p:spPr>
          <a:xfrm>
            <a:off x="304038" y="2752725"/>
            <a:ext cx="152019" cy="152400"/>
          </a:xfrm>
          <a:prstGeom prst="rect">
            <a:avLst/>
          </a:prstGeom>
        </p:spPr>
      </p:pic>
      <p:sp>
        <p:nvSpPr>
          <p:cNvPr id="9" name="Text 6"/>
          <p:cNvSpPr txBox="1"/>
          <p:nvPr/>
        </p:nvSpPr>
        <p:spPr>
          <a:xfrm>
            <a:off x="532067" y="2733675"/>
            <a:ext cx="5953013"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Customer Conversations:</a:t>
            </a:r>
            <a:r>
              <a:rPr lang="en-US" sz="1122" dirty="0">
                <a:solidFill>
                  <a:srgbClr val="F0F8FF"/>
                </a:solidFill>
                <a:latin typeface="Century Gothic" pitchFamily="34" charset="0"/>
                <a:ea typeface="Century Gothic" pitchFamily="34" charset="-122"/>
                <a:cs typeface="Century Gothic" pitchFamily="34" charset="-120"/>
              </a:rPr>
              <a:t> Service leaders report urgent need for governance + transparency</a:t>
            </a:r>
            <a:endParaRPr lang="en-US" sz="1122" dirty="0">
              <a:solidFill>
                <a:prstClr val="black"/>
              </a:solidFill>
              <a:latin typeface="Calibri" panose="020F0502020204030204"/>
            </a:endParaRPr>
          </a:p>
        </p:txBody>
      </p:sp>
      <p:pic>
        <p:nvPicPr>
          <p:cNvPr id="10" name="Image 1" descr="preencoded.png"/>
          <p:cNvPicPr>
            <a:picLocks noChangeAspect="1"/>
          </p:cNvPicPr>
          <p:nvPr/>
        </p:nvPicPr>
        <p:blipFill>
          <a:blip r:embed="rId3"/>
          <a:srcRect/>
          <a:stretch/>
        </p:blipFill>
        <p:spPr>
          <a:xfrm>
            <a:off x="304038" y="3000375"/>
            <a:ext cx="152019" cy="152400"/>
          </a:xfrm>
          <a:prstGeom prst="rect">
            <a:avLst/>
          </a:prstGeom>
        </p:spPr>
      </p:pic>
      <p:sp>
        <p:nvSpPr>
          <p:cNvPr id="11" name="Text 7"/>
          <p:cNvSpPr txBox="1"/>
          <p:nvPr/>
        </p:nvSpPr>
        <p:spPr>
          <a:xfrm>
            <a:off x="532066" y="2981325"/>
            <a:ext cx="5647640"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Our Own Products:</a:t>
            </a:r>
            <a:r>
              <a:rPr lang="en-US" sz="1122" dirty="0">
                <a:solidFill>
                  <a:srgbClr val="F0F8FF"/>
                </a:solidFill>
                <a:latin typeface="Century Gothic" pitchFamily="34" charset="0"/>
                <a:ea typeface="Century Gothic" pitchFamily="34" charset="-122"/>
                <a:cs typeface="Century Gothic" pitchFamily="34" charset="-120"/>
              </a:rPr>
              <a:t> MAX, Claude Code show teams hitting management constraint daily</a:t>
            </a:r>
            <a:endParaRPr lang="en-US" sz="1122" dirty="0">
              <a:solidFill>
                <a:prstClr val="black"/>
              </a:solidFill>
              <a:latin typeface="Calibri" panose="020F0502020204030204"/>
            </a:endParaRPr>
          </a:p>
        </p:txBody>
      </p:sp>
      <p:pic>
        <p:nvPicPr>
          <p:cNvPr id="12" name="Image 2" descr="preencoded.png"/>
          <p:cNvPicPr>
            <a:picLocks noChangeAspect="1"/>
          </p:cNvPicPr>
          <p:nvPr/>
        </p:nvPicPr>
        <p:blipFill>
          <a:blip r:embed="rId3"/>
          <a:srcRect/>
          <a:stretch/>
        </p:blipFill>
        <p:spPr>
          <a:xfrm>
            <a:off x="304038" y="3248025"/>
            <a:ext cx="152019" cy="152400"/>
          </a:xfrm>
          <a:prstGeom prst="rect">
            <a:avLst/>
          </a:prstGeom>
        </p:spPr>
      </p:pic>
      <p:sp>
        <p:nvSpPr>
          <p:cNvPr id="13" name="Text 8"/>
          <p:cNvSpPr txBox="1"/>
          <p:nvPr/>
        </p:nvSpPr>
        <p:spPr>
          <a:xfrm>
            <a:off x="532067" y="3228975"/>
            <a:ext cx="5782141"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Market Validation:</a:t>
            </a:r>
            <a:r>
              <a:rPr lang="en-US" sz="1122" dirty="0">
                <a:solidFill>
                  <a:srgbClr val="F0F8FF"/>
                </a:solidFill>
                <a:latin typeface="Century Gothic" pitchFamily="34" charset="0"/>
                <a:ea typeface="Century Gothic" pitchFamily="34" charset="-122"/>
                <a:cs typeface="Century Gothic" pitchFamily="34" charset="-120"/>
              </a:rPr>
              <a:t> Ed Sim, Gartner, Forrester publishing same thesis (industry converging)</a:t>
            </a:r>
            <a:endParaRPr lang="en-US" sz="1122" dirty="0">
              <a:solidFill>
                <a:prstClr val="black"/>
              </a:solidFill>
              <a:latin typeface="Calibri" panose="020F0502020204030204"/>
            </a:endParaRPr>
          </a:p>
        </p:txBody>
      </p:sp>
      <p:sp>
        <p:nvSpPr>
          <p:cNvPr id="14" name="Text 9"/>
          <p:cNvSpPr txBox="1"/>
          <p:nvPr/>
        </p:nvSpPr>
        <p:spPr>
          <a:xfrm>
            <a:off x="304038" y="35909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Product Demonstration</a:t>
            </a:r>
            <a:endParaRPr lang="en-US" sz="1346" dirty="0">
              <a:solidFill>
                <a:prstClr val="black"/>
              </a:solidFill>
              <a:latin typeface="Calibri" panose="020F0502020204030204"/>
            </a:endParaRPr>
          </a:p>
        </p:txBody>
      </p:sp>
      <p:sp>
        <p:nvSpPr>
          <p:cNvPr id="15" name="Text 10"/>
          <p:cNvSpPr txBox="1"/>
          <p:nvPr/>
        </p:nvSpPr>
        <p:spPr>
          <a:xfrm>
            <a:off x="304038" y="389572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Radar UI Prototype:</a:t>
            </a:r>
            <a:r>
              <a:rPr lang="en-US" sz="1122" dirty="0">
                <a:solidFill>
                  <a:srgbClr val="F0F8FF"/>
                </a:solidFill>
                <a:latin typeface="Century Gothic" pitchFamily="34" charset="0"/>
                <a:ea typeface="Century Gothic" pitchFamily="34" charset="-122"/>
                <a:cs typeface="Century Gothic" pitchFamily="34" charset="-120"/>
              </a:rPr>
              <a:t> Interactive visualization of real-time decision patterns (Mine module capability)</a:t>
            </a:r>
            <a:endParaRPr lang="en-US" sz="1122" dirty="0">
              <a:solidFill>
                <a:prstClr val="black"/>
              </a:solidFill>
              <a:latin typeface="Calibri" panose="020F0502020204030204"/>
            </a:endParaRPr>
          </a:p>
        </p:txBody>
      </p:sp>
      <p:sp>
        <p:nvSpPr>
          <p:cNvPr id="16" name="Text 11"/>
          <p:cNvSpPr txBox="1"/>
          <p:nvPr/>
        </p:nvSpPr>
        <p:spPr>
          <a:xfrm>
            <a:off x="8851767" y="4848225"/>
            <a:ext cx="126856"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12</a:t>
            </a:r>
            <a:endParaRPr lang="en-US" sz="898" dirty="0">
              <a:solidFill>
                <a:prstClr val="black"/>
              </a:solidFill>
              <a:latin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Product Roadmap</a:t>
            </a:r>
            <a:endParaRPr lang="en-US" sz="2245" dirty="0">
              <a:solidFill>
                <a:prstClr val="black"/>
              </a:solidFill>
              <a:latin typeface="Calibri" panose="020F0502020204030204"/>
            </a:endParaRPr>
          </a:p>
        </p:txBody>
      </p:sp>
      <p:sp>
        <p:nvSpPr>
          <p:cNvPr id="4" name="Shape 2"/>
          <p:cNvSpPr/>
          <p:nvPr/>
        </p:nvSpPr>
        <p:spPr>
          <a:xfrm>
            <a:off x="304039" y="895350"/>
            <a:ext cx="4199525" cy="1914525"/>
          </a:xfrm>
          <a:prstGeom prst="roundRect">
            <a:avLst>
              <a:gd name="adj" fmla="val 213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5" name="Text 3"/>
          <p:cNvSpPr txBox="1"/>
          <p:nvPr/>
        </p:nvSpPr>
        <p:spPr>
          <a:xfrm>
            <a:off x="456058" y="1047750"/>
            <a:ext cx="3895487"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Q1 2026 (Current Release)</a:t>
            </a:r>
            <a:endParaRPr lang="en-US" sz="1346" dirty="0">
              <a:solidFill>
                <a:prstClr val="black"/>
              </a:solidFill>
              <a:latin typeface="Calibri" panose="020F0502020204030204"/>
            </a:endParaRPr>
          </a:p>
        </p:txBody>
      </p:sp>
      <p:sp>
        <p:nvSpPr>
          <p:cNvPr id="6" name="Text 4"/>
          <p:cNvSpPr txBox="1"/>
          <p:nvPr/>
        </p:nvSpPr>
        <p:spPr>
          <a:xfrm>
            <a:off x="456058" y="1314450"/>
            <a:ext cx="3895487" cy="152400"/>
          </a:xfrm>
          <a:prstGeom prst="rect">
            <a:avLst/>
          </a:prstGeom>
          <a:noFill/>
          <a:ln/>
        </p:spPr>
        <p:txBody>
          <a:bodyPr wrap="square" lIns="0" tIns="0" rIns="0" bIns="0" rtlCol="0" anchor="ctr"/>
          <a:lstStyle/>
          <a:p>
            <a:pPr defTabSz="685800"/>
            <a:r>
              <a:rPr lang="en-US" sz="898" b="1" dirty="0">
                <a:solidFill>
                  <a:srgbClr val="F0F8FF"/>
                </a:solidFill>
                <a:latin typeface="Century Gothic" pitchFamily="34" charset="0"/>
                <a:ea typeface="Century Gothic" pitchFamily="34" charset="-122"/>
                <a:cs typeface="Century Gothic" pitchFamily="34" charset="-120"/>
              </a:rPr>
              <a:t>[To fill in]:</a:t>
            </a:r>
            <a:r>
              <a:rPr lang="en-US" sz="898" dirty="0">
                <a:solidFill>
                  <a:srgbClr val="F0F8FF"/>
                </a:solidFill>
                <a:latin typeface="Century Gothic" pitchFamily="34" charset="0"/>
                <a:ea typeface="Century Gothic" pitchFamily="34" charset="-122"/>
                <a:cs typeface="Century Gothic" pitchFamily="34" charset="-120"/>
              </a:rPr>
              <a:t> MVP feature set and current capabilities shipped</a:t>
            </a:r>
            <a:endParaRPr lang="en-US" sz="898" dirty="0">
              <a:solidFill>
                <a:prstClr val="black"/>
              </a:solidFill>
              <a:latin typeface="Calibri" panose="020F0502020204030204"/>
            </a:endParaRPr>
          </a:p>
        </p:txBody>
      </p:sp>
      <p:sp>
        <p:nvSpPr>
          <p:cNvPr id="7" name="Shape 5"/>
          <p:cNvSpPr/>
          <p:nvPr/>
        </p:nvSpPr>
        <p:spPr>
          <a:xfrm>
            <a:off x="4617578" y="895350"/>
            <a:ext cx="4199525" cy="1914525"/>
          </a:xfrm>
          <a:prstGeom prst="roundRect">
            <a:avLst>
              <a:gd name="adj" fmla="val 213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8" name="Text 6"/>
          <p:cNvSpPr txBox="1"/>
          <p:nvPr/>
        </p:nvSpPr>
        <p:spPr>
          <a:xfrm>
            <a:off x="4769597" y="1047750"/>
            <a:ext cx="3895487"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Q2-Q3 2026 (Near-Term)</a:t>
            </a:r>
            <a:endParaRPr lang="en-US" sz="1346" dirty="0">
              <a:solidFill>
                <a:prstClr val="black"/>
              </a:solidFill>
              <a:latin typeface="Calibri" panose="020F0502020204030204"/>
            </a:endParaRPr>
          </a:p>
        </p:txBody>
      </p:sp>
      <p:sp>
        <p:nvSpPr>
          <p:cNvPr id="9" name="Text 7"/>
          <p:cNvSpPr txBox="1"/>
          <p:nvPr/>
        </p:nvSpPr>
        <p:spPr>
          <a:xfrm>
            <a:off x="4769597" y="1314450"/>
            <a:ext cx="3895487" cy="152400"/>
          </a:xfrm>
          <a:prstGeom prst="rect">
            <a:avLst/>
          </a:prstGeom>
          <a:noFill/>
          <a:ln/>
        </p:spPr>
        <p:txBody>
          <a:bodyPr wrap="square" lIns="0" tIns="0" rIns="0" bIns="0" rtlCol="0" anchor="ctr"/>
          <a:lstStyle/>
          <a:p>
            <a:pPr defTabSz="685800"/>
            <a:r>
              <a:rPr lang="en-US" sz="898" b="1" dirty="0">
                <a:solidFill>
                  <a:srgbClr val="F0F8FF"/>
                </a:solidFill>
                <a:latin typeface="Century Gothic" pitchFamily="34" charset="0"/>
                <a:ea typeface="Century Gothic" pitchFamily="34" charset="-122"/>
                <a:cs typeface="Century Gothic" pitchFamily="34" charset="-120"/>
              </a:rPr>
              <a:t>[To fill in]:</a:t>
            </a:r>
            <a:r>
              <a:rPr lang="en-US" sz="898" dirty="0">
                <a:solidFill>
                  <a:srgbClr val="F0F8FF"/>
                </a:solidFill>
                <a:latin typeface="Century Gothic" pitchFamily="34" charset="0"/>
                <a:ea typeface="Century Gothic" pitchFamily="34" charset="-122"/>
                <a:cs typeface="Century Gothic" pitchFamily="34" charset="-120"/>
              </a:rPr>
              <a:t> Key features and customer feedback integration</a:t>
            </a:r>
            <a:endParaRPr lang="en-US" sz="898" dirty="0">
              <a:solidFill>
                <a:prstClr val="black"/>
              </a:solidFill>
              <a:latin typeface="Calibri" panose="020F0502020204030204"/>
            </a:endParaRPr>
          </a:p>
        </p:txBody>
      </p:sp>
      <p:sp>
        <p:nvSpPr>
          <p:cNvPr id="10" name="Shape 8"/>
          <p:cNvSpPr/>
          <p:nvPr/>
        </p:nvSpPr>
        <p:spPr>
          <a:xfrm>
            <a:off x="304039" y="2924175"/>
            <a:ext cx="4199525" cy="1914525"/>
          </a:xfrm>
          <a:prstGeom prst="roundRect">
            <a:avLst>
              <a:gd name="adj" fmla="val 213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11" name="Text 9"/>
          <p:cNvSpPr txBox="1"/>
          <p:nvPr/>
        </p:nvSpPr>
        <p:spPr>
          <a:xfrm>
            <a:off x="456058" y="3076575"/>
            <a:ext cx="3895487"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Q4 2026 - Q2 2027 (Mid-Term)</a:t>
            </a:r>
            <a:endParaRPr lang="en-US" sz="1346" dirty="0">
              <a:solidFill>
                <a:prstClr val="black"/>
              </a:solidFill>
              <a:latin typeface="Calibri" panose="020F0502020204030204"/>
            </a:endParaRPr>
          </a:p>
        </p:txBody>
      </p:sp>
      <p:sp>
        <p:nvSpPr>
          <p:cNvPr id="12" name="Text 10"/>
          <p:cNvSpPr txBox="1"/>
          <p:nvPr/>
        </p:nvSpPr>
        <p:spPr>
          <a:xfrm>
            <a:off x="456058" y="3343275"/>
            <a:ext cx="3895487" cy="152400"/>
          </a:xfrm>
          <a:prstGeom prst="rect">
            <a:avLst/>
          </a:prstGeom>
          <a:noFill/>
          <a:ln/>
        </p:spPr>
        <p:txBody>
          <a:bodyPr wrap="square" lIns="0" tIns="0" rIns="0" bIns="0" rtlCol="0" anchor="ctr"/>
          <a:lstStyle/>
          <a:p>
            <a:pPr defTabSz="685800"/>
            <a:r>
              <a:rPr lang="en-US" sz="898" b="1" dirty="0">
                <a:solidFill>
                  <a:srgbClr val="F0F8FF"/>
                </a:solidFill>
                <a:latin typeface="Century Gothic" pitchFamily="34" charset="0"/>
                <a:ea typeface="Century Gothic" pitchFamily="34" charset="-122"/>
                <a:cs typeface="Century Gothic" pitchFamily="34" charset="-120"/>
              </a:rPr>
              <a:t>[To fill in]:</a:t>
            </a:r>
            <a:r>
              <a:rPr lang="en-US" sz="898" dirty="0">
                <a:solidFill>
                  <a:srgbClr val="F0F8FF"/>
                </a:solidFill>
                <a:latin typeface="Century Gothic" pitchFamily="34" charset="0"/>
                <a:ea typeface="Century Gothic" pitchFamily="34" charset="-122"/>
                <a:cs typeface="Century Gothic" pitchFamily="34" charset="-120"/>
              </a:rPr>
              <a:t> New module capabilities and vertical specialization deepening</a:t>
            </a:r>
            <a:endParaRPr lang="en-US" sz="898" dirty="0">
              <a:solidFill>
                <a:prstClr val="black"/>
              </a:solidFill>
              <a:latin typeface="Calibri" panose="020F0502020204030204"/>
            </a:endParaRPr>
          </a:p>
        </p:txBody>
      </p:sp>
      <p:sp>
        <p:nvSpPr>
          <p:cNvPr id="13" name="Shape 11"/>
          <p:cNvSpPr/>
          <p:nvPr/>
        </p:nvSpPr>
        <p:spPr>
          <a:xfrm>
            <a:off x="4617578" y="2924175"/>
            <a:ext cx="4199525" cy="1914525"/>
          </a:xfrm>
          <a:prstGeom prst="roundRect">
            <a:avLst>
              <a:gd name="adj" fmla="val 2139"/>
            </a:avLst>
          </a:prstGeom>
          <a:solidFill>
            <a:srgbClr val="0077BE">
              <a:alpha val="10000"/>
            </a:srgbClr>
          </a:solidFill>
          <a:ln/>
        </p:spPr>
        <p:txBody>
          <a:bodyPr/>
          <a:lstStyle/>
          <a:p>
            <a:pPr defTabSz="685800"/>
            <a:endParaRPr lang="en-US" sz="1350">
              <a:solidFill>
                <a:prstClr val="black"/>
              </a:solidFill>
              <a:latin typeface="Calibri" panose="020F0502020204030204"/>
            </a:endParaRPr>
          </a:p>
        </p:txBody>
      </p:sp>
      <p:sp>
        <p:nvSpPr>
          <p:cNvPr id="14" name="Text 12"/>
          <p:cNvSpPr txBox="1"/>
          <p:nvPr/>
        </p:nvSpPr>
        <p:spPr>
          <a:xfrm>
            <a:off x="4769597" y="3076575"/>
            <a:ext cx="3895487" cy="190500"/>
          </a:xfrm>
          <a:prstGeom prst="rect">
            <a:avLst/>
          </a:prstGeom>
          <a:noFill/>
          <a:ln/>
        </p:spPr>
        <p:txBody>
          <a:bodyPr wrap="square" lIns="0" tIns="0" rIns="0" bIns="0" rtlCol="0" anchor="ctr"/>
          <a:lstStyle/>
          <a:p>
            <a:pPr defTabSz="685800"/>
            <a:r>
              <a:rPr lang="en-US" sz="1346" b="1" dirty="0">
                <a:solidFill>
                  <a:srgbClr val="68B8D9"/>
                </a:solidFill>
                <a:latin typeface="Segoe UI" pitchFamily="34" charset="0"/>
                <a:ea typeface="Segoe UI" pitchFamily="34" charset="-122"/>
                <a:cs typeface="Segoe UI" pitchFamily="34" charset="-120"/>
              </a:rPr>
              <a:t>2027+ (Long-Term)</a:t>
            </a:r>
            <a:endParaRPr lang="en-US" sz="1346" dirty="0">
              <a:solidFill>
                <a:prstClr val="black"/>
              </a:solidFill>
              <a:latin typeface="Calibri" panose="020F0502020204030204"/>
            </a:endParaRPr>
          </a:p>
        </p:txBody>
      </p:sp>
      <p:sp>
        <p:nvSpPr>
          <p:cNvPr id="15" name="Text 13"/>
          <p:cNvSpPr txBox="1"/>
          <p:nvPr/>
        </p:nvSpPr>
        <p:spPr>
          <a:xfrm>
            <a:off x="4769597" y="3343275"/>
            <a:ext cx="3895487" cy="152400"/>
          </a:xfrm>
          <a:prstGeom prst="rect">
            <a:avLst/>
          </a:prstGeom>
          <a:noFill/>
          <a:ln/>
        </p:spPr>
        <p:txBody>
          <a:bodyPr wrap="square" lIns="0" tIns="0" rIns="0" bIns="0" rtlCol="0" anchor="ctr"/>
          <a:lstStyle/>
          <a:p>
            <a:pPr defTabSz="685800"/>
            <a:r>
              <a:rPr lang="en-US" sz="898" b="1" dirty="0">
                <a:solidFill>
                  <a:srgbClr val="F0F8FF"/>
                </a:solidFill>
                <a:latin typeface="Century Gothic" pitchFamily="34" charset="0"/>
                <a:ea typeface="Century Gothic" pitchFamily="34" charset="-122"/>
                <a:cs typeface="Century Gothic" pitchFamily="34" charset="-120"/>
              </a:rPr>
              <a:t>[To fill in]:</a:t>
            </a:r>
            <a:r>
              <a:rPr lang="en-US" sz="898" dirty="0">
                <a:solidFill>
                  <a:srgbClr val="F0F8FF"/>
                </a:solidFill>
                <a:latin typeface="Century Gothic" pitchFamily="34" charset="0"/>
                <a:ea typeface="Century Gothic" pitchFamily="34" charset="-122"/>
                <a:cs typeface="Century Gothic" pitchFamily="34" charset="-120"/>
              </a:rPr>
              <a:t> Enterprise features and expansion to adjacent verticals</a:t>
            </a:r>
            <a:endParaRPr lang="en-US" sz="898" dirty="0">
              <a:solidFill>
                <a:prstClr val="black"/>
              </a:solidFill>
              <a:latin typeface="Calibri" panose="020F0502020204030204"/>
            </a:endParaRPr>
          </a:p>
        </p:txBody>
      </p:sp>
      <p:sp>
        <p:nvSpPr>
          <p:cNvPr id="16" name="Text 14"/>
          <p:cNvSpPr txBox="1"/>
          <p:nvPr/>
        </p:nvSpPr>
        <p:spPr>
          <a:xfrm>
            <a:off x="8851767" y="4848225"/>
            <a:ext cx="126856"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13</a:t>
            </a:r>
            <a:endParaRPr lang="en-US" sz="898" dirty="0">
              <a:solidFill>
                <a:prstClr val="black"/>
              </a:solidFill>
              <a:latin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04038" y="457200"/>
            <a:ext cx="8513064" cy="285750"/>
          </a:xfrm>
          <a:prstGeom prst="rect">
            <a:avLst/>
          </a:prstGeom>
          <a:noFill/>
          <a:ln/>
        </p:spPr>
        <p:txBody>
          <a:bodyPr wrap="square" lIns="0" tIns="0" rIns="0" bIns="0" rtlCol="0" anchor="ctr"/>
          <a:lstStyle/>
          <a:p>
            <a:pPr defTabSz="685800"/>
            <a:r>
              <a:rPr lang="en-US" sz="2245" b="1" dirty="0">
                <a:solidFill>
                  <a:srgbClr val="F0F8FF"/>
                </a:solidFill>
                <a:latin typeface="Segoe UI" pitchFamily="34" charset="0"/>
                <a:ea typeface="Segoe UI" pitchFamily="34" charset="-122"/>
                <a:cs typeface="Segoe UI" pitchFamily="34" charset="-120"/>
              </a:rPr>
              <a:t>The Ask</a:t>
            </a:r>
            <a:endParaRPr lang="en-US" sz="2245" dirty="0">
              <a:solidFill>
                <a:prstClr val="black"/>
              </a:solidFill>
              <a:latin typeface="Calibri" panose="020F0502020204030204"/>
            </a:endParaRPr>
          </a:p>
        </p:txBody>
      </p:sp>
      <p:sp>
        <p:nvSpPr>
          <p:cNvPr id="4" name="Text 2"/>
          <p:cNvSpPr txBox="1"/>
          <p:nvPr/>
        </p:nvSpPr>
        <p:spPr>
          <a:xfrm>
            <a:off x="304038" y="1476375"/>
            <a:ext cx="8513064" cy="190500"/>
          </a:xfrm>
          <a:prstGeom prst="rect">
            <a:avLst/>
          </a:prstGeom>
          <a:noFill/>
          <a:ln/>
        </p:spPr>
        <p:txBody>
          <a:bodyPr wrap="square" lIns="0" tIns="0" rIns="0" bIns="0" rtlCol="0" anchor="ctr"/>
          <a:lstStyle/>
          <a:p>
            <a:pPr defTabSz="685800"/>
            <a:r>
              <a:rPr lang="en-US" sz="1346" dirty="0">
                <a:solidFill>
                  <a:srgbClr val="FB4100"/>
                </a:solidFill>
                <a:latin typeface="Segoe UI" pitchFamily="34" charset="0"/>
                <a:ea typeface="Segoe UI" pitchFamily="34" charset="-122"/>
                <a:cs typeface="Segoe UI" pitchFamily="34" charset="-120"/>
              </a:rPr>
              <a:t>Funding Request</a:t>
            </a:r>
            <a:endParaRPr lang="en-US" sz="1346" dirty="0">
              <a:solidFill>
                <a:prstClr val="black"/>
              </a:solidFill>
              <a:latin typeface="Calibri" panose="020F0502020204030204"/>
            </a:endParaRPr>
          </a:p>
        </p:txBody>
      </p:sp>
      <p:sp>
        <p:nvSpPr>
          <p:cNvPr id="5" name="Text 3"/>
          <p:cNvSpPr txBox="1"/>
          <p:nvPr/>
        </p:nvSpPr>
        <p:spPr>
          <a:xfrm>
            <a:off x="304038" y="178117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[To fill in]:</a:t>
            </a:r>
            <a:r>
              <a:rPr lang="en-US" sz="1122" dirty="0">
                <a:solidFill>
                  <a:srgbClr val="F0F8FF"/>
                </a:solidFill>
                <a:latin typeface="Century Gothic" pitchFamily="34" charset="0"/>
                <a:ea typeface="Century Gothic" pitchFamily="34" charset="-122"/>
                <a:cs typeface="Century Gothic" pitchFamily="34" charset="-120"/>
              </a:rPr>
              <a:t> Amount sought</a:t>
            </a:r>
            <a:endParaRPr lang="en-US" sz="1122" dirty="0">
              <a:solidFill>
                <a:prstClr val="black"/>
              </a:solidFill>
              <a:latin typeface="Calibri" panose="020F0502020204030204"/>
            </a:endParaRPr>
          </a:p>
        </p:txBody>
      </p:sp>
      <p:sp>
        <p:nvSpPr>
          <p:cNvPr id="6" name="Text 4"/>
          <p:cNvSpPr txBox="1"/>
          <p:nvPr/>
        </p:nvSpPr>
        <p:spPr>
          <a:xfrm>
            <a:off x="304038" y="202882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[To fill in]:</a:t>
            </a:r>
            <a:r>
              <a:rPr lang="en-US" sz="1122" dirty="0">
                <a:solidFill>
                  <a:srgbClr val="F0F8FF"/>
                </a:solidFill>
                <a:latin typeface="Century Gothic" pitchFamily="34" charset="0"/>
                <a:ea typeface="Century Gothic" pitchFamily="34" charset="-122"/>
                <a:cs typeface="Century Gothic" pitchFamily="34" charset="-120"/>
              </a:rPr>
              <a:t> Round structure (SAFE, priced, etc.)</a:t>
            </a:r>
            <a:endParaRPr lang="en-US" sz="1122" dirty="0">
              <a:solidFill>
                <a:prstClr val="black"/>
              </a:solidFill>
              <a:latin typeface="Calibri" panose="020F0502020204030204"/>
            </a:endParaRPr>
          </a:p>
        </p:txBody>
      </p:sp>
      <p:sp>
        <p:nvSpPr>
          <p:cNvPr id="7" name="Text 5"/>
          <p:cNvSpPr txBox="1"/>
          <p:nvPr/>
        </p:nvSpPr>
        <p:spPr>
          <a:xfrm>
            <a:off x="304038" y="242887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Use of Funds</a:t>
            </a:r>
            <a:endParaRPr lang="en-US" sz="1346" dirty="0">
              <a:solidFill>
                <a:prstClr val="black"/>
              </a:solidFill>
              <a:latin typeface="Calibri" panose="020F0502020204030204"/>
            </a:endParaRPr>
          </a:p>
        </p:txBody>
      </p:sp>
      <p:sp>
        <p:nvSpPr>
          <p:cNvPr id="8" name="Text 6"/>
          <p:cNvSpPr txBox="1"/>
          <p:nvPr/>
        </p:nvSpPr>
        <p:spPr>
          <a:xfrm>
            <a:off x="304038" y="273367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Engineering/Product:</a:t>
            </a:r>
            <a:r>
              <a:rPr lang="en-US" sz="1122" dirty="0">
                <a:solidFill>
                  <a:srgbClr val="F0F8FF"/>
                </a:solidFill>
                <a:latin typeface="Century Gothic" pitchFamily="34" charset="0"/>
                <a:ea typeface="Century Gothic" pitchFamily="34" charset="-122"/>
                <a:cs typeface="Century Gothic" pitchFamily="34" charset="-120"/>
              </a:rPr>
              <a:t> [To fill in: %]</a:t>
            </a:r>
            <a:endParaRPr lang="en-US" sz="1122" dirty="0">
              <a:solidFill>
                <a:prstClr val="black"/>
              </a:solidFill>
              <a:latin typeface="Calibri" panose="020F0502020204030204"/>
            </a:endParaRPr>
          </a:p>
        </p:txBody>
      </p:sp>
      <p:sp>
        <p:nvSpPr>
          <p:cNvPr id="9" name="Text 7"/>
          <p:cNvSpPr txBox="1"/>
          <p:nvPr/>
        </p:nvSpPr>
        <p:spPr>
          <a:xfrm>
            <a:off x="304038" y="298132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Sales &amp; Marketing:</a:t>
            </a:r>
            <a:r>
              <a:rPr lang="en-US" sz="1122" dirty="0">
                <a:solidFill>
                  <a:srgbClr val="F0F8FF"/>
                </a:solidFill>
                <a:latin typeface="Century Gothic" pitchFamily="34" charset="0"/>
                <a:ea typeface="Century Gothic" pitchFamily="34" charset="-122"/>
                <a:cs typeface="Century Gothic" pitchFamily="34" charset="-120"/>
              </a:rPr>
              <a:t> [To fill in: %]</a:t>
            </a:r>
            <a:endParaRPr lang="en-US" sz="1122" dirty="0">
              <a:solidFill>
                <a:prstClr val="black"/>
              </a:solidFill>
              <a:latin typeface="Calibri" panose="020F0502020204030204"/>
            </a:endParaRPr>
          </a:p>
        </p:txBody>
      </p:sp>
      <p:sp>
        <p:nvSpPr>
          <p:cNvPr id="10" name="Text 8"/>
          <p:cNvSpPr txBox="1"/>
          <p:nvPr/>
        </p:nvSpPr>
        <p:spPr>
          <a:xfrm>
            <a:off x="304038" y="3228975"/>
            <a:ext cx="8513064" cy="171450"/>
          </a:xfrm>
          <a:prstGeom prst="rect">
            <a:avLst/>
          </a:prstGeom>
          <a:noFill/>
          <a:ln/>
        </p:spPr>
        <p:txBody>
          <a:bodyPr wrap="square" lIns="0" tIns="0" rIns="0" bIns="0" rtlCol="0" anchor="ctr"/>
          <a:lstStyle/>
          <a:p>
            <a:pPr defTabSz="685800"/>
            <a:r>
              <a:rPr lang="en-US" sz="1122" b="1" dirty="0">
                <a:solidFill>
                  <a:srgbClr val="68B8D9"/>
                </a:solidFill>
                <a:latin typeface="Century Gothic" pitchFamily="34" charset="0"/>
                <a:ea typeface="Century Gothic" pitchFamily="34" charset="-122"/>
                <a:cs typeface="Century Gothic" pitchFamily="34" charset="-120"/>
              </a:rPr>
              <a:t>• Operations:</a:t>
            </a:r>
            <a:r>
              <a:rPr lang="en-US" sz="1122" dirty="0">
                <a:solidFill>
                  <a:srgbClr val="F0F8FF"/>
                </a:solidFill>
                <a:latin typeface="Century Gothic" pitchFamily="34" charset="0"/>
                <a:ea typeface="Century Gothic" pitchFamily="34" charset="-122"/>
                <a:cs typeface="Century Gothic" pitchFamily="34" charset="-120"/>
              </a:rPr>
              <a:t> [To fill in: %]</a:t>
            </a:r>
            <a:endParaRPr lang="en-US" sz="1122" dirty="0">
              <a:solidFill>
                <a:prstClr val="black"/>
              </a:solidFill>
              <a:latin typeface="Calibri" panose="020F0502020204030204"/>
            </a:endParaRPr>
          </a:p>
        </p:txBody>
      </p:sp>
      <p:sp>
        <p:nvSpPr>
          <p:cNvPr id="11" name="Text 9"/>
          <p:cNvSpPr txBox="1"/>
          <p:nvPr/>
        </p:nvSpPr>
        <p:spPr>
          <a:xfrm>
            <a:off x="304038" y="3629025"/>
            <a:ext cx="8513064" cy="190500"/>
          </a:xfrm>
          <a:prstGeom prst="rect">
            <a:avLst/>
          </a:prstGeom>
          <a:noFill/>
          <a:ln/>
        </p:spPr>
        <p:txBody>
          <a:bodyPr wrap="square" lIns="0" tIns="0" rIns="0" bIns="0" rtlCol="0" anchor="ctr"/>
          <a:lstStyle/>
          <a:p>
            <a:pPr defTabSz="685800"/>
            <a:r>
              <a:rPr lang="en-US" sz="1346" dirty="0">
                <a:solidFill>
                  <a:srgbClr val="68B8D9"/>
                </a:solidFill>
                <a:latin typeface="Segoe UI" pitchFamily="34" charset="0"/>
                <a:ea typeface="Segoe UI" pitchFamily="34" charset="-122"/>
                <a:cs typeface="Segoe UI" pitchFamily="34" charset="-120"/>
              </a:rPr>
              <a:t>Key Milestones</a:t>
            </a:r>
            <a:endParaRPr lang="en-US" sz="1346" dirty="0">
              <a:solidFill>
                <a:prstClr val="black"/>
              </a:solidFill>
              <a:latin typeface="Calibri" panose="020F0502020204030204"/>
            </a:endParaRPr>
          </a:p>
        </p:txBody>
      </p:sp>
      <p:sp>
        <p:nvSpPr>
          <p:cNvPr id="12" name="Text 10"/>
          <p:cNvSpPr txBox="1"/>
          <p:nvPr/>
        </p:nvSpPr>
        <p:spPr>
          <a:xfrm>
            <a:off x="304038" y="3933825"/>
            <a:ext cx="851306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 </a:t>
            </a:r>
            <a:r>
              <a:rPr lang="en-US" sz="1122" b="1" dirty="0">
                <a:solidFill>
                  <a:srgbClr val="F0F8FF"/>
                </a:solidFill>
                <a:latin typeface="Century Gothic" pitchFamily="34" charset="0"/>
                <a:ea typeface="Century Gothic" pitchFamily="34" charset="-122"/>
                <a:cs typeface="Century Gothic" pitchFamily="34" charset="-120"/>
              </a:rPr>
              <a:t>[To fill in]:</a:t>
            </a:r>
            <a:r>
              <a:rPr lang="en-US" sz="1122" dirty="0">
                <a:solidFill>
                  <a:srgbClr val="F0F8FF"/>
                </a:solidFill>
                <a:latin typeface="Century Gothic" pitchFamily="34" charset="0"/>
                <a:ea typeface="Century Gothic" pitchFamily="34" charset="-122"/>
                <a:cs typeface="Century Gothic" pitchFamily="34" charset="-120"/>
              </a:rPr>
              <a:t> 3-4 major objectives and targets</a:t>
            </a:r>
            <a:endParaRPr lang="en-US" sz="1122" dirty="0">
              <a:solidFill>
                <a:prstClr val="black"/>
              </a:solidFill>
              <a:latin typeface="Calibri" panose="020F0502020204030204"/>
            </a:endParaRPr>
          </a:p>
        </p:txBody>
      </p:sp>
      <p:sp>
        <p:nvSpPr>
          <p:cNvPr id="13" name="Text 11"/>
          <p:cNvSpPr txBox="1"/>
          <p:nvPr/>
        </p:nvSpPr>
        <p:spPr>
          <a:xfrm>
            <a:off x="8851767" y="4848225"/>
            <a:ext cx="126856"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14</a:t>
            </a:r>
            <a:endParaRPr lang="en-US" sz="898" dirty="0">
              <a:solidFill>
                <a:prstClr val="black"/>
              </a:solidFill>
              <a:latin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3B5C"/>
        </a:solidFill>
        <a:effectLst/>
      </p:bgPr>
    </p:bg>
    <p:spTree>
      <p:nvGrpSpPr>
        <p:cNvPr id="1" name=""/>
        <p:cNvGrpSpPr/>
        <p:nvPr/>
      </p:nvGrpSpPr>
      <p:grpSpPr>
        <a:xfrm>
          <a:off x="0" y="0"/>
          <a:ext cx="0" cy="0"/>
          <a:chOff x="0" y="0"/>
          <a:chExt cx="0" cy="0"/>
        </a:xfrm>
      </p:grpSpPr>
      <p:sp>
        <p:nvSpPr>
          <p:cNvPr id="2" name="Text 0"/>
          <p:cNvSpPr txBox="1"/>
          <p:nvPr/>
        </p:nvSpPr>
        <p:spPr>
          <a:xfrm>
            <a:off x="142518" y="142875"/>
            <a:ext cx="950416" cy="152400"/>
          </a:xfrm>
          <a:prstGeom prst="rect">
            <a:avLst/>
          </a:prstGeom>
          <a:noFill/>
          <a:ln/>
        </p:spPr>
        <p:txBody>
          <a:bodyPr wrap="square" lIns="0" tIns="0" rIns="0" bIns="0" rtlCol="0" anchor="ctr"/>
          <a:lstStyle/>
          <a:p>
            <a:pPr defTabSz="685800"/>
            <a:r>
              <a:rPr lang="en-US" sz="898" dirty="0">
                <a:solidFill>
                  <a:srgbClr val="F0F8FF"/>
                </a:solidFill>
                <a:latin typeface="Segoe UI" pitchFamily="34" charset="0"/>
                <a:ea typeface="Segoe UI" pitchFamily="34" charset="-122"/>
                <a:cs typeface="Segoe UI" pitchFamily="34" charset="-120"/>
              </a:rPr>
              <a:t>Helm by Synaptic</a:t>
            </a:r>
            <a:endParaRPr lang="en-US" sz="898" dirty="0">
              <a:solidFill>
                <a:prstClr val="black"/>
              </a:solidFill>
              <a:latin typeface="Calibri" panose="020F0502020204030204"/>
            </a:endParaRPr>
          </a:p>
        </p:txBody>
      </p:sp>
      <p:sp>
        <p:nvSpPr>
          <p:cNvPr id="3" name="Text 1"/>
          <p:cNvSpPr txBox="1"/>
          <p:nvPr/>
        </p:nvSpPr>
        <p:spPr>
          <a:xfrm>
            <a:off x="380048" y="923925"/>
            <a:ext cx="8361045" cy="914400"/>
          </a:xfrm>
          <a:prstGeom prst="rect">
            <a:avLst/>
          </a:prstGeom>
          <a:noFill/>
          <a:ln/>
        </p:spPr>
        <p:txBody>
          <a:bodyPr wrap="square" lIns="0" tIns="0" rIns="0" bIns="0" rtlCol="0" anchor="ctr"/>
          <a:lstStyle/>
          <a:p>
            <a:pPr algn="ctr" defTabSz="685800"/>
            <a:r>
              <a:rPr lang="en-US" sz="3591" b="1" dirty="0">
                <a:solidFill>
                  <a:srgbClr val="F0F8FF"/>
                </a:solidFill>
                <a:latin typeface="Segoe UI" pitchFamily="34" charset="0"/>
                <a:ea typeface="Segoe UI" pitchFamily="34" charset="-122"/>
                <a:cs typeface="Segoe UI" pitchFamily="34" charset="-120"/>
              </a:rPr>
              <a:t>Building the Future of Agent Governance</a:t>
            </a:r>
            <a:endParaRPr lang="en-US" sz="3591" dirty="0">
              <a:solidFill>
                <a:prstClr val="black"/>
              </a:solidFill>
              <a:latin typeface="Calibri" panose="020F0502020204030204"/>
            </a:endParaRPr>
          </a:p>
        </p:txBody>
      </p:sp>
      <p:sp>
        <p:nvSpPr>
          <p:cNvPr id="4" name="Text 2"/>
          <p:cNvSpPr txBox="1"/>
          <p:nvPr/>
        </p:nvSpPr>
        <p:spPr>
          <a:xfrm>
            <a:off x="997625" y="2028825"/>
            <a:ext cx="7125891" cy="571500"/>
          </a:xfrm>
          <a:prstGeom prst="rect">
            <a:avLst/>
          </a:prstGeom>
          <a:noFill/>
          <a:ln/>
        </p:spPr>
        <p:txBody>
          <a:bodyPr wrap="square" lIns="0" tIns="0" rIns="0" bIns="0" rtlCol="0" anchor="ctr"/>
          <a:lstStyle/>
          <a:p>
            <a:pPr algn="ctr" defTabSz="685800"/>
            <a:r>
              <a:rPr lang="en-US" sz="1346" i="1" dirty="0">
                <a:solidFill>
                  <a:srgbClr val="68B8D9"/>
                </a:solidFill>
                <a:latin typeface="Century Gothic" pitchFamily="34" charset="0"/>
                <a:ea typeface="Century Gothic" pitchFamily="34" charset="-122"/>
                <a:cs typeface="Century Gothic" pitchFamily="34" charset="-120"/>
              </a:rPr>
              <a:t>"Helm is building the decision intelligence infrastructure for the service industry—a world where every decision is understood, every agent is governed by human wisdom, and every outcome drives continuous organizational learning."</a:t>
            </a:r>
            <a:endParaRPr lang="en-US" sz="1346" dirty="0">
              <a:solidFill>
                <a:prstClr val="black"/>
              </a:solidFill>
              <a:latin typeface="Calibri" panose="020F0502020204030204"/>
            </a:endParaRPr>
          </a:p>
        </p:txBody>
      </p:sp>
      <p:sp>
        <p:nvSpPr>
          <p:cNvPr id="5" name="Text 3"/>
          <p:cNvSpPr txBox="1"/>
          <p:nvPr/>
        </p:nvSpPr>
        <p:spPr>
          <a:xfrm>
            <a:off x="2341672" y="2943225"/>
            <a:ext cx="4437722" cy="190500"/>
          </a:xfrm>
          <a:prstGeom prst="rect">
            <a:avLst/>
          </a:prstGeom>
          <a:noFill/>
          <a:ln/>
        </p:spPr>
        <p:txBody>
          <a:bodyPr wrap="square" lIns="0" tIns="0" rIns="0" bIns="0" rtlCol="0" anchor="ctr"/>
          <a:lstStyle/>
          <a:p>
            <a:pPr algn="ctr" defTabSz="685800"/>
            <a:r>
              <a:rPr lang="en-US" sz="1346" b="1" dirty="0">
                <a:solidFill>
                  <a:srgbClr val="FB4100"/>
                </a:solidFill>
                <a:latin typeface="Segoe UI" pitchFamily="34" charset="0"/>
                <a:ea typeface="Segoe UI" pitchFamily="34" charset="-122"/>
                <a:cs typeface="Segoe UI" pitchFamily="34" charset="-120"/>
              </a:rPr>
              <a:t>Why Now</a:t>
            </a:r>
            <a:endParaRPr lang="en-US" sz="1346" dirty="0">
              <a:solidFill>
                <a:prstClr val="black"/>
              </a:solidFill>
              <a:latin typeface="Calibri" panose="020F0502020204030204"/>
            </a:endParaRPr>
          </a:p>
        </p:txBody>
      </p:sp>
      <p:pic>
        <p:nvPicPr>
          <p:cNvPr id="6" name="Image 0" descr="preencoded.png"/>
          <p:cNvPicPr>
            <a:picLocks noChangeAspect="1"/>
          </p:cNvPicPr>
          <p:nvPr/>
        </p:nvPicPr>
        <p:blipFill>
          <a:blip r:embed="rId3"/>
          <a:srcRect/>
          <a:stretch/>
        </p:blipFill>
        <p:spPr>
          <a:xfrm>
            <a:off x="2493691" y="3409950"/>
            <a:ext cx="152019" cy="152400"/>
          </a:xfrm>
          <a:prstGeom prst="rect">
            <a:avLst/>
          </a:prstGeom>
        </p:spPr>
      </p:pic>
      <p:sp>
        <p:nvSpPr>
          <p:cNvPr id="7" name="Text 4"/>
          <p:cNvSpPr txBox="1"/>
          <p:nvPr/>
        </p:nvSpPr>
        <p:spPr>
          <a:xfrm>
            <a:off x="2721720" y="3400425"/>
            <a:ext cx="3383314"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40% of enterprise apps getting agents by end of 2026</a:t>
            </a:r>
            <a:endParaRPr lang="en-US" sz="1122" dirty="0">
              <a:solidFill>
                <a:prstClr val="black"/>
              </a:solidFill>
              <a:latin typeface="Calibri" panose="020F0502020204030204"/>
            </a:endParaRPr>
          </a:p>
        </p:txBody>
      </p:sp>
      <p:pic>
        <p:nvPicPr>
          <p:cNvPr id="8" name="Image 1" descr="preencoded.png"/>
          <p:cNvPicPr>
            <a:picLocks noChangeAspect="1"/>
          </p:cNvPicPr>
          <p:nvPr/>
        </p:nvPicPr>
        <p:blipFill>
          <a:blip r:embed="rId3"/>
          <a:srcRect/>
          <a:stretch/>
        </p:blipFill>
        <p:spPr>
          <a:xfrm>
            <a:off x="2493691" y="3657600"/>
            <a:ext cx="152019" cy="152400"/>
          </a:xfrm>
          <a:prstGeom prst="rect">
            <a:avLst/>
          </a:prstGeom>
        </p:spPr>
      </p:pic>
      <p:sp>
        <p:nvSpPr>
          <p:cNvPr id="9" name="Text 5"/>
          <p:cNvSpPr txBox="1"/>
          <p:nvPr/>
        </p:nvSpPr>
        <p:spPr>
          <a:xfrm>
            <a:off x="2721720" y="3648075"/>
            <a:ext cx="3905656"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Market need for governance infrastructure is acute and urgent</a:t>
            </a:r>
            <a:endParaRPr lang="en-US" sz="1122" dirty="0">
              <a:solidFill>
                <a:prstClr val="black"/>
              </a:solidFill>
              <a:latin typeface="Calibri" panose="020F0502020204030204"/>
            </a:endParaRPr>
          </a:p>
        </p:txBody>
      </p:sp>
      <p:pic>
        <p:nvPicPr>
          <p:cNvPr id="10" name="Image 2" descr="preencoded.png"/>
          <p:cNvPicPr>
            <a:picLocks noChangeAspect="1"/>
          </p:cNvPicPr>
          <p:nvPr/>
        </p:nvPicPr>
        <p:blipFill>
          <a:blip r:embed="rId3"/>
          <a:srcRect/>
          <a:stretch/>
        </p:blipFill>
        <p:spPr>
          <a:xfrm>
            <a:off x="2493691" y="3905250"/>
            <a:ext cx="152019" cy="152400"/>
          </a:xfrm>
          <a:prstGeom prst="rect">
            <a:avLst/>
          </a:prstGeom>
        </p:spPr>
      </p:pic>
      <p:sp>
        <p:nvSpPr>
          <p:cNvPr id="11" name="Text 6"/>
          <p:cNvSpPr txBox="1"/>
          <p:nvPr/>
        </p:nvSpPr>
        <p:spPr>
          <a:xfrm>
            <a:off x="2721719" y="3895725"/>
            <a:ext cx="3017889" cy="171450"/>
          </a:xfrm>
          <a:prstGeom prst="rect">
            <a:avLst/>
          </a:prstGeom>
          <a:noFill/>
          <a:ln/>
        </p:spPr>
        <p:txBody>
          <a:bodyPr wrap="square" lIns="0" tIns="0" rIns="0" bIns="0" rtlCol="0" anchor="ctr"/>
          <a:lstStyle/>
          <a:p>
            <a:pPr defTabSz="685800"/>
            <a:r>
              <a:rPr lang="en-US" sz="1122" dirty="0">
                <a:solidFill>
                  <a:srgbClr val="F0F8FF"/>
                </a:solidFill>
                <a:latin typeface="Century Gothic" pitchFamily="34" charset="0"/>
                <a:ea typeface="Century Gothic" pitchFamily="34" charset="-122"/>
                <a:cs typeface="Century Gothic" pitchFamily="34" charset="-120"/>
              </a:rPr>
              <a:t>Category crystallizing as essential infrastructure</a:t>
            </a:r>
            <a:endParaRPr lang="en-US" sz="1122" dirty="0">
              <a:solidFill>
                <a:prstClr val="black"/>
              </a:solidFill>
              <a:latin typeface="Calibri" panose="020F0502020204030204"/>
            </a:endParaRPr>
          </a:p>
        </p:txBody>
      </p:sp>
      <p:sp>
        <p:nvSpPr>
          <p:cNvPr id="12" name="Text 7"/>
          <p:cNvSpPr txBox="1"/>
          <p:nvPr/>
        </p:nvSpPr>
        <p:spPr>
          <a:xfrm>
            <a:off x="8851767" y="4848225"/>
            <a:ext cx="126856" cy="152400"/>
          </a:xfrm>
          <a:prstGeom prst="rect">
            <a:avLst/>
          </a:prstGeom>
          <a:noFill/>
          <a:ln/>
        </p:spPr>
        <p:txBody>
          <a:bodyPr wrap="square" lIns="0" tIns="0" rIns="0" bIns="0" rtlCol="0" anchor="ctr"/>
          <a:lstStyle/>
          <a:p>
            <a:pPr defTabSz="685800"/>
            <a:r>
              <a:rPr lang="en-US" sz="898" dirty="0">
                <a:solidFill>
                  <a:srgbClr val="D4E8F2"/>
                </a:solidFill>
                <a:latin typeface="Segoe UI" pitchFamily="34" charset="0"/>
                <a:ea typeface="Segoe UI" pitchFamily="34" charset="-122"/>
                <a:cs typeface="Segoe UI" pitchFamily="34" charset="-120"/>
              </a:rPr>
              <a:t>15</a:t>
            </a:r>
            <a:endParaRPr lang="en-US" sz="898"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3800</Words>
  <Application>Microsoft Macintosh PowerPoint</Application>
  <PresentationFormat>On-screen Show (16:9)</PresentationFormat>
  <Paragraphs>765</Paragraphs>
  <Slides>45</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Century Gothic</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Bill Karpovich</cp:lastModifiedBy>
  <cp:revision>3</cp:revision>
  <dcterms:created xsi:type="dcterms:W3CDTF">2026-01-05T23:59:50Z</dcterms:created>
  <dcterms:modified xsi:type="dcterms:W3CDTF">2026-01-06T01:00:30Z</dcterms:modified>
</cp:coreProperties>
</file>