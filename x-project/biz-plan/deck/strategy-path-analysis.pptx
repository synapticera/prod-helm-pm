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45740" y="1558677"/>
            <a:ext cx="545252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46"/>
              </a:spcBef>
              <a:spcAft>
                <a:spcPts val="20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Path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703652" y="2628454"/>
            <a:ext cx="573654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0"/>
              </a:spcAft>
              <a:buNone/>
            </a:pPr>
            <a:r>
              <a:rPr lang="en-US" sz="20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+ Product Business Decision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27017" y="3584079"/>
            <a:ext cx="1889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 |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127"/>
            <a:ext cx="4346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425178"/>
            <a:ext cx="434616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distinct assets: $4M Salesforce consulting business (AI-focused) and Helm, an early-stage AI decision infrastructure product with exceptional market timing.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164259"/>
            <a:ext cx="4346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75309"/>
            <a:ext cx="434616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strategic paths analyzed: Lean operations, Liquidate services, Grow both businesses, or Strategic Leverage (recommended hybrid approach).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3214390"/>
            <a:ext cx="4260949" cy="841325"/>
          </a:xfrm>
          <a:prstGeom prst="roundRect">
            <a:avLst>
              <a:gd name="adj" fmla="val 6038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3366790"/>
            <a:ext cx="40352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3400" y="3560415"/>
            <a:ext cx="40352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Leverage: Use services as bridge to product-focused future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5850" y="1114127"/>
            <a:ext cx="3867150" cy="3775472"/>
          </a:xfrm>
          <a:prstGeom prst="roundRect">
            <a:avLst>
              <a:gd name="adj" fmla="val 201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86350" y="1304627"/>
            <a:ext cx="3555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6755" y="1615678"/>
            <a:ext cx="9786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$37.8M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76755" y="1910953"/>
            <a:ext cx="978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Leverage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16899" y="1615678"/>
            <a:ext cx="8640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$32.2M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16899" y="1910953"/>
            <a:ext cx="864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Both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7879" y="2145804"/>
            <a:ext cx="8640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$30.5M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7879" y="2441079"/>
            <a:ext cx="864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16899" y="2145804"/>
            <a:ext cx="8640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$17.8M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16899" y="2441079"/>
            <a:ext cx="864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86350" y="2726829"/>
            <a:ext cx="35558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Leverage optimizes for market timing while preserving optionality if product struggles.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Context: Why This Decision Matters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50727"/>
            <a:ext cx="2720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INFLECTION (2026)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49127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1349127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575" y="1476077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ADOPTION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5575" y="1704677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5575" y="2079278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apps by end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441079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2441079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575" y="2568029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575" y="2796629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5575" y="3171230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deployments fail without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533031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4813" y="3533031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575" y="3659981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575" y="3888581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5575" y="4263182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effective 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38500" y="1050727"/>
            <a:ext cx="2720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BUSINESS REALITY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38500" y="1349127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62312" y="1349127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3075" y="1476077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MULTIPLES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3075" y="1704677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2.5-3.5x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13075" y="2079278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quality Salesforce partners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8500" y="2441079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62312" y="2441079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3075" y="2568029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MULTIPLES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3075" y="2796629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12-14x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13075" y="3171230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Consulting trending at 13.6x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38500" y="3533031"/>
            <a:ext cx="2667000" cy="990451"/>
          </a:xfrm>
          <a:prstGeom prst="roundRect">
            <a:avLst>
              <a:gd name="adj" fmla="val 51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62312" y="3533031"/>
            <a:ext cx="0" cy="990451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3075" y="3659981"/>
            <a:ext cx="241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EXIT RANGE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13075" y="3888581"/>
            <a:ext cx="2412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$8-14M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413075" y="4263182"/>
            <a:ext cx="241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exit for $4M services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6000" y="1050727"/>
            <a:ext cx="2720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WINDOW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6000" y="1349127"/>
            <a:ext cx="2667000" cy="3603873"/>
          </a:xfrm>
          <a:prstGeom prst="roundRect">
            <a:avLst>
              <a:gd name="adj" fmla="val 1905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22950" y="2523976"/>
            <a:ext cx="24613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12-24 months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establish Helm as category leader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22950" y="2936677"/>
            <a:ext cx="24613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that, incumbents will respond and competition intensifies.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2950" y="3349377"/>
            <a:ext cx="24613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Capital's </a:t>
            </a:r>
            <a:pPr algn="l" indent="0" marL="0">
              <a:spcBef>
                <a:spcPts val="1000"/>
              </a:spcBef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$4.6T thesis</a:t>
            </a:r>
            <a:pPr algn="l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validates decision infrastructure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18049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LEAN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29364" y="190500"/>
            <a:ext cx="1233636" cy="361950"/>
          </a:xfrm>
          <a:prstGeom prst="roundRect">
            <a:avLst>
              <a:gd name="adj" fmla="val 14035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1764" y="266700"/>
            <a:ext cx="947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EV: $17.8M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933450"/>
            <a:ext cx="4974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206401"/>
            <a:ext cx="49743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services lean and cash-flow positive while funding product modestly from operating profits.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1644551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1771501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990576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single strategic direction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dilution, no external capital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 path to PMF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pivot if product doesn't 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14650" y="1644551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1600" y="1771501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1600" y="1990576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$300K/yr vs competitors at $5-20M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people leave for better opps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slow for 12-24mo window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006328"/>
            <a:ext cx="4876800" cy="396776"/>
          </a:xfrm>
          <a:prstGeom prst="roundRect">
            <a:avLst>
              <a:gd name="adj" fmla="val 1280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3006328"/>
            <a:ext cx="0" cy="396776"/>
          </a:xfrm>
          <a:prstGeom prst="line">
            <a:avLst/>
          </a:prstGeom>
          <a:noFill/>
          <a:ln w="4762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575" y="3133279"/>
            <a:ext cx="4666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Underestimates urgency of market window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1701" y="933450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FINANCIAL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1701" y="1206401"/>
            <a:ext cx="3251299" cy="1466255"/>
          </a:xfrm>
          <a:prstGeom prst="roundRect">
            <a:avLst>
              <a:gd name="adj" fmla="val 34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38651" y="1572964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8651" y="1384102"/>
            <a:ext cx="2356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51873" y="1384102"/>
            <a:ext cx="142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74012" y="1384102"/>
            <a:ext cx="142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96151" y="1384102"/>
            <a:ext cx="142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38651" y="1817340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8651" y="1628477"/>
            <a:ext cx="6867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Rev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8852" y="1628477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502" y="1628477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18153" y="1628477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38651" y="2061716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8651" y="1872853"/>
            <a:ext cx="7515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Profit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2069" y="1872853"/>
            <a:ext cx="343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5586" y="1872853"/>
            <a:ext cx="343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99103" y="1872853"/>
            <a:ext cx="343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38651" y="2306092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8651" y="2117229"/>
            <a:ext cx="745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Invest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11851" y="2117229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($300K)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67302" y="2117229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($350K)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2754" y="2117229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($300K)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38651" y="2361605"/>
            <a:ext cx="486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36110" y="2361605"/>
            <a:ext cx="4116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+$100K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60643" y="236160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8802" y="236160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11701" y="2825055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MAKES SENSE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11701" y="3098006"/>
            <a:ext cx="3251299" cy="501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conviction in Helm's opportunity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 is 3-5 years, not 12-24mo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product advantages needing less capital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40588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LIQUIDATE 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29364" y="190500"/>
            <a:ext cx="1233636" cy="361950"/>
          </a:xfrm>
          <a:prstGeom prst="roundRect">
            <a:avLst>
              <a:gd name="adj" fmla="val 14035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1764" y="266700"/>
            <a:ext cx="947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EV: $30.5M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933450"/>
            <a:ext cx="4974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206401"/>
            <a:ext cx="49743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services business outright, use proceeds to fully capitalize product development.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1501676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1628626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847701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attention on product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runway without dilution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compete with funded startups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narrative for future raises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14650" y="1501676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1600" y="1628626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1600" y="1847701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distracting (6-12 months)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Earnouts common; cash timing risk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bet; no fallback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services as product lab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863453"/>
            <a:ext cx="4876800" cy="396776"/>
          </a:xfrm>
          <a:prstGeom prst="roundRect">
            <a:avLst>
              <a:gd name="adj" fmla="val 1280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2863453"/>
            <a:ext cx="0" cy="396776"/>
          </a:xfrm>
          <a:prstGeom prst="line">
            <a:avLst/>
          </a:prstGeom>
          <a:noFill/>
          <a:ln w="47625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575" y="2990404"/>
            <a:ext cx="4666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Theoretically optimal but practically risky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1701" y="933450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SCENARIOS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1701" y="1206401"/>
            <a:ext cx="3251299" cy="1221879"/>
          </a:xfrm>
          <a:prstGeom prst="roundRect">
            <a:avLst>
              <a:gd name="adj" fmla="val 41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38651" y="1572964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8651" y="1384102"/>
            <a:ext cx="460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12000" y="1384102"/>
            <a:ext cx="233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62701" y="1384102"/>
            <a:ext cx="2008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81702" y="1384102"/>
            <a:ext cx="259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38651" y="1817340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8651" y="1628477"/>
            <a:ext cx="531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Price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334" y="1628477"/>
            <a:ext cx="226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03319" y="1628477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50002" y="1628477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38651" y="2061716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8651" y="1872853"/>
            <a:ext cx="66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After Tax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7278" y="1872853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21339" y="1872853"/>
            <a:ext cx="226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50002" y="1872853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38651" y="2117229"/>
            <a:ext cx="855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Runway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44159" y="2117229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1419" y="2117229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38679" y="2117229"/>
            <a:ext cx="405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36+ mo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1701" y="2580680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STRUCTURE REALITY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11701" y="2853630"/>
            <a:ext cx="325129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50-70% cash at close typical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 earnout over 1-3 years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person retention 12-24 months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Non-compete clauses 2-3 years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32135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3: GROWTH BOTH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29364" y="190500"/>
            <a:ext cx="1233636" cy="361950"/>
          </a:xfrm>
          <a:prstGeom prst="roundRect">
            <a:avLst>
              <a:gd name="adj" fmla="val 14035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1764" y="266700"/>
            <a:ext cx="947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EV: $32.2M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933450"/>
            <a:ext cx="4974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206401"/>
            <a:ext cx="49743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leadership for services, raise VC for product, grow both businesses simultaneously.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1644551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1771501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990576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shots at value creation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as product testing lab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supports product burn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sell services later at higher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14650" y="1644551"/>
            <a:ext cx="2343150" cy="1209377"/>
          </a:xfrm>
          <a:prstGeom prst="roundRect">
            <a:avLst>
              <a:gd name="adj" fmla="val 4201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1600" y="1771501"/>
            <a:ext cx="2131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1600" y="1990576"/>
            <a:ext cx="2089249" cy="6856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dilution - two businesses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intensive (both need funding)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cultures, incentives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genuinely hard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006328"/>
            <a:ext cx="4876800" cy="396776"/>
          </a:xfrm>
          <a:prstGeom prst="roundRect">
            <a:avLst>
              <a:gd name="adj" fmla="val 1280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3006328"/>
            <a:ext cx="0" cy="396776"/>
          </a:xfrm>
          <a:prstGeom prst="line">
            <a:avLst/>
          </a:prstGeom>
          <a:noFill/>
          <a:ln w="4762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575" y="3133279"/>
            <a:ext cx="4666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Overcomplicates unless exceptional leadership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1701" y="933450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PROJECTION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1701" y="1206401"/>
            <a:ext cx="3251299" cy="1466255"/>
          </a:xfrm>
          <a:prstGeom prst="roundRect">
            <a:avLst>
              <a:gd name="adj" fmla="val 34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38651" y="1572964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8651" y="1384102"/>
            <a:ext cx="107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53609" y="1384102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27689" y="1384102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38651" y="1817340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8651" y="1628477"/>
            <a:ext cx="107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Investment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53609" y="1628477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27689" y="1628477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raise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38651" y="2061716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8651" y="1872853"/>
            <a:ext cx="107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Revenue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53609" y="1872853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27689" y="1872853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$0-500K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38651" y="2306092"/>
            <a:ext cx="2997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8651" y="2117229"/>
            <a:ext cx="107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Revenue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53609" y="2117229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27689" y="2117229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$10-20M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38651" y="2361605"/>
            <a:ext cx="107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Value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53609" y="2361605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$20-28M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27689" y="2361605"/>
            <a:ext cx="917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$50-100M+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1701" y="2825055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PERSPECTIVE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11701" y="3098006"/>
            <a:ext cx="3251299" cy="501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VCs dislike services + product mix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margins drag valuation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Exception: services clearly feeds product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9550"/>
            <a:ext cx="56308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4: STRATEGIC LEVERAGE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29364" y="190500"/>
            <a:ext cx="1233636" cy="361950"/>
          </a:xfrm>
          <a:prstGeom prst="roundRect">
            <a:avLst>
              <a:gd name="adj" fmla="val 1403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81764" y="266700"/>
            <a:ext cx="947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EV: $37.8M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933450"/>
            <a:ext cx="45599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206401"/>
            <a:ext cx="45599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services as a strategic bridge, not permanent feature. Extract maximum value to fund product while maintaining optionality.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1644551"/>
            <a:ext cx="4470499" cy="714226"/>
          </a:xfrm>
          <a:prstGeom prst="roundRect">
            <a:avLst>
              <a:gd name="adj" fmla="val 71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644551"/>
            <a:ext cx="0" cy="714226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575" y="1771501"/>
            <a:ext cx="4252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Strategic Extraction (Mo 1-12)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5575" y="1965127"/>
            <a:ext cx="4252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services for 20%+ EBITDA, use as product lab, soft-market to understand deal terms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460278"/>
            <a:ext cx="4470499" cy="580876"/>
          </a:xfrm>
          <a:prstGeom prst="roundRect">
            <a:avLst>
              <a:gd name="adj" fmla="val 87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460278"/>
            <a:ext cx="0" cy="580876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575" y="2587228"/>
            <a:ext cx="4252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Decision Point (Mo 12-18)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5575" y="2780854"/>
            <a:ext cx="4252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product traction: accelerate liquidation, maintain hybrid, or pivot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142655"/>
            <a:ext cx="4470499" cy="847576"/>
          </a:xfrm>
          <a:prstGeom prst="roundRect">
            <a:avLst>
              <a:gd name="adj" fmla="val 599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4813" y="3142655"/>
            <a:ext cx="0" cy="847576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575" y="3269605"/>
            <a:ext cx="4252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BRANCHES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5575" y="3463230"/>
            <a:ext cx="42523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2A: Product winning - sell services fast, raise seed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2B: Product promising - continue hybrid, smaller raise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2C: Product struggling - preserve services value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05400" y="933450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FINANCIAL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400" y="1206401"/>
            <a:ext cx="3657600" cy="1682651"/>
          </a:xfrm>
          <a:prstGeom prst="roundRect">
            <a:avLst>
              <a:gd name="adj" fmla="val 3019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51400" y="1547664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1400" y="1390501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98443" y="13905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83661" y="13905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8878" y="13905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251400" y="1747689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1400" y="1590526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Rev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98443" y="15905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3661" y="15905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$3.5M*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8878" y="15905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51400" y="1947714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1400" y="1790551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Cash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98443" y="17905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83661" y="17905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+$7M net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8878" y="17905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51400" y="2147739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1400" y="1990576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Invest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98443" y="199057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($500K)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83661" y="199057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($2M)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68878" y="199057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($3M)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51400" y="2347764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1400" y="2190601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98443" y="21906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83661" y="21906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8878" y="219060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251400" y="2547789"/>
            <a:ext cx="3365599" cy="0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1400" y="2390626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8443" y="23906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83661" y="23906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seed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868878" y="2390626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 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51400" y="2590651"/>
            <a:ext cx="1029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Value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98443" y="25906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83661" y="25906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8878" y="2590651"/>
            <a:ext cx="755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05400" y="2939802"/>
            <a:ext cx="3730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*Sold at $10M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05400" y="3181052"/>
            <a:ext cx="3657600" cy="1158776"/>
          </a:xfrm>
          <a:prstGeom prst="roundRect">
            <a:avLst>
              <a:gd name="adj" fmla="val 4384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232350" y="3308003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PATH WINS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32350" y="3527078"/>
            <a:ext cx="3403699" cy="6477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optionality</a:t>
            </a:r>
            <a:endParaRPr lang="en-US" sz="90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time wisely to validate</a:t>
            </a:r>
            <a:endParaRPr lang="en-US" sz="90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De-risks for VCs with validation</a:t>
            </a:r>
            <a:endParaRPr lang="en-US" sz="90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focus with services as fuel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by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1943100" cy="4057650"/>
          </a:xfrm>
          <a:prstGeom prst="roundRect">
            <a:avLst>
              <a:gd name="adj" fmla="val 3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3400" y="1368326"/>
            <a:ext cx="16383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076325"/>
            <a:ext cx="9601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LEAN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82948" y="1047750"/>
            <a:ext cx="488752" cy="209550"/>
          </a:xfrm>
          <a:prstGeom prst="roundRect">
            <a:avLst>
              <a:gd name="adj" fmla="val 18182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4449" y="1085850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1504801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Underfunded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1663452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likelihood, Critical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400" y="1815852"/>
            <a:ext cx="1474440" cy="50750"/>
          </a:xfrm>
          <a:prstGeom prst="roundRect">
            <a:avLst>
              <a:gd name="adj" fmla="val 5004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1968103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Attrition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2126754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likelihood, High 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3400" y="2279154"/>
            <a:ext cx="1474440" cy="50750"/>
          </a:xfrm>
          <a:prstGeom prst="roundRect">
            <a:avLst>
              <a:gd name="adj" fmla="val 5004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400" y="2431405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 Miss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3400" y="2590056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Medium-High likelihood, 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400" y="2742456"/>
            <a:ext cx="1228725" cy="50750"/>
          </a:xfrm>
          <a:prstGeom prst="roundRect">
            <a:avLst>
              <a:gd name="adj" fmla="val 50049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3400" y="4465737"/>
            <a:ext cx="1638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4572000"/>
            <a:ext cx="1671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 with insufficient resources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895350"/>
            <a:ext cx="1943100" cy="4057650"/>
          </a:xfrm>
          <a:prstGeom prst="roundRect">
            <a:avLst>
              <a:gd name="adj" fmla="val 3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667000" y="1501676"/>
            <a:ext cx="16383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7000" y="1066800"/>
            <a:ext cx="10142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LIQUIDATE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61321" y="1047750"/>
            <a:ext cx="643979" cy="342900"/>
          </a:xfrm>
          <a:prstGeom prst="roundRect">
            <a:avLst>
              <a:gd name="adj" fmla="val 11111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62821" y="1085850"/>
            <a:ext cx="4497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67000" y="1638151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Delay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67000" y="1796802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likelihood, High impact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67000" y="1949202"/>
            <a:ext cx="1474440" cy="50750"/>
          </a:xfrm>
          <a:prstGeom prst="roundRect">
            <a:avLst>
              <a:gd name="adj" fmla="val 5004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67000" y="2101453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Earnout Trap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67000" y="2260104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likelihood, High impact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67000" y="2412504"/>
            <a:ext cx="1228725" cy="50750"/>
          </a:xfrm>
          <a:prstGeom prst="roundRect">
            <a:avLst>
              <a:gd name="adj" fmla="val 50049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67000" y="2564755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Fails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67000" y="2723406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likelihood, Critical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67000" y="2875806"/>
            <a:ext cx="1228725" cy="50750"/>
          </a:xfrm>
          <a:prstGeom prst="roundRect">
            <a:avLst>
              <a:gd name="adj" fmla="val 50049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667000" y="4465737"/>
            <a:ext cx="1638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7000" y="4572000"/>
            <a:ext cx="1671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reward if executed; catastrophic if product fails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48200" y="895350"/>
            <a:ext cx="1943100" cy="4057650"/>
          </a:xfrm>
          <a:prstGeom prst="roundRect">
            <a:avLst>
              <a:gd name="adj" fmla="val 3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800600" y="1463576"/>
            <a:ext cx="16383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047750"/>
            <a:ext cx="11725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3: GROWTH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50148" y="1095375"/>
            <a:ext cx="488752" cy="209550"/>
          </a:xfrm>
          <a:prstGeom prst="roundRect">
            <a:avLst>
              <a:gd name="adj" fmla="val 18182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51649" y="1133475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1600051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Dilution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1758702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likelihood, High impact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1911102"/>
            <a:ext cx="1474440" cy="50750"/>
          </a:xfrm>
          <a:prstGeom prst="roundRect">
            <a:avLst>
              <a:gd name="adj" fmla="val 5004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600" y="2063353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Disinterest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2222004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likelihood, High impact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00600" y="2374404"/>
            <a:ext cx="1474440" cy="50750"/>
          </a:xfrm>
          <a:prstGeom prst="roundRect">
            <a:avLst>
              <a:gd name="adj" fmla="val 5004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00600" y="2526655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Inefficiency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2685306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likelihood, Medium impact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0600" y="2837706"/>
            <a:ext cx="1228725" cy="50750"/>
          </a:xfrm>
          <a:prstGeom prst="roundRect">
            <a:avLst>
              <a:gd name="adj" fmla="val 50049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800600" y="4465737"/>
            <a:ext cx="1638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572000"/>
            <a:ext cx="1671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creates many failure modes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81800" y="895350"/>
            <a:ext cx="1981200" cy="405765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953250" y="1482626"/>
            <a:ext cx="16383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53250" y="1066800"/>
            <a:ext cx="9911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4: STRATEGIC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924949" y="1114425"/>
            <a:ext cx="666601" cy="209550"/>
          </a:xfrm>
          <a:prstGeom prst="roundRect">
            <a:avLst>
              <a:gd name="adj" fmla="val 18182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026450" y="1152525"/>
            <a:ext cx="472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53250" y="1619101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Cash Insufficient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53250" y="1777752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likelihood, High impact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53250" y="1930152"/>
            <a:ext cx="982861" cy="50750"/>
          </a:xfrm>
          <a:prstGeom prst="roundRect">
            <a:avLst>
              <a:gd name="adj" fmla="val 50049"/>
            </a:avLst>
          </a:prstGeom>
          <a:solidFill>
            <a:srgbClr val="FBC0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953250" y="2082403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Validation Slow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53250" y="2241054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likelihood, Medium impact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53250" y="2393454"/>
            <a:ext cx="982861" cy="50750"/>
          </a:xfrm>
          <a:prstGeom prst="roundRect">
            <a:avLst>
              <a:gd name="adj" fmla="val 50049"/>
            </a:avLst>
          </a:prstGeom>
          <a:solidFill>
            <a:srgbClr val="FBC0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953250" y="2545705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Uncertainty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53250" y="2704356"/>
            <a:ext cx="1671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likelihood, Medium impact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53250" y="2856756"/>
            <a:ext cx="982861" cy="50750"/>
          </a:xfrm>
          <a:prstGeom prst="roundRect">
            <a:avLst>
              <a:gd name="adj" fmla="val 50049"/>
            </a:avLst>
          </a:prstGeom>
          <a:solidFill>
            <a:srgbClr val="FBC0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953250" y="4446687"/>
            <a:ext cx="1638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53250" y="4552950"/>
            <a:ext cx="1671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optionality while making progress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58751"/>
            <a:ext cx="3701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257151"/>
            <a:ext cx="3629025" cy="396776"/>
          </a:xfrm>
          <a:prstGeom prst="roundRect">
            <a:avLst>
              <a:gd name="adj" fmla="val 1280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84102"/>
            <a:ext cx="34426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72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E(V) = Sum(Probability x Value)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844427"/>
            <a:ext cx="3701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PROBABILITIES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142827"/>
            <a:ext cx="3629025" cy="1406426"/>
          </a:xfrm>
          <a:prstGeom prst="roundRect">
            <a:avLst>
              <a:gd name="adj" fmla="val 361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2569815"/>
            <a:ext cx="337512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2345978"/>
            <a:ext cx="15491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Succeeds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6741" y="2345978"/>
            <a:ext cx="688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1677" y="2350740"/>
            <a:ext cx="1204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Well-funded execution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950" y="2998440"/>
            <a:ext cx="337512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2712690"/>
            <a:ext cx="15491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Struggles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26741" y="2712690"/>
            <a:ext cx="688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01677" y="2650778"/>
            <a:ext cx="12048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doesn't achieve PMF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141315"/>
            <a:ext cx="15491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Pivots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6741" y="3141315"/>
            <a:ext cx="688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01677" y="3079403"/>
            <a:ext cx="12048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opportunity emerges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739753"/>
            <a:ext cx="3701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000" y="4038154"/>
            <a:ext cx="37016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Leverage wins because it optimizes upside in success scenarios while preserving value in downside scenarios through maintained optionality.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27475" y="958751"/>
            <a:ext cx="4524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BY PATH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27475" y="2082701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4376" y="1981200"/>
            <a:ext cx="1469975" cy="355550"/>
          </a:xfrm>
          <a:prstGeom prst="roundRect">
            <a:avLst>
              <a:gd name="adj" fmla="val 14288"/>
            </a:avLst>
          </a:prstGeom>
          <a:solidFill>
            <a:srgbClr val="9E9E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84454" y="2073176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$17.8M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27475" y="2628751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24376" y="2527250"/>
            <a:ext cx="2459831" cy="355550"/>
          </a:xfrm>
          <a:prstGeom prst="roundRect">
            <a:avLst>
              <a:gd name="adj" fmla="val 14288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4310" y="2619226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$30.5M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27475" y="317480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Both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24376" y="3073301"/>
            <a:ext cx="2576364" cy="355550"/>
          </a:xfrm>
          <a:prstGeom prst="roundRect">
            <a:avLst>
              <a:gd name="adj" fmla="val 14288"/>
            </a:avLst>
          </a:prstGeom>
          <a:solidFill>
            <a:srgbClr val="6161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90842" y="3165277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$32.2M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27475" y="372085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97426" y="3705076"/>
            <a:ext cx="616000" cy="183952"/>
          </a:xfrm>
          <a:prstGeom prst="roundRect">
            <a:avLst>
              <a:gd name="adj" fmla="val 13808"/>
            </a:avLst>
          </a:prstGeom>
          <a:solidFill>
            <a:srgbClr val="FB4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73626" y="3730377"/>
            <a:ext cx="472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40376" y="3619351"/>
            <a:ext cx="2397175" cy="355550"/>
          </a:xfrm>
          <a:prstGeom prst="roundRect">
            <a:avLst>
              <a:gd name="adj" fmla="val 14288"/>
            </a:avLst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27653" y="3711327"/>
            <a:ext cx="5185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$37.8M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Roadmap: Strategic Leverage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58751"/>
            <a:ext cx="1952625" cy="3930848"/>
          </a:xfrm>
          <a:prstGeom prst="roundRect">
            <a:avLst>
              <a:gd name="adj" fmla="val 390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82563"/>
            <a:ext cx="1952625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158776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3400" y="1352401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1574602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1834902"/>
            <a:ext cx="1647825" cy="2470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services for cash extraction (target 20% EBITDA)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3-5 services clients as potential Helm design partners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Soft-market services business to understand deal terms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product MVP development with services cash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4305598"/>
            <a:ext cx="1647825" cy="431602"/>
          </a:xfrm>
          <a:prstGeom prst="roundRect">
            <a:avLst>
              <a:gd name="adj" fmla="val 1177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4407098"/>
            <a:ext cx="147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foundation for both extraction and validation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958751"/>
            <a:ext cx="1952625" cy="3930848"/>
          </a:xfrm>
          <a:prstGeom prst="roundRect">
            <a:avLst>
              <a:gd name="adj" fmla="val 390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24125" y="982563"/>
            <a:ext cx="1952625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6525" y="1158776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6525" y="1352401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6525" y="1574602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4-6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6525" y="1834902"/>
            <a:ext cx="1647825" cy="2470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Helm concepts with 2-3 design partners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case studies and outcomes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services cash extraction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investor relationship pipeline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6525" y="4305598"/>
            <a:ext cx="1647825" cy="431602"/>
          </a:xfrm>
          <a:prstGeom prst="roundRect">
            <a:avLst>
              <a:gd name="adj" fmla="val 1177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78026" y="4407098"/>
            <a:ext cx="147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proof points for product thesis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7250" y="958751"/>
            <a:ext cx="1952625" cy="3930848"/>
          </a:xfrm>
          <a:prstGeom prst="roundRect">
            <a:avLst>
              <a:gd name="adj" fmla="val 390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982563"/>
            <a:ext cx="1952625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9650" y="1158776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9650" y="1352401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9650" y="1574602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7-12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9650" y="1834902"/>
            <a:ext cx="1647825" cy="2470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product-market fit signals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strong: Accelerate services sale + raise seed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moderate: Continue hybrid + smaller raise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weak: Preserve services value + pivot product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9650" y="4305598"/>
            <a:ext cx="1647825" cy="431602"/>
          </a:xfrm>
          <a:prstGeom prst="roundRect">
            <a:avLst>
              <a:gd name="adj" fmla="val 1177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21151" y="4407098"/>
            <a:ext cx="147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data-driven path selection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10375" y="958751"/>
            <a:ext cx="1952625" cy="3930848"/>
          </a:xfrm>
          <a:prstGeom prst="roundRect">
            <a:avLst>
              <a:gd name="adj" fmla="val 390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10375" y="982563"/>
            <a:ext cx="1952625" cy="0"/>
          </a:xfrm>
          <a:prstGeom prst="line">
            <a:avLst/>
          </a:prstGeom>
          <a:noFill/>
          <a:ln w="47625">
            <a:solidFill>
              <a:srgbClr val="01A9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2775" y="1158776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62775" y="1352401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7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62775" y="1574602"/>
            <a:ext cx="1680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13-24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62775" y="1834902"/>
            <a:ext cx="1647825" cy="24706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chosen path based on Month 12 decision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resources on highest-conviction opportunity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product if validated</a:t>
            </a:r>
            <a:endParaRPr lang="en-US" sz="900" dirty="0"/>
          </a:p>
          <a:p>
            <a:pPr algn="l" marL="88900" indent="-88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optimize exit otherwise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62775" y="4305598"/>
            <a:ext cx="1647825" cy="431602"/>
          </a:xfrm>
          <a:prstGeom prst="roundRect">
            <a:avLst>
              <a:gd name="adj" fmla="val 11770"/>
            </a:avLst>
          </a:prstGeom>
          <a:solidFill>
            <a:srgbClr val="0725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064276" y="4407098"/>
            <a:ext cx="147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commitment to selected direction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11337"/>
            <a:ext cx="42036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Leverage Wins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973312"/>
            <a:ext cx="42036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services as a bridge, not a permanent feature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436763"/>
            <a:ext cx="32891" cy="30480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291" y="2436763"/>
            <a:ext cx="4014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window is 12-24 months - act with urgency but maintain optionality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2893963"/>
            <a:ext cx="38100" cy="15240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893963"/>
            <a:ext cx="35548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cash flow funds initial validation without dilution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3198763"/>
            <a:ext cx="38100" cy="15240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198763"/>
            <a:ext cx="35787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at Month 12 based on real product traction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000" y="3503563"/>
            <a:ext cx="38100" cy="152400"/>
          </a:xfrm>
          <a:prstGeom prst="rect">
            <a:avLst/>
          </a:prstGeom>
          <a:solidFill>
            <a:srgbClr val="01A9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503563"/>
            <a:ext cx="3103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 $37.8M - highest across all paths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3200" y="457200"/>
            <a:ext cx="3879800" cy="4305300"/>
          </a:xfrm>
          <a:prstGeom prst="roundRect">
            <a:avLst>
              <a:gd name="adj" fmla="val 2619"/>
            </a:avLst>
          </a:prstGeom>
          <a:solidFill>
            <a:srgbClr val="0D36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37100" y="1283345"/>
            <a:ext cx="3439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1A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DECIDE NOW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7100" y="1607195"/>
            <a:ext cx="3439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Services cash flow: Can you get to 20% EBITDA?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7100" y="1851571"/>
            <a:ext cx="3371999" cy="12650"/>
          </a:xfrm>
          <a:prstGeom prst="rect">
            <a:avLst/>
          </a:prstGeom>
          <a:solidFill>
            <a:srgbClr val="1A4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37100" y="2092672"/>
            <a:ext cx="3439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 situation: Is there a real buyer interested?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37100" y="2337048"/>
            <a:ext cx="3371999" cy="12650"/>
          </a:xfrm>
          <a:prstGeom prst="rect">
            <a:avLst/>
          </a:prstGeom>
          <a:solidFill>
            <a:srgbClr val="1A4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37100" y="2578150"/>
            <a:ext cx="3439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conviction: Scale of 1-10 on Helm's opportunity?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7100" y="2822525"/>
            <a:ext cx="3371999" cy="12650"/>
          </a:xfrm>
          <a:prstGeom prst="rect">
            <a:avLst/>
          </a:prstGeom>
          <a:solidFill>
            <a:srgbClr val="1A4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37100" y="3063627"/>
            <a:ext cx="34394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Founder bandwidth: Can you manage both for 12 months?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37100" y="3450878"/>
            <a:ext cx="3371999" cy="12650"/>
          </a:xfrm>
          <a:prstGeom prst="rect">
            <a:avLst/>
          </a:prstGeom>
          <a:solidFill>
            <a:srgbClr val="1A4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37100" y="3691979"/>
            <a:ext cx="34394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 situation: Will key people stay in a bridge scenario?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Path Analysis: Services + Product Decision Framework</dc:title>
  <dc:subject>Business Strategy</dc:subject>
  <dc:creator>Strategic Analysis</dc:creator>
  <cp:lastModifiedBy>Strategic Analysis</cp:lastModifiedBy>
  <cp:revision>1</cp:revision>
  <dcterms:created xsi:type="dcterms:W3CDTF">2026-01-10T17:11:20Z</dcterms:created>
  <dcterms:modified xsi:type="dcterms:W3CDTF">2026-01-10T17:11:20Z</dcterms:modified>
</cp:coreProperties>
</file>