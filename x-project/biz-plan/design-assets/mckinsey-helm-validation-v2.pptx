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A52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1371600"/>
            <a:ext cx="3657600" cy="3657600"/>
          </a:xfrm>
          <a:prstGeom prst="ellipse">
            <a:avLst/>
          </a:prstGeom>
          <a:solidFill>
            <a:srgbClr val="01A9DB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1A9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McKinsey State of AI 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Workflow Redesign Imperative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1A9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88% Deployment ≠ Enterprise ROI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57600" cy="1188720"/>
          </a:xfrm>
          <a:prstGeom prst="rect">
            <a:avLst/>
          </a:prstGeom>
          <a:solidFill>
            <a:srgbClr val="01A9DB">
              <a:alpha val="8000"/>
            </a:srgbClr>
          </a:solidFill>
          <a:ln w="12700">
            <a:solidFill>
              <a:srgbClr val="01A9DB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1A9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88%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Organizations Using 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E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Regular AI use in at least one business function (↑10pp from 2024)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657600" cy="1188720"/>
          </a:xfrm>
          <a:prstGeom prst="rect">
            <a:avLst/>
          </a:prstGeom>
          <a:solidFill>
            <a:srgbClr val="01A9DB">
              <a:alpha val="8000"/>
            </a:srgbClr>
          </a:solidFill>
          <a:ln w="12700">
            <a:solidFill>
              <a:srgbClr val="01A9D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1A9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Scaling Agentic Systems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E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 deployment across functions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3657600" cy="1188720"/>
          </a:xfrm>
          <a:prstGeom prst="rect">
            <a:avLst/>
          </a:prstGeom>
          <a:solidFill>
            <a:srgbClr val="01A9DB">
              <a:alpha val="8000"/>
            </a:srgbClr>
          </a:solidFill>
          <a:ln w="12700">
            <a:solidFill>
              <a:srgbClr val="01A9DB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617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1A9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731520" y="5029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Seeing EBIT Impact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5303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E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Enterprise-level financial results from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1737360"/>
            <a:ext cx="4297680" cy="1463040"/>
          </a:xfrm>
          <a:prstGeom prst="rect">
            <a:avLst/>
          </a:prstGeom>
          <a:solidFill>
            <a:srgbClr val="FB4100">
              <a:alpha val="12000"/>
            </a:srgbClr>
          </a:solidFill>
          <a:ln w="12700">
            <a:solidFill>
              <a:srgbClr val="FB4100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8745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4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CRITICAL GAP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2148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88%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852160" y="2148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4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675120" y="2148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39%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61772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E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49-point gap: Deployment rate vs. Enterprise ROI — representing billions in unrealized value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337560"/>
            <a:ext cx="4297680" cy="1188720"/>
          </a:xfrm>
          <a:prstGeom prst="rect">
            <a:avLst/>
          </a:prstGeom>
          <a:solidFill>
            <a:srgbClr val="44546A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447288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A9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McKinsey's Critical Finding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6576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"Workflow redesign has the biggest effect on an organization's ability to see EBIT impact from gen AI"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4663440"/>
            <a:ext cx="4297680" cy="1188720"/>
          </a:xfrm>
          <a:prstGeom prst="rect">
            <a:avLst/>
          </a:prstGeom>
          <a:solidFill>
            <a:srgbClr val="01A9DB">
              <a:alpha val="12000"/>
            </a:srgbClr>
          </a:solidFill>
          <a:ln w="12700">
            <a:solidFill>
              <a:srgbClr val="01A9DB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773168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A9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Helm's Solution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983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Mine/Design/Manage framework closes this gap through systematic workflow redesign + governance infrastructure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263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performers 3x more likely to scale agents through executive alignment + organizational commitment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1A9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McKinsey November 2025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01A9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Helm Strategic Positioning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2026-01-06T08:08:51Z</dcterms:created>
  <dcterms:modified xsi:type="dcterms:W3CDTF">2026-01-06T08:08:51Z</dcterms:modified>
</cp:coreProperties>
</file>