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2012" y="1046411"/>
            <a:ext cx="665997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Competitive Landscape</a:t>
            </a:r>
            <a:endParaRPr lang="en-US" sz="3600" dirty="0"/>
          </a:p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Category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02050" y="2601962"/>
            <a:ext cx="2539901" cy="50750"/>
          </a:xfrm>
          <a:prstGeom prst="rect">
            <a:avLst/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60431" y="3033564"/>
            <a:ext cx="48231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Executive Agent Platform Opportunity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82391" y="3963739"/>
            <a:ext cx="11792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Thesis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698950" y="1467296"/>
            <a:ext cx="4145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Agent = BI + BPM + ITOM + SI Convergence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98950" y="2356098"/>
            <a:ext cx="41453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Intelligence:</a:t>
            </a:r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 support &amp; analytics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2772370"/>
            <a:ext cx="41453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BPM:</a:t>
            </a:r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optimization &amp; automation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98950" y="3188643"/>
            <a:ext cx="41453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ITOM:</a:t>
            </a:r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Operations monitoring &amp;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3604915"/>
            <a:ext cx="41453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SI:</a:t>
            </a:r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Strategic consulting &amp; transformation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4110186"/>
            <a:ext cx="414533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sits at the intersection - the Executive Command Layer</a:t>
            </a:r>
            <a:endParaRPr lang="en-US" sz="1200" dirty="0"/>
          </a:p>
        </p:txBody>
      </p:sp>
      <p:pic>
        <p:nvPicPr>
          <p:cNvPr id="10" name="Image 0" descr="/Users/wkarp/devlocal/prod-helm-pm/x-project/kb/comps/workspace/venn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0" y="1414463"/>
            <a:ext cx="35559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Categories Are Converging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4095750" cy="1161455"/>
          </a:xfrm>
          <a:prstGeom prst="roundRect">
            <a:avLst>
              <a:gd name="adj" fmla="val 6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819150"/>
            <a:ext cx="0" cy="1161455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575" y="1098500"/>
            <a:ext cx="3870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Era Demands Unified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5575" y="1396901"/>
            <a:ext cx="3870109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need coordinated oversight across systems, processes, operations, and strategy.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7250" y="819150"/>
            <a:ext cx="4095750" cy="1161455"/>
          </a:xfrm>
          <a:prstGeom prst="roundRect">
            <a:avLst>
              <a:gd name="adj" fmla="val 6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1063" y="819150"/>
            <a:ext cx="0" cy="1161455"/>
          </a:xfrm>
          <a:prstGeom prst="line">
            <a:avLst/>
          </a:prstGeom>
          <a:noFill/>
          <a:ln w="47625">
            <a:solidFill>
              <a:srgbClr val="FB4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1825" y="1098500"/>
            <a:ext cx="3870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Category Solves Part of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1825" y="1396901"/>
            <a:ext cx="3870109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BI: insights, no action. BPM: optimizes, no visibility. ITOM: monitors, no business context. SI: advises, doesn't scale.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000" y="2107555"/>
            <a:ext cx="4095750" cy="1161455"/>
          </a:xfrm>
          <a:prstGeom prst="roundRect">
            <a:avLst>
              <a:gd name="adj" fmla="val 6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107555"/>
            <a:ext cx="0" cy="1161455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575" y="2386905"/>
            <a:ext cx="3870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Decision Layer Missing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5575" y="2685306"/>
            <a:ext cx="3870109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AI pilots fail because no one has "Full Command" across domains and horizons.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250" y="2107555"/>
            <a:ext cx="4095750" cy="1161455"/>
          </a:xfrm>
          <a:prstGeom prst="roundRect">
            <a:avLst>
              <a:gd name="adj" fmla="val 6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1063" y="2107555"/>
            <a:ext cx="0" cy="1161455"/>
          </a:xfrm>
          <a:prstGeom prst="line">
            <a:avLst/>
          </a:prstGeom>
          <a:noFill/>
          <a:ln w="47625">
            <a:solidFill>
              <a:srgbClr val="FB4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1825" y="2386905"/>
            <a:ext cx="3870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1825" y="2685306"/>
            <a:ext cx="3870109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McKinsey: 88% use AI, only 39% see EBIT impact. The 49-point gap is Helm's market.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000" y="3459361"/>
            <a:ext cx="8382000" cy="1072753"/>
          </a:xfrm>
          <a:prstGeom prst="roundRect">
            <a:avLst>
              <a:gd name="adj" fmla="val 7103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3764012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No one owns the Executive Command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950" y="4113163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positions as the Decision Intelligence layer above operational tools.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1: Business Intelligence (BI)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57250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Players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136600"/>
            <a:ext cx="5090922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 BI, Tableau, Qlik, SAP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Looker, Domo, ThoughtSpot, Sisense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Mode, Hex, Lightdash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7450" y="175825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BI Does Well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450" y="2037606"/>
            <a:ext cx="50909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visualization, dashboards, historical reporting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2329458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608808"/>
            <a:ext cx="50909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process context, backward-looking, no action path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2900660"/>
            <a:ext cx="4991100" cy="311051"/>
          </a:xfrm>
          <a:prstGeom prst="roundRect">
            <a:avLst>
              <a:gd name="adj" fmla="val 24498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6301" y="2989511"/>
            <a:ext cx="4909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Forward-looking decision intelligence with process context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99050" y="844451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26001" y="1034802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(2025)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26001" y="1352252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99050" y="1958578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26001" y="2148929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001" y="2466380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99050" y="3072705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26001" y="3263057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Projection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26001" y="3580507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2: BPM (Business Process Management)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57250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Players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136600"/>
            <a:ext cx="5090922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Mining: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Celonis, Apromore, SAP Signavio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 Suites: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Pega, Appian, IBM, Camunda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UiPath, Automation Anywhere, Blue Prism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7450" y="1758255"/>
            <a:ext cx="4991100" cy="285750"/>
          </a:xfrm>
          <a:prstGeom prst="roundRect">
            <a:avLst>
              <a:gd name="adj" fmla="val 2666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3650" y="1834455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Evolution:</a:t>
            </a:r>
            <a:pPr algn="l" indent="0" marL="0">
              <a:buNone/>
            </a:pPr>
            <a:r>
              <a:rPr lang="en-US" sz="9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BPM → BOAT → Hyperautomation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212020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399556"/>
            <a:ext cx="50909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Enterprise-only pricing ($100K+), no executive decision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2691408"/>
            <a:ext cx="4991100" cy="311051"/>
          </a:xfrm>
          <a:prstGeom prst="roundRect">
            <a:avLst>
              <a:gd name="adj" fmla="val 24498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6301" y="2780258"/>
            <a:ext cx="4909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Mining is free, SMB-first pricing, executive command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99050" y="844451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26001" y="1034802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Mining TAM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26001" y="1352252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99050" y="1958578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26001" y="2148929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TAM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001" y="2466380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99050" y="3072705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26001" y="3263057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CAGR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26001" y="3580507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3: ITOM &amp; Observability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06351"/>
            <a:ext cx="5515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Sub-Categories &amp; Key Players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987326"/>
            <a:ext cx="5407075" cy="215801"/>
          </a:xfrm>
          <a:prstGeom prst="roundRect">
            <a:avLst>
              <a:gd name="adj" fmla="val 2354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3650" y="1038076"/>
            <a:ext cx="5359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ITSM:</a:t>
            </a:r>
            <a:pPr algn="l" indent="0" marL="0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ServiceNow, BMC, Freshworks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7450" y="1228427"/>
            <a:ext cx="5407075" cy="215801"/>
          </a:xfrm>
          <a:prstGeom prst="roundRect">
            <a:avLst>
              <a:gd name="adj" fmla="val 2354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3650" y="1279178"/>
            <a:ext cx="5359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VMware, CloudHealth, Flexera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7450" y="1469529"/>
            <a:ext cx="5407075" cy="215801"/>
          </a:xfrm>
          <a:prstGeom prst="roundRect">
            <a:avLst>
              <a:gd name="adj" fmla="val 2354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650" y="1520279"/>
            <a:ext cx="5359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APM:</a:t>
            </a:r>
            <a:pPr algn="l" indent="0" marL="0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Datadog, Dynatrace, Splunk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7450" y="1710630"/>
            <a:ext cx="5407075" cy="215801"/>
          </a:xfrm>
          <a:prstGeom prst="roundRect">
            <a:avLst>
              <a:gd name="adj" fmla="val 2354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3650" y="1761381"/>
            <a:ext cx="5359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AIOps:</a:t>
            </a:r>
            <a:pPr algn="l" indent="0" marL="0">
              <a:buNone/>
            </a:pPr>
            <a:r>
              <a:rPr lang="en-US" sz="8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Moogsoft, BigPanda, PagerDuty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450" y="1977182"/>
            <a:ext cx="5515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34357"/>
            <a:ext cx="55152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Tech-focused, no process mining, lacks executive support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7450" y="2497187"/>
            <a:ext cx="5407075" cy="266700"/>
          </a:xfrm>
          <a:prstGeom prst="roundRect">
            <a:avLst>
              <a:gd name="adj" fmla="val 19048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3650" y="2573387"/>
            <a:ext cx="5359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Business-outcome focused, ops + process intelligence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15025" y="755600"/>
            <a:ext cx="2911525" cy="875854"/>
          </a:xfrm>
          <a:prstGeom prst="roundRect">
            <a:avLst>
              <a:gd name="adj" fmla="val 580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16526" y="907852"/>
            <a:ext cx="27626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 Market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16526" y="1180802"/>
            <a:ext cx="2762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15025" y="1682204"/>
            <a:ext cx="2911525" cy="875854"/>
          </a:xfrm>
          <a:prstGeom prst="roundRect">
            <a:avLst>
              <a:gd name="adj" fmla="val 580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16526" y="1834455"/>
            <a:ext cx="27626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16526" y="2107406"/>
            <a:ext cx="2762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15025" y="2608808"/>
            <a:ext cx="2911525" cy="875854"/>
          </a:xfrm>
          <a:prstGeom prst="roundRect">
            <a:avLst>
              <a:gd name="adj" fmla="val 580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16526" y="2761059"/>
            <a:ext cx="27626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AIOps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16526" y="3034010"/>
            <a:ext cx="2762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15025" y="3535412"/>
            <a:ext cx="2911525" cy="875854"/>
          </a:xfrm>
          <a:prstGeom prst="roundRect">
            <a:avLst>
              <a:gd name="adj" fmla="val 580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16526" y="3687663"/>
            <a:ext cx="27626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16526" y="3960614"/>
            <a:ext cx="2762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4: Systems Integration / Consulting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57250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Players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136600"/>
            <a:ext cx="5090922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4: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Accenture, Deloitte, PwC, EY, KPMG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McKinsey, BCG, Bain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</a:t>
            </a:r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IBM GBS, Capgemini, Cognizant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7450" y="1758255"/>
            <a:ext cx="4991100" cy="285750"/>
          </a:xfrm>
          <a:prstGeom prst="roundRect">
            <a:avLst>
              <a:gd name="adj" fmla="val 26667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3650" y="1834455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as Software: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delivers insights that required $500K+ engagements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212020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399556"/>
            <a:ext cx="50909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 ($500-1000/hr), doesn't scale, knowledge walks out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2691408"/>
            <a:ext cx="4991100" cy="285750"/>
          </a:xfrm>
          <a:prstGeom prst="roundRect">
            <a:avLst>
              <a:gd name="adj" fmla="val 26667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3650" y="2767608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Consulting-grade at software prices, fleet learning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99050" y="844451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26001" y="1034802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Consulting TAM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26001" y="1352252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99050" y="1958578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26001" y="2148929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6001" y="2466380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99050" y="3072705"/>
            <a:ext cx="3327499" cy="1037927"/>
          </a:xfrm>
          <a:prstGeom prst="roundRect">
            <a:avLst>
              <a:gd name="adj" fmla="val 7342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26001" y="3263057"/>
            <a:ext cx="3135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AI/Automation Consulting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26001" y="3580507"/>
            <a:ext cx="31350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TAM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83225" y="819150"/>
            <a:ext cx="3743325" cy="1555403"/>
          </a:xfrm>
          <a:prstGeom prst="roundRect">
            <a:avLst>
              <a:gd name="adj" fmla="val 4899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5281" y="1073051"/>
            <a:ext cx="3559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Adjacent TAM (2030)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75281" y="1546027"/>
            <a:ext cx="35592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83225" y="2628454"/>
            <a:ext cx="3818192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BI/Analytics:</a:t>
            </a:r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$58B</a:t>
            </a:r>
            <a:endParaRPr lang="en-US" sz="1000" dirty="0"/>
          </a:p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 + RPA:</a:t>
            </a:r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$59B</a:t>
            </a:r>
            <a:endParaRPr lang="en-US" sz="1000" dirty="0"/>
          </a:p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ITOM + Observability:</a:t>
            </a:r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$45B</a:t>
            </a:r>
            <a:endParaRPr lang="en-US" sz="1000" dirty="0"/>
          </a:p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Transformation:</a:t>
            </a:r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$165B+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83225" y="3643759"/>
            <a:ext cx="3743325" cy="355402"/>
          </a:xfrm>
          <a:prstGeom prst="roundRect">
            <a:avLst>
              <a:gd name="adj" fmla="val 21441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9322" y="3745260"/>
            <a:ext cx="3611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SAM: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$31B (US/UK/EU)</a:t>
            </a:r>
            <a:endParaRPr lang="en-US" sz="1100" dirty="0"/>
          </a:p>
        </p:txBody>
      </p:sp>
      <p:pic>
        <p:nvPicPr>
          <p:cNvPr id="10" name="Image 0" descr="/Users/wkarp/devlocal/prod-helm-pm/x-project/kb/comps/workspace/tam-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088" y="1393924"/>
            <a:ext cx="3048000" cy="2539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Company Comparables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3901" y="819150"/>
          <a:ext cx="8635901" cy="393695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097280"/>
                <a:gridCol w="1005840"/>
                <a:gridCol w="822960"/>
                <a:gridCol w="822960"/>
              </a:tblGrid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Market Cap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Growth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53D"/>
                    </a:solidFill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ServiceNow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ITSM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$185B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$10.5B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17.6x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Salesforce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CRM/BI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$290B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Datadog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Observability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$2.5B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16.8x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Dynatrace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$1.4B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10.7x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Pega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BPM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$5.2B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3.5x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Appian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Low-Code/BPM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$2.8B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$600M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4.7x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Splunk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Observability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$28B*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$4.2B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6.7x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New Relic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Observability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$6.5B*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$950M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6.8x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* Acquired - shown at acquisition valuation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Company Comparables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3901" y="819150"/>
          <a:ext cx="8635901" cy="393695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097280"/>
                <a:gridCol w="1005840"/>
                <a:gridCol w="822960"/>
                <a:gridCol w="2011680"/>
              </a:tblGrid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A9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A9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Last Valuation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A9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Funding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A9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A9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Investors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A9DB"/>
                    </a:solidFill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Celonis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Process Mining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$13B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$1.4B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Accel, Arena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UiPath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RPA/BPM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$7.2B*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$2.1B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Public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Coatue, Sequoia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Camunda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BPM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$1.2B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$400M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Insight, Highland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Automation Anywhere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$6.8B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$840M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Softbank, NEA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Workato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$5.7B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$450M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Altimeter, Redpoint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Monte Carlo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Data 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$1.6B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$236M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Accel, GGV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Cribl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$2.5B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$400M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CRV, Sequoia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Observe Inc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$500M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$154M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Series 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Sutter Hill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* IPO valuation shown for reference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M&amp;A Transactions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3901" y="819150"/>
          <a:ext cx="8635901" cy="393695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822960"/>
                <a:gridCol w="1005840"/>
                <a:gridCol w="914400"/>
                <a:gridCol w="914400"/>
              </a:tblGrid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4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Acquirer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4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4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Deal 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4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4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Multiple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4100"/>
                    </a:solidFill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Figma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Adobe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$400M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Splunk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Cisco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$28B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$4.2B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6.7x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Alteryx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Clearlake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$4.4B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$900M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4.9x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New Relic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Francisco Partners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$6.5B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$950M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6.8x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Signavio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Apromore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~$20M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Tableau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Salesforce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$15.7B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4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Looker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Google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$2.6B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$150M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Note: Multiples shown are EV/Revenue at time of transaction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450" y="720626"/>
            <a:ext cx="4178350" cy="1470868"/>
          </a:xfrm>
          <a:prstGeom prst="roundRect">
            <a:avLst>
              <a:gd name="adj" fmla="val 431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36500" y="720626"/>
            <a:ext cx="0" cy="1470868"/>
          </a:xfrm>
          <a:prstGeom prst="line">
            <a:avLst/>
          </a:prstGeom>
          <a:noFill/>
          <a:ln w="38100">
            <a:solidFill>
              <a:srgbClr val="01A9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051" y="1050727"/>
            <a:ext cx="401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051" y="1444377"/>
            <a:ext cx="401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Category Intersection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051" y="1701552"/>
            <a:ext cx="401599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sits at BI + BPM + ITOM + SI convergence - the Executive Command Layer no one else owns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200" y="720626"/>
            <a:ext cx="4178350" cy="1470868"/>
          </a:xfrm>
          <a:prstGeom prst="roundRect">
            <a:avLst>
              <a:gd name="adj" fmla="val 431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250" y="720626"/>
            <a:ext cx="0" cy="1470868"/>
          </a:xfrm>
          <a:prstGeom prst="line">
            <a:avLst/>
          </a:prstGeom>
          <a:noFill/>
          <a:ln w="38100">
            <a:solidFill>
              <a:srgbClr val="FB4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7801" y="1050727"/>
            <a:ext cx="401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87801" y="1444377"/>
            <a:ext cx="401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Combined TAM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87801" y="1701552"/>
            <a:ext cx="401599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$400B+ combined adjacent markets, $31B SAM focused on SMB-mid market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292995"/>
            <a:ext cx="4178350" cy="1470868"/>
          </a:xfrm>
          <a:prstGeom prst="roundRect">
            <a:avLst>
              <a:gd name="adj" fmla="val 431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292995"/>
            <a:ext cx="0" cy="1470868"/>
          </a:xfrm>
          <a:prstGeom prst="line">
            <a:avLst/>
          </a:prstGeom>
          <a:noFill/>
          <a:ln w="38100">
            <a:solidFill>
              <a:srgbClr val="01A9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051" y="2623096"/>
            <a:ext cx="401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051" y="3016746"/>
            <a:ext cx="401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Compelling Valuation Benchmarks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051" y="3273921"/>
            <a:ext cx="401599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comps: 8-15x revenue. M&amp;A deals: 10-20x for high-growth assets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2292995"/>
            <a:ext cx="4178350" cy="1470868"/>
          </a:xfrm>
          <a:prstGeom prst="roundRect">
            <a:avLst>
              <a:gd name="adj" fmla="val 431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0" y="2292995"/>
            <a:ext cx="0" cy="1470868"/>
          </a:xfrm>
          <a:prstGeom prst="line">
            <a:avLst/>
          </a:prstGeom>
          <a:noFill/>
          <a:ln w="38100">
            <a:solidFill>
              <a:srgbClr val="FB4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7801" y="2623096"/>
            <a:ext cx="401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87801" y="3016746"/>
            <a:ext cx="401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7801" y="3273921"/>
            <a:ext cx="401599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window. SMB market (150K companies) unaddressed by legacy vendors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7450" y="3865364"/>
            <a:ext cx="8509099" cy="355402"/>
          </a:xfrm>
          <a:prstGeom prst="roundRect">
            <a:avLst>
              <a:gd name="adj" fmla="val 17867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7807" y="3966865"/>
            <a:ext cx="83683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The Executive Agent Platform for Service Leaders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Synaptic Era,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Helm: Competitive Landscape &amp; Category Analysis</dc:title>
  <dc:subject>PptxGenJS Presentation</dc:subject>
  <dc:creator>Synaptic Era</dc:creator>
  <cp:lastModifiedBy>Synaptic Era</cp:lastModifiedBy>
  <cp:revision>1</cp:revision>
  <dcterms:created xsi:type="dcterms:W3CDTF">2026-02-02T19:38:48Z</dcterms:created>
  <dcterms:modified xsi:type="dcterms:W3CDTF">2026-02-02T19:38:48Z</dcterms:modified>
</cp:coreProperties>
</file>