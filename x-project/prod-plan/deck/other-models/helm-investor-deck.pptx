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4800" y="228600"/>
            <a:ext cx="502322"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HELM</a:t>
            </a:r>
            <a:endParaRPr lang="en-US" sz="1050" dirty="0"/>
          </a:p>
        </p:txBody>
      </p:sp>
      <p:sp>
        <p:nvSpPr>
          <p:cNvPr id="3" name="Text 1"/>
          <p:cNvSpPr/>
          <p:nvPr/>
        </p:nvSpPr>
        <p:spPr>
          <a:xfrm>
            <a:off x="304800" y="434280"/>
            <a:ext cx="502322"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01A9DB"/>
                </a:solidFill>
                <a:latin typeface="Arial" pitchFamily="34" charset="0"/>
                <a:ea typeface="Arial" pitchFamily="34" charset="-122"/>
                <a:cs typeface="Arial" pitchFamily="34" charset="-120"/>
              </a:rPr>
              <a:t>by Synaptic</a:t>
            </a:r>
            <a:endParaRPr lang="en-US" sz="750" dirty="0"/>
          </a:p>
        </p:txBody>
      </p:sp>
      <p:sp>
        <p:nvSpPr>
          <p:cNvPr id="4" name="Text 2"/>
          <p:cNvSpPr/>
          <p:nvPr/>
        </p:nvSpPr>
        <p:spPr>
          <a:xfrm>
            <a:off x="870395" y="1023938"/>
            <a:ext cx="7403211" cy="502890"/>
          </a:xfrm>
          <a:prstGeom prst="rect">
            <a:avLst/>
          </a:prstGeom>
          <a:noFill/>
          <a:ln/>
        </p:spPr>
        <p:txBody>
          <a:bodyPr wrap="square" lIns="0" tIns="0" rIns="0" bIns="0" rtlCol="0" anchor="t"/>
          <a:lstStyle/>
          <a:p>
            <a:pPr algn="ctr" indent="0" marL="0">
              <a:lnSpc>
                <a:spcPts val="3960"/>
              </a:lnSpc>
              <a:spcAft>
                <a:spcPts val="1800"/>
              </a:spcAft>
              <a:buNone/>
            </a:pPr>
            <a:r>
              <a:rPr lang="en-US" sz="3300" b="1" dirty="0">
                <a:solidFill>
                  <a:srgbClr val="FFFFFF"/>
                </a:solidFill>
                <a:latin typeface="Arial" pitchFamily="34" charset="0"/>
                <a:ea typeface="Arial" pitchFamily="34" charset="-122"/>
                <a:cs typeface="Arial" pitchFamily="34" charset="-120"/>
              </a:rPr>
              <a:t>Executive Agent for Service Leaders</a:t>
            </a:r>
            <a:endParaRPr lang="en-US" sz="3300" dirty="0"/>
          </a:p>
        </p:txBody>
      </p:sp>
      <p:sp>
        <p:nvSpPr>
          <p:cNvPr id="5" name="Text 3"/>
          <p:cNvSpPr/>
          <p:nvPr/>
        </p:nvSpPr>
        <p:spPr>
          <a:xfrm>
            <a:off x="880110" y="1907828"/>
            <a:ext cx="7383780" cy="514350"/>
          </a:xfrm>
          <a:prstGeom prst="rect">
            <a:avLst/>
          </a:prstGeom>
          <a:noFill/>
          <a:ln/>
        </p:spPr>
        <p:txBody>
          <a:bodyPr wrap="square" lIns="0" tIns="0" rIns="0" bIns="0" rtlCol="0" anchor="t"/>
          <a:lstStyle/>
          <a:p>
            <a:pPr algn="ctr" indent="0" marL="0">
              <a:lnSpc>
                <a:spcPts val="2025"/>
              </a:lnSpc>
              <a:spcAft>
                <a:spcPts val="3600"/>
              </a:spcAft>
              <a:buNone/>
            </a:pPr>
            <a:r>
              <a:rPr lang="en-US" sz="1350" dirty="0">
                <a:solidFill>
                  <a:srgbClr val="01A9DB"/>
                </a:solidFill>
                <a:latin typeface="Arial" pitchFamily="34" charset="0"/>
                <a:ea typeface="Arial" pitchFamily="34" charset="-122"/>
                <a:cs typeface="Arial" pitchFamily="34" charset="-120"/>
              </a:rPr>
              <a:t>Give service leaders the insight and control they need to evolve their operations with confidence and impact</a:t>
            </a:r>
            <a:endParaRPr lang="en-US" sz="1350" dirty="0"/>
          </a:p>
        </p:txBody>
      </p:sp>
      <p:sp>
        <p:nvSpPr>
          <p:cNvPr id="6" name="Text 4"/>
          <p:cNvSpPr/>
          <p:nvPr/>
        </p:nvSpPr>
        <p:spPr>
          <a:xfrm>
            <a:off x="3619500" y="3031778"/>
            <a:ext cx="1905000" cy="28575"/>
          </a:xfrm>
          <a:prstGeom prst="rect">
            <a:avLst/>
          </a:prstGeom>
          <a:solidFill>
            <a:srgbClr val="01A9DB"/>
          </a:solidFill>
          <a:ln/>
        </p:spPr>
        <p:txBody>
          <a:bodyPr wrap="square" rtlCol="0" anchor="ctr"/>
          <a:lstStyle/>
          <a:p>
            <a:pPr indent="0" marL="0">
              <a:buNone/>
            </a:pPr>
            <a:endParaRPr lang="en-US" dirty="0"/>
          </a:p>
        </p:txBody>
      </p:sp>
      <p:sp>
        <p:nvSpPr>
          <p:cNvPr id="7" name="Text 5"/>
          <p:cNvSpPr/>
          <p:nvPr/>
        </p:nvSpPr>
        <p:spPr>
          <a:xfrm>
            <a:off x="3826489" y="3517553"/>
            <a:ext cx="1490874" cy="200025"/>
          </a:xfrm>
          <a:prstGeom prst="rect">
            <a:avLst/>
          </a:prstGeom>
          <a:noFill/>
          <a:ln/>
        </p:spPr>
        <p:txBody>
          <a:bodyPr wrap="square" lIns="0" tIns="0" rIns="0" bIns="0" rtlCol="0" anchor="t"/>
          <a:lstStyle/>
          <a:p>
            <a:pPr algn="ctr" indent="0" marL="0">
              <a:lnSpc>
                <a:spcPts val="1575"/>
              </a:lnSpc>
              <a:spcAft>
                <a:spcPts val="600"/>
              </a:spcAft>
              <a:buNone/>
            </a:pPr>
            <a:r>
              <a:rPr lang="en-US" sz="1125" dirty="0">
                <a:solidFill>
                  <a:srgbClr val="FFFFFF"/>
                </a:solidFill>
                <a:latin typeface="Arial" pitchFamily="34" charset="0"/>
                <a:ea typeface="Arial" pitchFamily="34" charset="-122"/>
                <a:cs typeface="Arial" pitchFamily="34" charset="-120"/>
              </a:rPr>
              <a:t>Seed Extension Round</a:t>
            </a:r>
            <a:endParaRPr lang="en-US" sz="1125" dirty="0"/>
          </a:p>
        </p:txBody>
      </p:sp>
      <p:sp>
        <p:nvSpPr>
          <p:cNvPr id="8" name="Text 6"/>
          <p:cNvSpPr/>
          <p:nvPr/>
        </p:nvSpPr>
        <p:spPr>
          <a:xfrm>
            <a:off x="4189300" y="3946178"/>
            <a:ext cx="765399" cy="173236"/>
          </a:xfrm>
          <a:prstGeom prst="rect">
            <a:avLst/>
          </a:prstGeom>
          <a:noFill/>
          <a:ln/>
        </p:spPr>
        <p:txBody>
          <a:bodyPr wrap="square" lIns="0" tIns="0" rIns="0" bIns="0" rtlCol="0" anchor="t"/>
          <a:lstStyle/>
          <a:p>
            <a:pPr algn="ctr" indent="0" marL="0">
              <a:lnSpc>
                <a:spcPts val="1365"/>
              </a:lnSpc>
              <a:buNone/>
            </a:pPr>
            <a:r>
              <a:rPr lang="en-US" sz="975" dirty="0">
                <a:solidFill>
                  <a:srgbClr val="01A9DB"/>
                </a:solidFill>
                <a:latin typeface="Arial" pitchFamily="34" charset="0"/>
                <a:ea typeface="Arial" pitchFamily="34" charset="-122"/>
                <a:cs typeface="Arial" pitchFamily="34" charset="-120"/>
              </a:rPr>
              <a:t>January 2026</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4284536" cy="304800"/>
          </a:xfrm>
          <a:prstGeom prst="rect">
            <a:avLst/>
          </a:prstGeom>
          <a:noFill/>
          <a:ln/>
        </p:spPr>
        <p:txBody>
          <a:bodyPr wrap="square" lIns="0" tIns="0" rIns="0" bIns="0" rtlCol="0" anchor="t"/>
          <a:lstStyle/>
          <a:p>
            <a:pPr algn="l" indent="0" marL="0">
              <a:lnSpc>
                <a:spcPts val="2400"/>
              </a:lnSpc>
              <a:spcAft>
                <a:spcPts val="300"/>
              </a:spcAft>
              <a:buNone/>
            </a:pPr>
            <a:r>
              <a:rPr lang="en-US" sz="2400" b="1" dirty="0">
                <a:solidFill>
                  <a:srgbClr val="07253D"/>
                </a:solidFill>
                <a:latin typeface="Arial" pitchFamily="34" charset="0"/>
                <a:ea typeface="Arial" pitchFamily="34" charset="-122"/>
                <a:cs typeface="Arial" pitchFamily="34" charset="-120"/>
              </a:rPr>
              <a:t>The AI Agent Explosion</a:t>
            </a:r>
            <a:endParaRPr lang="en-US" sz="2400" dirty="0"/>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indent="0" marL="0">
              <a:buNone/>
            </a:pPr>
            <a:endParaRPr lang="en-US" dirty="0"/>
          </a:p>
        </p:txBody>
      </p:sp>
      <p:sp>
        <p:nvSpPr>
          <p:cNvPr id="6" name="Text 4"/>
          <p:cNvSpPr/>
          <p:nvPr/>
        </p:nvSpPr>
        <p:spPr>
          <a:xfrm>
            <a:off x="381000" y="2030760"/>
            <a:ext cx="3707374" cy="186630"/>
          </a:xfrm>
          <a:prstGeom prst="rect">
            <a:avLst/>
          </a:prstGeom>
          <a:noFill/>
          <a:ln/>
        </p:spPr>
        <p:txBody>
          <a:bodyPr wrap="square" lIns="0" tIns="0" rIns="0" bIns="0" rtlCol="0" anchor="t"/>
          <a:lstStyle/>
          <a:p>
            <a:pPr algn="l" indent="0" marL="0">
              <a:lnSpc>
                <a:spcPts val="1470"/>
              </a:lnSpc>
              <a:spcAft>
                <a:spcPts val="900"/>
              </a:spcAft>
              <a:buNone/>
            </a:pPr>
            <a:r>
              <a:rPr lang="en-US" sz="1050" b="1" dirty="0">
                <a:solidFill>
                  <a:srgbClr val="01A9DB"/>
                </a:solidFill>
                <a:latin typeface="Arial" pitchFamily="34" charset="0"/>
                <a:ea typeface="Arial" pitchFamily="34" charset="-122"/>
                <a:cs typeface="Arial" pitchFamily="34" charset="-120"/>
              </a:rPr>
              <a:t>Market Inflection Point (2026)</a:t>
            </a:r>
            <a:endParaRPr lang="en-US" sz="1050" dirty="0"/>
          </a:p>
        </p:txBody>
      </p:sp>
      <p:sp>
        <p:nvSpPr>
          <p:cNvPr id="7" name="Text 5"/>
          <p:cNvSpPr/>
          <p:nvPr/>
        </p:nvSpPr>
        <p:spPr>
          <a:xfrm>
            <a:off x="381000" y="2484090"/>
            <a:ext cx="3634680" cy="1390650"/>
          </a:xfrm>
          <a:prstGeom prst="rect">
            <a:avLst/>
          </a:prstGeom>
          <a:noFill/>
          <a:ln/>
        </p:spPr>
        <p:txBody>
          <a:bodyPr wrap="square" lIns="76200" tIns="0" rIns="0" bIns="0" rtlCol="0" anchor="t"/>
          <a:lstStyle/>
          <a:p>
            <a:pPr algn="l" marL="76200" indent="-76200">
              <a:lnSpc>
                <a:spcPts val="1350"/>
              </a:lnSpc>
              <a:spcAft>
                <a:spcPts val="750"/>
              </a:spcAft>
              <a:buSzPct val="100000"/>
              <a:buChar char="•"/>
            </a:pPr>
            <a:r>
              <a:rPr lang="en-US" sz="900" b="1" dirty="0">
                <a:solidFill>
                  <a:srgbClr val="01A9DB"/>
                </a:solidFill>
                <a:latin typeface="Arial" pitchFamily="34" charset="0"/>
                <a:ea typeface="Arial" pitchFamily="34" charset="-122"/>
                <a:cs typeface="Arial" pitchFamily="34" charset="-120"/>
              </a:rPr>
              <a:t>Gartner:</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40% of enterprise apps will feature task-specific AI agents by end of 2026</a:t>
            </a:r>
            <a:endParaRPr lang="en-US" sz="900" dirty="0"/>
          </a:p>
          <a:p>
            <a:pPr algn="l" marL="76200" indent="-76200">
              <a:lnSpc>
                <a:spcPts val="1350"/>
              </a:lnSpc>
              <a:spcAft>
                <a:spcPts val="750"/>
              </a:spcAft>
              <a:buSzPct val="100000"/>
              <a:buChar char="•"/>
            </a:pPr>
            <a:r>
              <a:rPr lang="en-US" sz="900" b="1" dirty="0">
                <a:solidFill>
                  <a:srgbClr val="01A9DB"/>
                </a:solidFill>
                <a:latin typeface="Arial" pitchFamily="34" charset="0"/>
                <a:ea typeface="Arial" pitchFamily="34" charset="-122"/>
                <a:cs typeface="Arial" pitchFamily="34" charset="-120"/>
              </a:rPr>
              <a:t>Microsoft/Stanford HAI:</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Shift from "AI evangelism" to "pragmatic AI evaluation" in 2026</a:t>
            </a:r>
            <a:endParaRPr lang="en-US" sz="900" dirty="0"/>
          </a:p>
          <a:p>
            <a:pPr algn="l" marL="76200" indent="-76200">
              <a:lnSpc>
                <a:spcPts val="1350"/>
              </a:lnSpc>
              <a:spcAft>
                <a:spcPts val="750"/>
              </a:spcAft>
              <a:buSzPct val="100000"/>
              <a:buChar char="•"/>
            </a:pPr>
            <a:r>
              <a:rPr lang="en-US" sz="900" b="1" dirty="0">
                <a:solidFill>
                  <a:srgbClr val="01A9DB"/>
                </a:solidFill>
                <a:latin typeface="Arial" pitchFamily="34" charset="0"/>
                <a:ea typeface="Arial" pitchFamily="34" charset="-122"/>
                <a:cs typeface="Arial" pitchFamily="34" charset="-120"/>
              </a:rPr>
              <a:t>Industry consensus:</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Agent adoption moving from pilots to production</a:t>
            </a:r>
            <a:endParaRPr lang="en-US" sz="900" dirty="0"/>
          </a:p>
        </p:txBody>
      </p:sp>
      <p:sp>
        <p:nvSpPr>
          <p:cNvPr id="8" name="Text 6"/>
          <p:cNvSpPr/>
          <p:nvPr/>
        </p:nvSpPr>
        <p:spPr>
          <a:xfrm>
            <a:off x="4320480" y="2135535"/>
            <a:ext cx="4531370" cy="186630"/>
          </a:xfrm>
          <a:prstGeom prst="rect">
            <a:avLst/>
          </a:prstGeom>
          <a:noFill/>
          <a:ln/>
        </p:spPr>
        <p:txBody>
          <a:bodyPr wrap="square" lIns="0" tIns="0" rIns="0" bIns="0" rtlCol="0" anchor="t"/>
          <a:lstStyle/>
          <a:p>
            <a:pPr algn="l" indent="0" marL="0">
              <a:lnSpc>
                <a:spcPts val="1470"/>
              </a:lnSpc>
              <a:spcAft>
                <a:spcPts val="900"/>
              </a:spcAft>
              <a:buNone/>
            </a:pPr>
            <a:r>
              <a:rPr lang="en-US" sz="1050" b="1" dirty="0">
                <a:solidFill>
                  <a:srgbClr val="01A9DB"/>
                </a:solidFill>
                <a:latin typeface="Arial" pitchFamily="34" charset="0"/>
                <a:ea typeface="Arial" pitchFamily="34" charset="-122"/>
                <a:cs typeface="Arial" pitchFamily="34" charset="-120"/>
              </a:rPr>
              <a:t>Why Customer Service First</a:t>
            </a:r>
            <a:endParaRPr lang="en-US" sz="1050" dirty="0"/>
          </a:p>
        </p:txBody>
      </p:sp>
      <p:sp>
        <p:nvSpPr>
          <p:cNvPr id="9" name="Text 7"/>
          <p:cNvSpPr/>
          <p:nvPr/>
        </p:nvSpPr>
        <p:spPr>
          <a:xfrm>
            <a:off x="4320480" y="2588865"/>
            <a:ext cx="4442520" cy="1181100"/>
          </a:xfrm>
          <a:prstGeom prst="rect">
            <a:avLst/>
          </a:prstGeom>
          <a:noFill/>
          <a:ln/>
        </p:spPr>
        <p:txBody>
          <a:bodyPr wrap="square" lIns="76200" tIns="0" rIns="0" bIns="0" rtlCol="0" anchor="t"/>
          <a:lstStyle/>
          <a:p>
            <a:pPr algn="l" marL="76200" indent="-76200">
              <a:lnSpc>
                <a:spcPts val="1350"/>
              </a:lnSpc>
              <a:spcAft>
                <a:spcPts val="750"/>
              </a:spcAft>
              <a:buSzPct val="100000"/>
              <a:buChar char="•"/>
            </a:pPr>
            <a:r>
              <a:rPr lang="en-US" sz="900" b="1" dirty="0">
                <a:solidFill>
                  <a:srgbClr val="07253D"/>
                </a:solidFill>
                <a:latin typeface="Arial" pitchFamily="34" charset="0"/>
                <a:ea typeface="Arial" pitchFamily="34" charset="-122"/>
                <a:cs typeface="Arial" pitchFamily="34" charset="-120"/>
              </a:rPr>
              <a:t>158,000</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total addressable companies (150K SMB + 8K enterprise)</a:t>
            </a:r>
            <a:endParaRPr lang="en-US" sz="900" dirty="0"/>
          </a:p>
          <a:p>
            <a:pPr algn="l" marL="76200" indent="-76200">
              <a:lnSpc>
                <a:spcPts val="1350"/>
              </a:lnSpc>
              <a:spcAft>
                <a:spcPts val="750"/>
              </a:spcAft>
              <a:buSzPct val="100000"/>
              <a:buChar char="•"/>
            </a:pPr>
            <a:r>
              <a:rPr lang="en-US" sz="900" dirty="0">
                <a:solidFill>
                  <a:srgbClr val="44546A"/>
                </a:solidFill>
                <a:latin typeface="Arial" pitchFamily="34" charset="0"/>
                <a:ea typeface="Arial" pitchFamily="34" charset="-122"/>
                <a:cs typeface="Arial" pitchFamily="34" charset="-120"/>
              </a:rPr>
              <a:t>Highest ROI AI use case: cost per contact, CSAT improvement</a:t>
            </a:r>
            <a:endParaRPr lang="en-US" sz="900" dirty="0"/>
          </a:p>
          <a:p>
            <a:pPr algn="l" marL="76200" indent="-76200">
              <a:lnSpc>
                <a:spcPts val="1350"/>
              </a:lnSpc>
              <a:spcAft>
                <a:spcPts val="750"/>
              </a:spcAft>
              <a:buSzPct val="100000"/>
              <a:buChar char="•"/>
            </a:pPr>
            <a:r>
              <a:rPr lang="en-US" sz="900" b="1" dirty="0">
                <a:solidFill>
                  <a:srgbClr val="07253D"/>
                </a:solidFill>
                <a:latin typeface="Arial" pitchFamily="34" charset="0"/>
                <a:ea typeface="Arial" pitchFamily="34" charset="-122"/>
                <a:cs typeface="Arial" pitchFamily="34" charset="-120"/>
              </a:rPr>
              <a:t>Salesforce Service Cloud:</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70K+ customers, $9B revenue (~$125K ACV)</a:t>
            </a:r>
            <a:endParaRPr lang="en-US" sz="900" dirty="0"/>
          </a:p>
          <a:p>
            <a:pPr algn="l" marL="76200" indent="-76200">
              <a:lnSpc>
                <a:spcPts val="1350"/>
              </a:lnSpc>
              <a:spcAft>
                <a:spcPts val="750"/>
              </a:spcAft>
              <a:buSzPct val="100000"/>
              <a:buChar char="•"/>
            </a:pPr>
            <a:r>
              <a:rPr lang="en-US" sz="900" dirty="0">
                <a:solidFill>
                  <a:srgbClr val="44546A"/>
                </a:solidFill>
                <a:latin typeface="Arial" pitchFamily="34" charset="0"/>
                <a:ea typeface="Arial" pitchFamily="34" charset="-122"/>
                <a:cs typeface="Arial" pitchFamily="34" charset="-120"/>
              </a:rPr>
              <a:t>33% of deployments failing due to lack of governance</a:t>
            </a:r>
            <a:endParaRPr lang="en-US" sz="900" dirty="0"/>
          </a:p>
        </p:txBody>
      </p:sp>
      <p:sp>
        <p:nvSpPr>
          <p:cNvPr id="10" name="Text 8"/>
          <p:cNvSpPr/>
          <p:nvPr/>
        </p:nvSpPr>
        <p:spPr>
          <a:xfrm>
            <a:off x="8786217" y="4743450"/>
            <a:ext cx="54042"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FB4100"/>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4284536" cy="304800"/>
          </a:xfrm>
          <a:prstGeom prst="rect">
            <a:avLst/>
          </a:prstGeom>
          <a:noFill/>
          <a:ln/>
        </p:spPr>
        <p:txBody>
          <a:bodyPr wrap="square" lIns="0" tIns="0" rIns="0" bIns="0" rtlCol="0" anchor="t"/>
          <a:lstStyle/>
          <a:p>
            <a:pPr algn="l" indent="0" marL="0">
              <a:lnSpc>
                <a:spcPts val="2400"/>
              </a:lnSpc>
              <a:spcAft>
                <a:spcPts val="300"/>
              </a:spcAft>
              <a:buNone/>
            </a:pPr>
            <a:r>
              <a:rPr lang="en-US" sz="2400" b="1" dirty="0">
                <a:solidFill>
                  <a:srgbClr val="07253D"/>
                </a:solidFill>
                <a:latin typeface="Arial" pitchFamily="34" charset="0"/>
                <a:ea typeface="Arial" pitchFamily="34" charset="-122"/>
                <a:cs typeface="Arial" pitchFamily="34" charset="-120"/>
              </a:rPr>
              <a:t>The AI Deployment Crisis</a:t>
            </a:r>
            <a:endParaRPr lang="en-US" sz="2400" dirty="0"/>
          </a:p>
        </p:txBody>
      </p:sp>
      <p:sp>
        <p:nvSpPr>
          <p:cNvPr id="5" name="Text 3"/>
          <p:cNvSpPr/>
          <p:nvPr/>
        </p:nvSpPr>
        <p:spPr>
          <a:xfrm>
            <a:off x="381000" y="609600"/>
            <a:ext cx="762000" cy="38100"/>
          </a:xfrm>
          <a:prstGeom prst="rect">
            <a:avLst/>
          </a:prstGeom>
          <a:solidFill>
            <a:srgbClr val="FB4100"/>
          </a:solidFill>
          <a:ln/>
        </p:spPr>
        <p:txBody>
          <a:bodyPr wrap="square" rtlCol="0" anchor="ctr"/>
          <a:lstStyle/>
          <a:p>
            <a:pPr indent="0" marL="0">
              <a:buNone/>
            </a:pPr>
            <a:endParaRPr lang="en-US" dirty="0"/>
          </a:p>
        </p:txBody>
      </p:sp>
      <p:sp>
        <p:nvSpPr>
          <p:cNvPr id="6" name="Text 4"/>
          <p:cNvSpPr/>
          <p:nvPr/>
        </p:nvSpPr>
        <p:spPr>
          <a:xfrm>
            <a:off x="381000" y="1973610"/>
            <a:ext cx="4023271" cy="1958280"/>
          </a:xfrm>
          <a:prstGeom prst="roundRect">
            <a:avLst>
              <a:gd name="adj" fmla="val 2918"/>
            </a:avLst>
          </a:prstGeom>
          <a:solidFill>
            <a:srgbClr val="FEF3F0"/>
          </a:solidFill>
          <a:ln/>
        </p:spPr>
        <p:txBody>
          <a:bodyPr wrap="square" rtlCol="0" anchor="ctr"/>
          <a:lstStyle/>
          <a:p>
            <a:pPr indent="0" marL="0">
              <a:buNone/>
            </a:pPr>
            <a:endParaRPr lang="en-US" dirty="0"/>
          </a:p>
        </p:txBody>
      </p:sp>
      <p:sp>
        <p:nvSpPr>
          <p:cNvPr id="7" name="Shape 5"/>
          <p:cNvSpPr/>
          <p:nvPr/>
        </p:nvSpPr>
        <p:spPr>
          <a:xfrm>
            <a:off x="400050" y="1973610"/>
            <a:ext cx="0" cy="1958280"/>
          </a:xfrm>
          <a:prstGeom prst="line">
            <a:avLst/>
          </a:prstGeom>
          <a:noFill/>
          <a:ln w="38100">
            <a:solidFill>
              <a:srgbClr val="FB4100"/>
            </a:solidFill>
            <a:prstDash val="solid"/>
          </a:ln>
        </p:spPr>
      </p:sp>
      <p:sp>
        <p:nvSpPr>
          <p:cNvPr id="8" name="Text 6"/>
          <p:cNvSpPr/>
          <p:nvPr/>
        </p:nvSpPr>
        <p:spPr>
          <a:xfrm>
            <a:off x="571500" y="2126010"/>
            <a:ext cx="3753978" cy="186630"/>
          </a:xfrm>
          <a:prstGeom prst="rect">
            <a:avLst/>
          </a:prstGeom>
          <a:noFill/>
          <a:ln/>
        </p:spPr>
        <p:txBody>
          <a:bodyPr wrap="square" lIns="0" tIns="0" rIns="0" bIns="0" rtlCol="0" anchor="t"/>
          <a:lstStyle/>
          <a:p>
            <a:pPr algn="l" indent="0" marL="0">
              <a:lnSpc>
                <a:spcPts val="1470"/>
              </a:lnSpc>
              <a:spcAft>
                <a:spcPts val="900"/>
              </a:spcAft>
              <a:buNone/>
            </a:pPr>
            <a:r>
              <a:rPr lang="en-US" sz="1050" b="1" dirty="0">
                <a:solidFill>
                  <a:srgbClr val="FB4100"/>
                </a:solidFill>
                <a:latin typeface="Arial" pitchFamily="34" charset="0"/>
                <a:ea typeface="Arial" pitchFamily="34" charset="-122"/>
                <a:cs typeface="Arial" pitchFamily="34" charset="-120"/>
              </a:rPr>
              <a:t>The Problem</a:t>
            </a:r>
            <a:endParaRPr lang="en-US" sz="1050" dirty="0"/>
          </a:p>
        </p:txBody>
      </p:sp>
      <p:sp>
        <p:nvSpPr>
          <p:cNvPr id="9" name="Text 7"/>
          <p:cNvSpPr/>
          <p:nvPr/>
        </p:nvSpPr>
        <p:spPr>
          <a:xfrm>
            <a:off x="571500" y="2426940"/>
            <a:ext cx="3680371" cy="1352550"/>
          </a:xfrm>
          <a:prstGeom prst="rect">
            <a:avLst/>
          </a:prstGeom>
          <a:noFill/>
          <a:ln/>
        </p:spPr>
        <p:txBody>
          <a:bodyPr wrap="square" lIns="76200" tIns="0" rIns="0" bIns="0" rtlCol="0" anchor="t"/>
          <a:lstStyle/>
          <a:p>
            <a:pPr algn="l" marL="76200" indent="-76200">
              <a:lnSpc>
                <a:spcPts val="1350"/>
              </a:lnSpc>
              <a:spcAft>
                <a:spcPts val="750"/>
              </a:spcAft>
              <a:buSzPct val="100000"/>
              <a:buChar char="•"/>
            </a:pPr>
            <a:r>
              <a:rPr lang="en-US" sz="900" b="1" dirty="0">
                <a:solidFill>
                  <a:srgbClr val="07253D"/>
                </a:solidFill>
                <a:latin typeface="Arial" pitchFamily="34" charset="0"/>
                <a:ea typeface="Arial" pitchFamily="34" charset="-122"/>
                <a:cs typeface="Arial" pitchFamily="34" charset="-120"/>
              </a:rPr>
              <a:t>33% of service AI deployments fail</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due to lack of decision context and governance</a:t>
            </a:r>
            <a:endParaRPr lang="en-US" sz="900" dirty="0"/>
          </a:p>
          <a:p>
            <a:pPr algn="l" marL="76200" indent="-76200">
              <a:lnSpc>
                <a:spcPts val="1350"/>
              </a:lnSpc>
              <a:spcAft>
                <a:spcPts val="750"/>
              </a:spcAft>
              <a:buSzPct val="100000"/>
              <a:buChar char="•"/>
            </a:pPr>
            <a:r>
              <a:rPr lang="en-US" sz="900" dirty="0">
                <a:solidFill>
                  <a:srgbClr val="44546A"/>
                </a:solidFill>
                <a:latin typeface="Arial" pitchFamily="34" charset="0"/>
                <a:ea typeface="Arial" pitchFamily="34" charset="-122"/>
                <a:cs typeface="Arial" pitchFamily="34" charset="-120"/>
              </a:rPr>
              <a:t>Companies mistake "deploying an agent" for "managing decisions"</a:t>
            </a:r>
            <a:endParaRPr lang="en-US" sz="900" dirty="0"/>
          </a:p>
          <a:p>
            <a:pPr algn="l" marL="76200" indent="-76200">
              <a:lnSpc>
                <a:spcPts val="1350"/>
              </a:lnSpc>
              <a:spcAft>
                <a:spcPts val="750"/>
              </a:spcAft>
              <a:buSzPct val="100000"/>
              <a:buChar char="•"/>
            </a:pPr>
            <a:r>
              <a:rPr lang="en-US" sz="900" dirty="0">
                <a:solidFill>
                  <a:srgbClr val="44546A"/>
                </a:solidFill>
                <a:latin typeface="Arial" pitchFamily="34" charset="0"/>
                <a:ea typeface="Arial" pitchFamily="34" charset="-122"/>
                <a:cs typeface="Arial" pitchFamily="34" charset="-120"/>
              </a:rPr>
              <a:t>No audit trail for compliance and transparency</a:t>
            </a:r>
            <a:endParaRPr lang="en-US" sz="900" dirty="0"/>
          </a:p>
          <a:p>
            <a:pPr algn="l" marL="76200" indent="-76200">
              <a:lnSpc>
                <a:spcPts val="1350"/>
              </a:lnSpc>
              <a:spcAft>
                <a:spcPts val="750"/>
              </a:spcAft>
              <a:buSzPct val="100000"/>
              <a:buChar char="•"/>
            </a:pPr>
            <a:r>
              <a:rPr lang="en-US" sz="900" b="1" dirty="0">
                <a:solidFill>
                  <a:srgbClr val="FB4100"/>
                </a:solidFill>
                <a:latin typeface="Arial" pitchFamily="34" charset="0"/>
                <a:ea typeface="Arial" pitchFamily="34" charset="-122"/>
                <a:cs typeface="Arial" pitchFamily="34" charset="-120"/>
              </a:rPr>
              <a:t>95% of AI pilots deliver zero ROI</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(MIT)</a:t>
            </a:r>
            <a:endParaRPr lang="en-US" sz="900" dirty="0"/>
          </a:p>
        </p:txBody>
      </p:sp>
      <p:sp>
        <p:nvSpPr>
          <p:cNvPr id="10" name="Text 8"/>
          <p:cNvSpPr/>
          <p:nvPr/>
        </p:nvSpPr>
        <p:spPr>
          <a:xfrm>
            <a:off x="4709071" y="2126010"/>
            <a:ext cx="4023271" cy="1653480"/>
          </a:xfrm>
          <a:prstGeom prst="roundRect">
            <a:avLst>
              <a:gd name="adj" fmla="val 3456"/>
            </a:avLst>
          </a:prstGeom>
          <a:solidFill>
            <a:srgbClr val="F0F9FC"/>
          </a:solidFill>
          <a:ln/>
        </p:spPr>
        <p:txBody>
          <a:bodyPr wrap="square" rtlCol="0" anchor="ctr"/>
          <a:lstStyle/>
          <a:p>
            <a:pPr indent="0" marL="0">
              <a:buNone/>
            </a:pPr>
            <a:endParaRPr lang="en-US" dirty="0"/>
          </a:p>
        </p:txBody>
      </p:sp>
      <p:sp>
        <p:nvSpPr>
          <p:cNvPr id="11" name="Shape 9"/>
          <p:cNvSpPr/>
          <p:nvPr/>
        </p:nvSpPr>
        <p:spPr>
          <a:xfrm>
            <a:off x="4728121" y="2126010"/>
            <a:ext cx="0" cy="1653480"/>
          </a:xfrm>
          <a:prstGeom prst="line">
            <a:avLst/>
          </a:prstGeom>
          <a:noFill/>
          <a:ln w="38100">
            <a:solidFill>
              <a:srgbClr val="01A9DB"/>
            </a:solidFill>
            <a:prstDash val="solid"/>
          </a:ln>
        </p:spPr>
      </p:sp>
      <p:sp>
        <p:nvSpPr>
          <p:cNvPr id="12" name="Text 10"/>
          <p:cNvSpPr/>
          <p:nvPr/>
        </p:nvSpPr>
        <p:spPr>
          <a:xfrm>
            <a:off x="4899571" y="2278410"/>
            <a:ext cx="3753978" cy="186630"/>
          </a:xfrm>
          <a:prstGeom prst="rect">
            <a:avLst/>
          </a:prstGeom>
          <a:noFill/>
          <a:ln/>
        </p:spPr>
        <p:txBody>
          <a:bodyPr wrap="square" lIns="0" tIns="0" rIns="0" bIns="0" rtlCol="0" anchor="t"/>
          <a:lstStyle/>
          <a:p>
            <a:pPr algn="l" indent="0" marL="0">
              <a:lnSpc>
                <a:spcPts val="1470"/>
              </a:lnSpc>
              <a:spcAft>
                <a:spcPts val="900"/>
              </a:spcAft>
              <a:buNone/>
            </a:pPr>
            <a:r>
              <a:rPr lang="en-US" sz="1050" b="1" dirty="0">
                <a:solidFill>
                  <a:srgbClr val="01A9DB"/>
                </a:solidFill>
                <a:latin typeface="Arial" pitchFamily="34" charset="0"/>
                <a:ea typeface="Arial" pitchFamily="34" charset="-122"/>
                <a:cs typeface="Arial" pitchFamily="34" charset="-120"/>
              </a:rPr>
              <a:t>Why This Matters Now</a:t>
            </a:r>
            <a:endParaRPr lang="en-US" sz="1050" dirty="0"/>
          </a:p>
        </p:txBody>
      </p:sp>
      <p:sp>
        <p:nvSpPr>
          <p:cNvPr id="13" name="Text 11"/>
          <p:cNvSpPr/>
          <p:nvPr/>
        </p:nvSpPr>
        <p:spPr>
          <a:xfrm>
            <a:off x="4899571" y="2579340"/>
            <a:ext cx="3680371" cy="1047750"/>
          </a:xfrm>
          <a:prstGeom prst="rect">
            <a:avLst/>
          </a:prstGeom>
          <a:noFill/>
          <a:ln/>
        </p:spPr>
        <p:txBody>
          <a:bodyPr wrap="square" lIns="76200" tIns="0" rIns="0" bIns="0" rtlCol="0" anchor="t"/>
          <a:lstStyle/>
          <a:p>
            <a:pPr algn="l" marL="76200" indent="-76200">
              <a:lnSpc>
                <a:spcPts val="1350"/>
              </a:lnSpc>
              <a:spcAft>
                <a:spcPts val="750"/>
              </a:spcAft>
              <a:buSzPct val="100000"/>
              <a:buChar char="•"/>
            </a:pPr>
            <a:r>
              <a:rPr lang="en-US" sz="900" b="1" dirty="0">
                <a:solidFill>
                  <a:srgbClr val="07253D"/>
                </a:solidFill>
                <a:latin typeface="Arial" pitchFamily="34" charset="0"/>
                <a:ea typeface="Arial" pitchFamily="34" charset="-122"/>
                <a:cs typeface="Arial" pitchFamily="34" charset="-120"/>
              </a:rPr>
              <a:t>EU AI Act</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fully applicable August 2, 2026</a:t>
            </a:r>
            <a:endParaRPr lang="en-US" sz="900" dirty="0"/>
          </a:p>
          <a:p>
            <a:pPr algn="l" marL="76200" indent="-76200">
              <a:lnSpc>
                <a:spcPts val="1350"/>
              </a:lnSpc>
              <a:spcAft>
                <a:spcPts val="750"/>
              </a:spcAft>
              <a:buSzPct val="100000"/>
              <a:buChar char="•"/>
            </a:pPr>
            <a:r>
              <a:rPr lang="en-US" sz="900" b="1" dirty="0">
                <a:solidFill>
                  <a:srgbClr val="07253D"/>
                </a:solidFill>
                <a:latin typeface="Arial" pitchFamily="34" charset="0"/>
                <a:ea typeface="Arial" pitchFamily="34" charset="-122"/>
                <a:cs typeface="Arial" pitchFamily="34" charset="-120"/>
              </a:rPr>
              <a:t>60% of Fortune 100</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will appoint Chief AI Officer in 2026</a:t>
            </a:r>
            <a:endParaRPr lang="en-US" sz="900" dirty="0"/>
          </a:p>
          <a:p>
            <a:pPr algn="l" marL="76200" indent="-76200">
              <a:lnSpc>
                <a:spcPts val="1350"/>
              </a:lnSpc>
              <a:spcAft>
                <a:spcPts val="750"/>
              </a:spcAft>
              <a:buSzPct val="100000"/>
              <a:buChar char="•"/>
            </a:pPr>
            <a:r>
              <a:rPr lang="en-US" sz="900" dirty="0">
                <a:solidFill>
                  <a:srgbClr val="44546A"/>
                </a:solidFill>
                <a:latin typeface="Arial" pitchFamily="34" charset="0"/>
                <a:ea typeface="Arial" pitchFamily="34" charset="-122"/>
                <a:cs typeface="Arial" pitchFamily="34" charset="-120"/>
              </a:rPr>
              <a:t>Regulatory pressure forces "meaningful human review" of AI decisions</a:t>
            </a:r>
            <a:endParaRPr lang="en-US" sz="900" dirty="0"/>
          </a:p>
        </p:txBody>
      </p:sp>
      <p:sp>
        <p:nvSpPr>
          <p:cNvPr id="14" name="Text 12"/>
          <p:cNvSpPr/>
          <p:nvPr/>
        </p:nvSpPr>
        <p:spPr>
          <a:xfrm>
            <a:off x="8786217" y="4743450"/>
            <a:ext cx="54042"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5771007" cy="304800"/>
          </a:xfrm>
          <a:prstGeom prst="rect">
            <a:avLst/>
          </a:prstGeom>
          <a:noFill/>
          <a:ln/>
        </p:spPr>
        <p:txBody>
          <a:bodyPr wrap="square" lIns="0" tIns="0" rIns="0" bIns="0" rtlCol="0" anchor="t"/>
          <a:lstStyle/>
          <a:p>
            <a:pPr algn="l" indent="0" marL="0">
              <a:lnSpc>
                <a:spcPts val="2400"/>
              </a:lnSpc>
              <a:spcAft>
                <a:spcPts val="300"/>
              </a:spcAft>
              <a:buNone/>
            </a:pPr>
            <a:r>
              <a:rPr lang="en-US" sz="2400" b="1" dirty="0">
                <a:solidFill>
                  <a:srgbClr val="07253D"/>
                </a:solidFill>
                <a:latin typeface="Arial" pitchFamily="34" charset="0"/>
                <a:ea typeface="Arial" pitchFamily="34" charset="-122"/>
                <a:cs typeface="Arial" pitchFamily="34" charset="-120"/>
              </a:rPr>
              <a:t>Market Evolution &amp; Emerging Category</a:t>
            </a:r>
            <a:endParaRPr lang="en-US" sz="2400" dirty="0"/>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indent="0" marL="0">
              <a:buNone/>
            </a:pPr>
            <a:endParaRPr lang="en-US" dirty="0"/>
          </a:p>
        </p:txBody>
      </p:sp>
      <p:sp>
        <p:nvSpPr>
          <p:cNvPr id="6" name="Text 4"/>
          <p:cNvSpPr/>
          <p:nvPr/>
        </p:nvSpPr>
        <p:spPr>
          <a:xfrm>
            <a:off x="381000" y="2202210"/>
            <a:ext cx="4119372" cy="186630"/>
          </a:xfrm>
          <a:prstGeom prst="rect">
            <a:avLst/>
          </a:prstGeom>
          <a:noFill/>
          <a:ln/>
        </p:spPr>
        <p:txBody>
          <a:bodyPr wrap="square" lIns="0" tIns="0" rIns="0" bIns="0" rtlCol="0" anchor="t"/>
          <a:lstStyle/>
          <a:p>
            <a:pPr algn="l" indent="0" marL="0">
              <a:lnSpc>
                <a:spcPts val="1470"/>
              </a:lnSpc>
              <a:spcAft>
                <a:spcPts val="900"/>
              </a:spcAft>
              <a:buNone/>
            </a:pPr>
            <a:r>
              <a:rPr lang="en-US" sz="1050" b="1" dirty="0">
                <a:solidFill>
                  <a:srgbClr val="01A9DB"/>
                </a:solidFill>
                <a:latin typeface="Arial" pitchFamily="34" charset="0"/>
                <a:ea typeface="Arial" pitchFamily="34" charset="-122"/>
                <a:cs typeface="Arial" pitchFamily="34" charset="-120"/>
              </a:rPr>
              <a:t>Category Crystallization (2026)</a:t>
            </a:r>
            <a:endParaRPr lang="en-US" sz="1050" dirty="0"/>
          </a:p>
        </p:txBody>
      </p:sp>
      <p:sp>
        <p:nvSpPr>
          <p:cNvPr id="7" name="Text 5"/>
          <p:cNvSpPr/>
          <p:nvPr/>
        </p:nvSpPr>
        <p:spPr>
          <a:xfrm>
            <a:off x="381000" y="2655540"/>
            <a:ext cx="4038600" cy="1047750"/>
          </a:xfrm>
          <a:prstGeom prst="rect">
            <a:avLst/>
          </a:prstGeom>
          <a:noFill/>
          <a:ln/>
        </p:spPr>
        <p:txBody>
          <a:bodyPr wrap="square" lIns="76200" tIns="0" rIns="0" bIns="0" rtlCol="0" anchor="t"/>
          <a:lstStyle/>
          <a:p>
            <a:pPr algn="l" marL="76200" indent="-76200">
              <a:lnSpc>
                <a:spcPts val="1350"/>
              </a:lnSpc>
              <a:spcAft>
                <a:spcPts val="750"/>
              </a:spcAft>
              <a:buSzPct val="100000"/>
              <a:buChar char="•"/>
            </a:pPr>
            <a:r>
              <a:rPr lang="en-US" sz="900" b="1" dirty="0">
                <a:solidFill>
                  <a:srgbClr val="01A9DB"/>
                </a:solidFill>
                <a:latin typeface="Arial" pitchFamily="34" charset="0"/>
                <a:ea typeface="Arial" pitchFamily="34" charset="-122"/>
                <a:cs typeface="Arial" pitchFamily="34" charset="-120"/>
              </a:rPr>
              <a:t>Gartner:</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Decision Intelligence is #1 trend in 2026 Hype Cycle</a:t>
            </a:r>
            <a:endParaRPr lang="en-US" sz="900" dirty="0"/>
          </a:p>
          <a:p>
            <a:pPr algn="l" marL="76200" indent="-76200">
              <a:lnSpc>
                <a:spcPts val="1350"/>
              </a:lnSpc>
              <a:spcAft>
                <a:spcPts val="750"/>
              </a:spcAft>
              <a:buSzPct val="100000"/>
              <a:buChar char="•"/>
            </a:pPr>
            <a:r>
              <a:rPr lang="en-US" sz="900" b="1" dirty="0">
                <a:solidFill>
                  <a:srgbClr val="01A9DB"/>
                </a:solidFill>
                <a:latin typeface="Arial" pitchFamily="34" charset="0"/>
                <a:ea typeface="Arial" pitchFamily="34" charset="-122"/>
                <a:cs typeface="Arial" pitchFamily="34" charset="-120"/>
              </a:rPr>
              <a:t>Forrester:</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Agent Control Planes becoming essential governance layer</a:t>
            </a:r>
            <a:endParaRPr lang="en-US" sz="900" dirty="0"/>
          </a:p>
          <a:p>
            <a:pPr algn="l" marL="76200" indent="-76200">
              <a:lnSpc>
                <a:spcPts val="1350"/>
              </a:lnSpc>
              <a:spcAft>
                <a:spcPts val="750"/>
              </a:spcAft>
              <a:buSzPct val="100000"/>
              <a:buChar char="•"/>
            </a:pPr>
            <a:r>
              <a:rPr lang="en-US" sz="900" b="1" dirty="0">
                <a:solidFill>
                  <a:srgbClr val="01A9DB"/>
                </a:solidFill>
                <a:latin typeface="Arial" pitchFamily="34" charset="0"/>
                <a:ea typeface="Arial" pitchFamily="34" charset="-122"/>
                <a:cs typeface="Arial" pitchFamily="34" charset="-120"/>
              </a:rPr>
              <a:t>VCs/Foundation Capital:</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Context Graphs and "Execution Intelligence Layer" as key infrastructure</a:t>
            </a:r>
            <a:endParaRPr lang="en-US" sz="900" dirty="0"/>
          </a:p>
        </p:txBody>
      </p:sp>
      <p:sp>
        <p:nvSpPr>
          <p:cNvPr id="8" name="Text 6"/>
          <p:cNvSpPr/>
          <p:nvPr/>
        </p:nvSpPr>
        <p:spPr>
          <a:xfrm>
            <a:off x="4724400" y="1765102"/>
            <a:ext cx="4119372" cy="186630"/>
          </a:xfrm>
          <a:prstGeom prst="rect">
            <a:avLst/>
          </a:prstGeom>
          <a:noFill/>
          <a:ln/>
        </p:spPr>
        <p:txBody>
          <a:bodyPr wrap="square" lIns="0" tIns="0" rIns="0" bIns="0" rtlCol="0" anchor="t"/>
          <a:lstStyle/>
          <a:p>
            <a:pPr algn="l" indent="0" marL="0">
              <a:lnSpc>
                <a:spcPts val="1470"/>
              </a:lnSpc>
              <a:spcAft>
                <a:spcPts val="900"/>
              </a:spcAft>
              <a:buNone/>
            </a:pPr>
            <a:r>
              <a:rPr lang="en-US" sz="1050" b="1" dirty="0">
                <a:solidFill>
                  <a:srgbClr val="01A9DB"/>
                </a:solidFill>
                <a:latin typeface="Arial" pitchFamily="34" charset="0"/>
                <a:ea typeface="Arial" pitchFamily="34" charset="-122"/>
                <a:cs typeface="Arial" pitchFamily="34" charset="-120"/>
              </a:rPr>
              <a:t>TAM Expansion</a:t>
            </a:r>
            <a:endParaRPr lang="en-US" sz="1050" dirty="0"/>
          </a:p>
        </p:txBody>
      </p:sp>
      <p:sp>
        <p:nvSpPr>
          <p:cNvPr id="9" name="Text 7"/>
          <p:cNvSpPr/>
          <p:nvPr/>
        </p:nvSpPr>
        <p:spPr>
          <a:xfrm>
            <a:off x="4724400" y="2218432"/>
            <a:ext cx="4038600" cy="571500"/>
          </a:xfrm>
          <a:prstGeom prst="rect">
            <a:avLst/>
          </a:prstGeom>
          <a:noFill/>
          <a:ln/>
        </p:spPr>
        <p:txBody>
          <a:bodyPr wrap="square" lIns="76200" tIns="0" rIns="0" bIns="0" rtlCol="0" anchor="t"/>
          <a:lstStyle/>
          <a:p>
            <a:pPr algn="l" marL="76200" indent="-76200">
              <a:lnSpc>
                <a:spcPts val="1350"/>
              </a:lnSpc>
              <a:spcAft>
                <a:spcPts val="750"/>
              </a:spcAft>
              <a:buSzPct val="100000"/>
              <a:buChar char="•"/>
            </a:pPr>
            <a:r>
              <a:rPr lang="en-US" sz="900" dirty="0">
                <a:solidFill>
                  <a:srgbClr val="44546A"/>
                </a:solidFill>
                <a:latin typeface="Arial" pitchFamily="34" charset="0"/>
                <a:ea typeface="Arial" pitchFamily="34" charset="-122"/>
                <a:cs typeface="Arial" pitchFamily="34" charset="-120"/>
              </a:rPr>
              <a:t>Base TAM: </a:t>
            </a:r>
            <a:pPr algn="l" indent="0" marL="0">
              <a:lnSpc>
                <a:spcPts val="1350"/>
              </a:lnSpc>
              <a:spcAft>
                <a:spcPts val="750"/>
              </a:spcAft>
              <a:buNone/>
            </a:pPr>
            <a:r>
              <a:rPr lang="en-US" sz="900" b="1" dirty="0">
                <a:solidFill>
                  <a:srgbClr val="07253D"/>
                </a:solidFill>
                <a:latin typeface="Arial" pitchFamily="34" charset="0"/>
                <a:ea typeface="Arial" pitchFamily="34" charset="-122"/>
                <a:cs typeface="Arial" pitchFamily="34" charset="-120"/>
              </a:rPr>
              <a:t>158,000 companies</a:t>
            </a:r>
            <a:pPr algn="l" indent="0" marL="0">
              <a:lnSpc>
                <a:spcPts val="1350"/>
              </a:lnSpc>
              <a:spcAft>
                <a:spcPts val="750"/>
              </a:spcAft>
              <a:buNone/>
            </a:pPr>
            <a:r>
              <a:rPr lang="en-US" sz="900" dirty="0">
                <a:solidFill>
                  <a:srgbClr val="44546A"/>
                </a:solidFill>
                <a:latin typeface="Arial" pitchFamily="34" charset="0"/>
                <a:ea typeface="Arial" pitchFamily="34" charset="-122"/>
                <a:cs typeface="Arial" pitchFamily="34" charset="-120"/>
              </a:rPr>
              <a:t> deploying customer service AI</a:t>
            </a:r>
            <a:endParaRPr lang="en-US" sz="900" dirty="0"/>
          </a:p>
          <a:p>
            <a:pPr algn="l" marL="76200" indent="-76200">
              <a:lnSpc>
                <a:spcPts val="1350"/>
              </a:lnSpc>
              <a:spcAft>
                <a:spcPts val="750"/>
              </a:spcAft>
              <a:buSzPct val="100000"/>
              <a:buChar char="•"/>
            </a:pPr>
            <a:r>
              <a:rPr lang="en-US" sz="900" dirty="0">
                <a:solidFill>
                  <a:srgbClr val="44546A"/>
                </a:solidFill>
                <a:latin typeface="Arial" pitchFamily="34" charset="0"/>
                <a:ea typeface="Arial" pitchFamily="34" charset="-122"/>
                <a:cs typeface="Arial" pitchFamily="34" charset="-120"/>
              </a:rPr>
              <a:t>40% agent adoption by 2026 = billions in software transformation</a:t>
            </a:r>
            <a:endParaRPr lang="en-US" sz="900" dirty="0"/>
          </a:p>
        </p:txBody>
      </p:sp>
      <p:sp>
        <p:nvSpPr>
          <p:cNvPr id="10" name="Text 8"/>
          <p:cNvSpPr/>
          <p:nvPr/>
        </p:nvSpPr>
        <p:spPr>
          <a:xfrm>
            <a:off x="4724400" y="3132832"/>
            <a:ext cx="4038600" cy="1007566"/>
          </a:xfrm>
          <a:prstGeom prst="roundRect">
            <a:avLst>
              <a:gd name="adj" fmla="val 5672"/>
            </a:avLst>
          </a:prstGeom>
          <a:solidFill>
            <a:srgbClr val="07253D"/>
          </a:solidFill>
          <a:ln/>
        </p:spPr>
        <p:txBody>
          <a:bodyPr wrap="square" rtlCol="0" anchor="ctr"/>
          <a:lstStyle/>
          <a:p>
            <a:pPr indent="0" marL="0">
              <a:buNone/>
            </a:pPr>
            <a:endParaRPr lang="en-US" dirty="0"/>
          </a:p>
        </p:txBody>
      </p:sp>
      <p:sp>
        <p:nvSpPr>
          <p:cNvPr id="11" name="Text 9"/>
          <p:cNvSpPr/>
          <p:nvPr/>
        </p:nvSpPr>
        <p:spPr>
          <a:xfrm>
            <a:off x="4876800" y="3285232"/>
            <a:ext cx="3808476"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01A9DB"/>
                </a:solidFill>
                <a:latin typeface="Arial" pitchFamily="34" charset="0"/>
                <a:ea typeface="Arial" pitchFamily="34" charset="-122"/>
                <a:cs typeface="Arial" pitchFamily="34" charset="-120"/>
              </a:rPr>
              <a:t>Revenue TAM</a:t>
            </a:r>
            <a:endParaRPr lang="en-US" sz="900" dirty="0"/>
          </a:p>
        </p:txBody>
      </p:sp>
      <p:sp>
        <p:nvSpPr>
          <p:cNvPr id="12" name="Text 10"/>
          <p:cNvSpPr/>
          <p:nvPr/>
        </p:nvSpPr>
        <p:spPr>
          <a:xfrm>
            <a:off x="4876800" y="3483322"/>
            <a:ext cx="3808476" cy="319980"/>
          </a:xfrm>
          <a:prstGeom prst="rect">
            <a:avLst/>
          </a:prstGeom>
          <a:noFill/>
          <a:ln/>
        </p:spPr>
        <p:txBody>
          <a:bodyPr wrap="square" lIns="0" tIns="0" rIns="0" bIns="0" rtlCol="0" anchor="t"/>
          <a:lstStyle/>
          <a:p>
            <a:pPr algn="l" indent="0" marL="0">
              <a:lnSpc>
                <a:spcPts val="2520"/>
              </a:lnSpc>
              <a:buNone/>
            </a:pPr>
            <a:r>
              <a:rPr lang="en-US" sz="1800" b="1" dirty="0">
                <a:solidFill>
                  <a:srgbClr val="FFFFFF"/>
                </a:solidFill>
                <a:latin typeface="Arial" pitchFamily="34" charset="0"/>
                <a:ea typeface="Arial" pitchFamily="34" charset="-122"/>
                <a:cs typeface="Arial" pitchFamily="34" charset="-120"/>
              </a:rPr>
              <a:t>$2-3B</a:t>
            </a:r>
            <a:endParaRPr lang="en-US" sz="1800" dirty="0"/>
          </a:p>
        </p:txBody>
      </p:sp>
      <p:sp>
        <p:nvSpPr>
          <p:cNvPr id="13" name="Text 11"/>
          <p:cNvSpPr/>
          <p:nvPr/>
        </p:nvSpPr>
        <p:spPr>
          <a:xfrm>
            <a:off x="4876800" y="3841403"/>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FFFFFF"/>
                </a:solidFill>
                <a:latin typeface="Arial" pitchFamily="34" charset="0"/>
                <a:ea typeface="Arial" pitchFamily="34" charset="-122"/>
                <a:cs typeface="Arial" pitchFamily="34" charset="-120"/>
              </a:rPr>
              <a:t>Annual market opportunity for decision intelligence in CS alone</a:t>
            </a:r>
            <a:endParaRPr lang="en-US" sz="825" dirty="0"/>
          </a:p>
        </p:txBody>
      </p:sp>
      <p:sp>
        <p:nvSpPr>
          <p:cNvPr id="14" name="Text 12"/>
          <p:cNvSpPr/>
          <p:nvPr/>
        </p:nvSpPr>
        <p:spPr>
          <a:xfrm>
            <a:off x="8786217" y="4743450"/>
            <a:ext cx="54042"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4284536" cy="304800"/>
          </a:xfrm>
          <a:prstGeom prst="rect">
            <a:avLst/>
          </a:prstGeom>
          <a:noFill/>
          <a:ln/>
        </p:spPr>
        <p:txBody>
          <a:bodyPr wrap="square" lIns="0" tIns="0" rIns="0" bIns="0" rtlCol="0" anchor="t"/>
          <a:lstStyle/>
          <a:p>
            <a:pPr algn="l" indent="0" marL="0">
              <a:lnSpc>
                <a:spcPts val="2400"/>
              </a:lnSpc>
              <a:spcAft>
                <a:spcPts val="300"/>
              </a:spcAft>
              <a:buNone/>
            </a:pPr>
            <a:r>
              <a:rPr lang="en-US" sz="2400" b="1" dirty="0">
                <a:solidFill>
                  <a:srgbClr val="07253D"/>
                </a:solidFill>
                <a:latin typeface="Arial" pitchFamily="34" charset="0"/>
                <a:ea typeface="Arial" pitchFamily="34" charset="-122"/>
                <a:cs typeface="Arial" pitchFamily="34" charset="-120"/>
              </a:rPr>
              <a:t>Helm's Unique Approach</a:t>
            </a:r>
            <a:endParaRPr lang="en-US" sz="2400" dirty="0"/>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indent="0" marL="0">
              <a:buNone/>
            </a:pPr>
            <a:endParaRPr lang="en-US" dirty="0"/>
          </a:p>
        </p:txBody>
      </p:sp>
      <p:sp>
        <p:nvSpPr>
          <p:cNvPr id="6" name="Text 4"/>
          <p:cNvSpPr/>
          <p:nvPr/>
        </p:nvSpPr>
        <p:spPr>
          <a:xfrm>
            <a:off x="381000" y="1691878"/>
            <a:ext cx="8549640" cy="186630"/>
          </a:xfrm>
          <a:prstGeom prst="rect">
            <a:avLst/>
          </a:prstGeom>
          <a:noFill/>
          <a:ln/>
        </p:spPr>
        <p:txBody>
          <a:bodyPr wrap="square" lIns="0" tIns="0" rIns="0" bIns="0" rtlCol="0" anchor="t"/>
          <a:lstStyle/>
          <a:p>
            <a:pPr algn="l" indent="0" marL="0">
              <a:lnSpc>
                <a:spcPts val="1470"/>
              </a:lnSpc>
              <a:buNone/>
            </a:pPr>
            <a:r>
              <a:rPr lang="en-US" sz="1050" b="1" dirty="0">
                <a:solidFill>
                  <a:srgbClr val="01A9DB"/>
                </a:solidFill>
                <a:latin typeface="Arial" pitchFamily="34" charset="0"/>
                <a:ea typeface="Arial" pitchFamily="34" charset="-122"/>
                <a:cs typeface="Arial" pitchFamily="34" charset="-120"/>
              </a:rPr>
              <a:t>What Helm Does</a:t>
            </a:r>
            <a:endParaRPr lang="en-US" sz="1050" dirty="0"/>
          </a:p>
        </p:txBody>
      </p:sp>
      <p:sp>
        <p:nvSpPr>
          <p:cNvPr id="7" name="Text 5"/>
          <p:cNvSpPr/>
          <p:nvPr/>
        </p:nvSpPr>
        <p:spPr>
          <a:xfrm>
            <a:off x="381000" y="2030909"/>
            <a:ext cx="2692450" cy="856952"/>
          </a:xfrm>
          <a:prstGeom prst="roundRect">
            <a:avLst>
              <a:gd name="adj" fmla="val 6669"/>
            </a:avLst>
          </a:prstGeom>
          <a:solidFill>
            <a:srgbClr val="07253D"/>
          </a:solidFill>
          <a:ln/>
        </p:spPr>
        <p:txBody>
          <a:bodyPr wrap="square" rtlCol="0" anchor="ctr"/>
          <a:lstStyle/>
          <a:p>
            <a:pPr indent="0" marL="0">
              <a:buNone/>
            </a:pPr>
            <a:endParaRPr lang="en-US" dirty="0"/>
          </a:p>
        </p:txBody>
      </p:sp>
      <p:sp>
        <p:nvSpPr>
          <p:cNvPr id="8" name="Text 6"/>
          <p:cNvSpPr/>
          <p:nvPr/>
        </p:nvSpPr>
        <p:spPr>
          <a:xfrm>
            <a:off x="514350" y="2164259"/>
            <a:ext cx="2474265" cy="239911"/>
          </a:xfrm>
          <a:prstGeom prst="rect">
            <a:avLst/>
          </a:prstGeom>
          <a:noFill/>
          <a:ln/>
        </p:spPr>
        <p:txBody>
          <a:bodyPr wrap="square" lIns="0" tIns="0" rIns="0" bIns="0" rtlCol="0" anchor="t"/>
          <a:lstStyle/>
          <a:p>
            <a:pPr algn="l" indent="0" marL="0">
              <a:lnSpc>
                <a:spcPts val="1890"/>
              </a:lnSpc>
              <a:spcAft>
                <a:spcPts val="450"/>
              </a:spcAft>
              <a:buNone/>
            </a:pPr>
            <a:r>
              <a:rPr lang="en-US" sz="1350" b="1" dirty="0">
                <a:solidFill>
                  <a:srgbClr val="01A9DB"/>
                </a:solidFill>
                <a:latin typeface="Arial" pitchFamily="34" charset="0"/>
                <a:ea typeface="Arial" pitchFamily="34" charset="-122"/>
                <a:cs typeface="Arial" pitchFamily="34" charset="-120"/>
              </a:rPr>
              <a:t>Mine</a:t>
            </a:r>
            <a:endParaRPr lang="en-US" sz="1350" dirty="0"/>
          </a:p>
        </p:txBody>
      </p:sp>
      <p:sp>
        <p:nvSpPr>
          <p:cNvPr id="9" name="Text 7"/>
          <p:cNvSpPr/>
          <p:nvPr/>
        </p:nvSpPr>
        <p:spPr>
          <a:xfrm>
            <a:off x="514350" y="2461320"/>
            <a:ext cx="2474265" cy="293191"/>
          </a:xfrm>
          <a:prstGeom prst="rect">
            <a:avLst/>
          </a:prstGeom>
          <a:noFill/>
          <a:ln/>
        </p:spPr>
        <p:txBody>
          <a:bodyPr wrap="square" lIns="0" tIns="0" rIns="0" bIns="0" rtlCol="0" anchor="t"/>
          <a:lstStyle/>
          <a:p>
            <a:pPr algn="l" indent="0" marL="0">
              <a:lnSpc>
                <a:spcPts val="1155"/>
              </a:lnSpc>
              <a:buNone/>
            </a:pPr>
            <a:r>
              <a:rPr lang="en-US" sz="825" dirty="0">
                <a:solidFill>
                  <a:srgbClr val="FFFFFF"/>
                </a:solidFill>
                <a:latin typeface="Arial" pitchFamily="34" charset="0"/>
                <a:ea typeface="Arial" pitchFamily="34" charset="-122"/>
                <a:cs typeface="Arial" pitchFamily="34" charset="-120"/>
              </a:rPr>
              <a:t>Captures how decisions are made across your customer service operation</a:t>
            </a:r>
            <a:endParaRPr lang="en-US" sz="825" dirty="0"/>
          </a:p>
        </p:txBody>
      </p:sp>
      <p:sp>
        <p:nvSpPr>
          <p:cNvPr id="10" name="Text 8"/>
          <p:cNvSpPr/>
          <p:nvPr/>
        </p:nvSpPr>
        <p:spPr>
          <a:xfrm>
            <a:off x="3225850" y="2030909"/>
            <a:ext cx="2692450" cy="856952"/>
          </a:xfrm>
          <a:prstGeom prst="roundRect">
            <a:avLst>
              <a:gd name="adj" fmla="val 6669"/>
            </a:avLst>
          </a:prstGeom>
          <a:solidFill>
            <a:srgbClr val="07253D"/>
          </a:solidFill>
          <a:ln/>
        </p:spPr>
        <p:txBody>
          <a:bodyPr wrap="square" rtlCol="0" anchor="ctr"/>
          <a:lstStyle/>
          <a:p>
            <a:pPr indent="0" marL="0">
              <a:buNone/>
            </a:pPr>
            <a:endParaRPr lang="en-US" dirty="0"/>
          </a:p>
        </p:txBody>
      </p:sp>
      <p:sp>
        <p:nvSpPr>
          <p:cNvPr id="11" name="Text 9"/>
          <p:cNvSpPr/>
          <p:nvPr/>
        </p:nvSpPr>
        <p:spPr>
          <a:xfrm>
            <a:off x="3359200" y="2164259"/>
            <a:ext cx="2474265" cy="239911"/>
          </a:xfrm>
          <a:prstGeom prst="rect">
            <a:avLst/>
          </a:prstGeom>
          <a:noFill/>
          <a:ln/>
        </p:spPr>
        <p:txBody>
          <a:bodyPr wrap="square" lIns="0" tIns="0" rIns="0" bIns="0" rtlCol="0" anchor="t"/>
          <a:lstStyle/>
          <a:p>
            <a:pPr algn="l" indent="0" marL="0">
              <a:lnSpc>
                <a:spcPts val="1890"/>
              </a:lnSpc>
              <a:spcAft>
                <a:spcPts val="450"/>
              </a:spcAft>
              <a:buNone/>
            </a:pPr>
            <a:r>
              <a:rPr lang="en-US" sz="1350" b="1" dirty="0">
                <a:solidFill>
                  <a:srgbClr val="01A9DB"/>
                </a:solidFill>
                <a:latin typeface="Arial" pitchFamily="34" charset="0"/>
                <a:ea typeface="Arial" pitchFamily="34" charset="-122"/>
                <a:cs typeface="Arial" pitchFamily="34" charset="-120"/>
              </a:rPr>
              <a:t>Design</a:t>
            </a:r>
            <a:endParaRPr lang="en-US" sz="1350" dirty="0"/>
          </a:p>
        </p:txBody>
      </p:sp>
      <p:sp>
        <p:nvSpPr>
          <p:cNvPr id="12" name="Text 10"/>
          <p:cNvSpPr/>
          <p:nvPr/>
        </p:nvSpPr>
        <p:spPr>
          <a:xfrm>
            <a:off x="3359200" y="2461320"/>
            <a:ext cx="2474265" cy="293191"/>
          </a:xfrm>
          <a:prstGeom prst="rect">
            <a:avLst/>
          </a:prstGeom>
          <a:noFill/>
          <a:ln/>
        </p:spPr>
        <p:txBody>
          <a:bodyPr wrap="square" lIns="0" tIns="0" rIns="0" bIns="0" rtlCol="0" anchor="t"/>
          <a:lstStyle/>
          <a:p>
            <a:pPr algn="l" indent="0" marL="0">
              <a:lnSpc>
                <a:spcPts val="1155"/>
              </a:lnSpc>
              <a:buNone/>
            </a:pPr>
            <a:r>
              <a:rPr lang="en-US" sz="825" dirty="0">
                <a:solidFill>
                  <a:srgbClr val="FFFFFF"/>
                </a:solidFill>
                <a:latin typeface="Arial" pitchFamily="34" charset="0"/>
                <a:ea typeface="Arial" pitchFamily="34" charset="-122"/>
                <a:cs typeface="Arial" pitchFamily="34" charset="-120"/>
              </a:rPr>
              <a:t>Helps you design better processes and agent workflows</a:t>
            </a:r>
            <a:endParaRPr lang="en-US" sz="825" dirty="0"/>
          </a:p>
        </p:txBody>
      </p:sp>
      <p:sp>
        <p:nvSpPr>
          <p:cNvPr id="13" name="Text 11"/>
          <p:cNvSpPr/>
          <p:nvPr/>
        </p:nvSpPr>
        <p:spPr>
          <a:xfrm>
            <a:off x="6070699" y="2030909"/>
            <a:ext cx="2692450" cy="856952"/>
          </a:xfrm>
          <a:prstGeom prst="roundRect">
            <a:avLst>
              <a:gd name="adj" fmla="val 6669"/>
            </a:avLst>
          </a:prstGeom>
          <a:solidFill>
            <a:srgbClr val="07253D"/>
          </a:solidFill>
          <a:ln/>
        </p:spPr>
        <p:txBody>
          <a:bodyPr wrap="square" rtlCol="0" anchor="ctr"/>
          <a:lstStyle/>
          <a:p>
            <a:pPr indent="0" marL="0">
              <a:buNone/>
            </a:pPr>
            <a:endParaRPr lang="en-US" dirty="0"/>
          </a:p>
        </p:txBody>
      </p:sp>
      <p:sp>
        <p:nvSpPr>
          <p:cNvPr id="14" name="Text 12"/>
          <p:cNvSpPr/>
          <p:nvPr/>
        </p:nvSpPr>
        <p:spPr>
          <a:xfrm>
            <a:off x="6204049" y="2164259"/>
            <a:ext cx="2474265" cy="239911"/>
          </a:xfrm>
          <a:prstGeom prst="rect">
            <a:avLst/>
          </a:prstGeom>
          <a:noFill/>
          <a:ln/>
        </p:spPr>
        <p:txBody>
          <a:bodyPr wrap="square" lIns="0" tIns="0" rIns="0" bIns="0" rtlCol="0" anchor="t"/>
          <a:lstStyle/>
          <a:p>
            <a:pPr algn="l" indent="0" marL="0">
              <a:lnSpc>
                <a:spcPts val="1890"/>
              </a:lnSpc>
              <a:spcAft>
                <a:spcPts val="450"/>
              </a:spcAft>
              <a:buNone/>
            </a:pPr>
            <a:r>
              <a:rPr lang="en-US" sz="1350" b="1" dirty="0">
                <a:solidFill>
                  <a:srgbClr val="01A9DB"/>
                </a:solidFill>
                <a:latin typeface="Arial" pitchFamily="34" charset="0"/>
                <a:ea typeface="Arial" pitchFamily="34" charset="-122"/>
                <a:cs typeface="Arial" pitchFamily="34" charset="-120"/>
              </a:rPr>
              <a:t>Manage</a:t>
            </a:r>
            <a:endParaRPr lang="en-US" sz="1350" dirty="0"/>
          </a:p>
        </p:txBody>
      </p:sp>
      <p:sp>
        <p:nvSpPr>
          <p:cNvPr id="15" name="Text 13"/>
          <p:cNvSpPr/>
          <p:nvPr/>
        </p:nvSpPr>
        <p:spPr>
          <a:xfrm>
            <a:off x="6204049" y="2461320"/>
            <a:ext cx="2474265" cy="293191"/>
          </a:xfrm>
          <a:prstGeom prst="rect">
            <a:avLst/>
          </a:prstGeom>
          <a:noFill/>
          <a:ln/>
        </p:spPr>
        <p:txBody>
          <a:bodyPr wrap="square" lIns="0" tIns="0" rIns="0" bIns="0" rtlCol="0" anchor="t"/>
          <a:lstStyle/>
          <a:p>
            <a:pPr algn="l" indent="0" marL="0">
              <a:lnSpc>
                <a:spcPts val="1155"/>
              </a:lnSpc>
              <a:buNone/>
            </a:pPr>
            <a:r>
              <a:rPr lang="en-US" sz="825" dirty="0">
                <a:solidFill>
                  <a:srgbClr val="FFFFFF"/>
                </a:solidFill>
                <a:latin typeface="Arial" pitchFamily="34" charset="0"/>
                <a:ea typeface="Arial" pitchFamily="34" charset="-122"/>
                <a:cs typeface="Arial" pitchFamily="34" charset="-120"/>
              </a:rPr>
              <a:t>Continuously monitors and improves with governance guardrails</a:t>
            </a:r>
            <a:endParaRPr lang="en-US" sz="825" dirty="0"/>
          </a:p>
        </p:txBody>
      </p:sp>
      <p:sp>
        <p:nvSpPr>
          <p:cNvPr id="16" name="Text 14"/>
          <p:cNvSpPr/>
          <p:nvPr/>
        </p:nvSpPr>
        <p:spPr>
          <a:xfrm>
            <a:off x="381000" y="3116461"/>
            <a:ext cx="8549640" cy="186630"/>
          </a:xfrm>
          <a:prstGeom prst="rect">
            <a:avLst/>
          </a:prstGeom>
          <a:noFill/>
          <a:ln/>
        </p:spPr>
        <p:txBody>
          <a:bodyPr wrap="square" lIns="0" tIns="0" rIns="0" bIns="0" rtlCol="0" anchor="t"/>
          <a:lstStyle/>
          <a:p>
            <a:pPr algn="l" indent="0" marL="0">
              <a:lnSpc>
                <a:spcPts val="1470"/>
              </a:lnSpc>
              <a:spcBef>
                <a:spcPts val="600"/>
              </a:spcBef>
              <a:buNone/>
            </a:pPr>
            <a:r>
              <a:rPr lang="en-US" sz="1050" b="1" dirty="0">
                <a:solidFill>
                  <a:srgbClr val="01A9DB"/>
                </a:solidFill>
                <a:latin typeface="Arial" pitchFamily="34" charset="0"/>
                <a:ea typeface="Arial" pitchFamily="34" charset="-122"/>
                <a:cs typeface="Arial" pitchFamily="34" charset="-120"/>
              </a:rPr>
              <a:t>Key Differentiators</a:t>
            </a:r>
            <a:endParaRPr lang="en-US" sz="1050" dirty="0"/>
          </a:p>
        </p:txBody>
      </p:sp>
      <p:sp>
        <p:nvSpPr>
          <p:cNvPr id="17" name="Text 15"/>
          <p:cNvSpPr/>
          <p:nvPr/>
        </p:nvSpPr>
        <p:spPr>
          <a:xfrm>
            <a:off x="381000" y="3455491"/>
            <a:ext cx="1981200" cy="719882"/>
          </a:xfrm>
          <a:prstGeom prst="roundRect">
            <a:avLst>
              <a:gd name="adj" fmla="val 7939"/>
            </a:avLst>
          </a:prstGeom>
          <a:solidFill>
            <a:srgbClr val="F5F7FA"/>
          </a:solidFill>
          <a:ln/>
        </p:spPr>
        <p:txBody>
          <a:bodyPr wrap="square" rtlCol="0" anchor="ctr"/>
          <a:lstStyle/>
          <a:p>
            <a:pPr indent="0" marL="0">
              <a:buNone/>
            </a:pPr>
            <a:endParaRPr lang="en-US" dirty="0"/>
          </a:p>
        </p:txBody>
      </p:sp>
      <p:sp>
        <p:nvSpPr>
          <p:cNvPr id="18" name="Shape 16"/>
          <p:cNvSpPr/>
          <p:nvPr/>
        </p:nvSpPr>
        <p:spPr>
          <a:xfrm>
            <a:off x="395288" y="3455491"/>
            <a:ext cx="0" cy="719882"/>
          </a:xfrm>
          <a:prstGeom prst="line">
            <a:avLst/>
          </a:prstGeom>
          <a:noFill/>
          <a:ln w="28575">
            <a:solidFill>
              <a:srgbClr val="01A9DB"/>
            </a:solidFill>
            <a:prstDash val="solid"/>
          </a:ln>
        </p:spPr>
      </p:sp>
      <p:sp>
        <p:nvSpPr>
          <p:cNvPr id="19" name="Text 17"/>
          <p:cNvSpPr/>
          <p:nvPr/>
        </p:nvSpPr>
        <p:spPr>
          <a:xfrm>
            <a:off x="523875" y="3569791"/>
            <a:ext cx="1758506"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07253D"/>
                </a:solidFill>
                <a:latin typeface="Arial" pitchFamily="34" charset="0"/>
                <a:ea typeface="Arial" pitchFamily="34" charset="-122"/>
                <a:cs typeface="Arial" pitchFamily="34" charset="-120"/>
              </a:rPr>
              <a:t>Executive-Friendly</a:t>
            </a:r>
            <a:endParaRPr lang="en-US" sz="900" dirty="0"/>
          </a:p>
        </p:txBody>
      </p:sp>
      <p:sp>
        <p:nvSpPr>
          <p:cNvPr id="20" name="Text 18"/>
          <p:cNvSpPr/>
          <p:nvPr/>
        </p:nvSpPr>
        <p:spPr>
          <a:xfrm>
            <a:off x="523875" y="3767882"/>
            <a:ext cx="1758506" cy="293191"/>
          </a:xfrm>
          <a:prstGeom prst="rect">
            <a:avLst/>
          </a:prstGeom>
          <a:noFill/>
          <a:ln/>
        </p:spPr>
        <p:txBody>
          <a:bodyPr wrap="square" lIns="0" tIns="0" rIns="0" bIns="0" rtlCol="0" anchor="t"/>
          <a:lstStyle/>
          <a:p>
            <a:pPr algn="l" indent="0" marL="0">
              <a:lnSpc>
                <a:spcPts val="1155"/>
              </a:lnSpc>
              <a:buNone/>
            </a:pPr>
            <a:r>
              <a:rPr lang="en-US" sz="825" dirty="0">
                <a:solidFill>
                  <a:srgbClr val="44546A"/>
                </a:solidFill>
                <a:latin typeface="Arial" pitchFamily="34" charset="0"/>
                <a:ea typeface="Arial" pitchFamily="34" charset="-122"/>
                <a:cs typeface="Arial" pitchFamily="34" charset="-120"/>
              </a:rPr>
              <a:t>Natural language interface, no technical training required</a:t>
            </a:r>
            <a:endParaRPr lang="en-US" sz="825" dirty="0"/>
          </a:p>
        </p:txBody>
      </p:sp>
      <p:sp>
        <p:nvSpPr>
          <p:cNvPr id="21" name="Text 19"/>
          <p:cNvSpPr/>
          <p:nvPr/>
        </p:nvSpPr>
        <p:spPr>
          <a:xfrm>
            <a:off x="2514600" y="3455491"/>
            <a:ext cx="1981200" cy="719882"/>
          </a:xfrm>
          <a:prstGeom prst="roundRect">
            <a:avLst>
              <a:gd name="adj" fmla="val 7939"/>
            </a:avLst>
          </a:prstGeom>
          <a:solidFill>
            <a:srgbClr val="F5F7FA"/>
          </a:solidFill>
          <a:ln/>
        </p:spPr>
        <p:txBody>
          <a:bodyPr wrap="square" rtlCol="0" anchor="ctr"/>
          <a:lstStyle/>
          <a:p>
            <a:pPr indent="0" marL="0">
              <a:buNone/>
            </a:pPr>
            <a:endParaRPr lang="en-US" dirty="0"/>
          </a:p>
        </p:txBody>
      </p:sp>
      <p:sp>
        <p:nvSpPr>
          <p:cNvPr id="22" name="Shape 20"/>
          <p:cNvSpPr/>
          <p:nvPr/>
        </p:nvSpPr>
        <p:spPr>
          <a:xfrm>
            <a:off x="2528888" y="3455491"/>
            <a:ext cx="0" cy="719882"/>
          </a:xfrm>
          <a:prstGeom prst="line">
            <a:avLst/>
          </a:prstGeom>
          <a:noFill/>
          <a:ln w="28575">
            <a:solidFill>
              <a:srgbClr val="01A9DB"/>
            </a:solidFill>
            <a:prstDash val="solid"/>
          </a:ln>
        </p:spPr>
      </p:sp>
      <p:sp>
        <p:nvSpPr>
          <p:cNvPr id="23" name="Text 21"/>
          <p:cNvSpPr/>
          <p:nvPr/>
        </p:nvSpPr>
        <p:spPr>
          <a:xfrm>
            <a:off x="2657475" y="3569791"/>
            <a:ext cx="1758506"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07253D"/>
                </a:solidFill>
                <a:latin typeface="Arial" pitchFamily="34" charset="0"/>
                <a:ea typeface="Arial" pitchFamily="34" charset="-122"/>
                <a:cs typeface="Arial" pitchFamily="34" charset="-120"/>
              </a:rPr>
              <a:t>Fast Time-to-Value</a:t>
            </a:r>
            <a:endParaRPr lang="en-US" sz="900" dirty="0"/>
          </a:p>
        </p:txBody>
      </p:sp>
      <p:sp>
        <p:nvSpPr>
          <p:cNvPr id="24" name="Text 22"/>
          <p:cNvSpPr/>
          <p:nvPr/>
        </p:nvSpPr>
        <p:spPr>
          <a:xfrm>
            <a:off x="2657475" y="3767882"/>
            <a:ext cx="1758506" cy="293191"/>
          </a:xfrm>
          <a:prstGeom prst="rect">
            <a:avLst/>
          </a:prstGeom>
          <a:noFill/>
          <a:ln/>
        </p:spPr>
        <p:txBody>
          <a:bodyPr wrap="square" lIns="0" tIns="0" rIns="0" bIns="0" rtlCol="0" anchor="t"/>
          <a:lstStyle/>
          <a:p>
            <a:pPr algn="l" indent="0" marL="0">
              <a:lnSpc>
                <a:spcPts val="1155"/>
              </a:lnSpc>
              <a:buNone/>
            </a:pPr>
            <a:r>
              <a:rPr lang="en-US" sz="825" dirty="0">
                <a:solidFill>
                  <a:srgbClr val="44546A"/>
                </a:solidFill>
                <a:latin typeface="Arial" pitchFamily="34" charset="0"/>
                <a:ea typeface="Arial" pitchFamily="34" charset="-122"/>
                <a:cs typeface="Arial" pitchFamily="34" charset="-120"/>
              </a:rPr>
              <a:t>Start free, get insights immediately (Mine in days, not months)</a:t>
            </a:r>
            <a:endParaRPr lang="en-US" sz="825" dirty="0"/>
          </a:p>
        </p:txBody>
      </p:sp>
      <p:sp>
        <p:nvSpPr>
          <p:cNvPr id="25" name="Text 23"/>
          <p:cNvSpPr/>
          <p:nvPr/>
        </p:nvSpPr>
        <p:spPr>
          <a:xfrm>
            <a:off x="4648200" y="3455491"/>
            <a:ext cx="1981200" cy="719882"/>
          </a:xfrm>
          <a:prstGeom prst="roundRect">
            <a:avLst>
              <a:gd name="adj" fmla="val 7939"/>
            </a:avLst>
          </a:prstGeom>
          <a:solidFill>
            <a:srgbClr val="F5F7FA"/>
          </a:solidFill>
          <a:ln/>
        </p:spPr>
        <p:txBody>
          <a:bodyPr wrap="square" rtlCol="0" anchor="ctr"/>
          <a:lstStyle/>
          <a:p>
            <a:pPr indent="0" marL="0">
              <a:buNone/>
            </a:pPr>
            <a:endParaRPr lang="en-US" dirty="0"/>
          </a:p>
        </p:txBody>
      </p:sp>
      <p:sp>
        <p:nvSpPr>
          <p:cNvPr id="26" name="Shape 24"/>
          <p:cNvSpPr/>
          <p:nvPr/>
        </p:nvSpPr>
        <p:spPr>
          <a:xfrm>
            <a:off x="4662488" y="3455491"/>
            <a:ext cx="0" cy="719882"/>
          </a:xfrm>
          <a:prstGeom prst="line">
            <a:avLst/>
          </a:prstGeom>
          <a:noFill/>
          <a:ln w="28575">
            <a:solidFill>
              <a:srgbClr val="01A9DB"/>
            </a:solidFill>
            <a:prstDash val="solid"/>
          </a:ln>
        </p:spPr>
      </p:sp>
      <p:sp>
        <p:nvSpPr>
          <p:cNvPr id="27" name="Text 25"/>
          <p:cNvSpPr/>
          <p:nvPr/>
        </p:nvSpPr>
        <p:spPr>
          <a:xfrm>
            <a:off x="4791075" y="3569791"/>
            <a:ext cx="1758506"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07253D"/>
                </a:solidFill>
                <a:latin typeface="Arial" pitchFamily="34" charset="0"/>
                <a:ea typeface="Arial" pitchFamily="34" charset="-122"/>
                <a:cs typeface="Arial" pitchFamily="34" charset="-120"/>
              </a:rPr>
              <a:t>AI-Native</a:t>
            </a:r>
            <a:endParaRPr lang="en-US" sz="900" dirty="0"/>
          </a:p>
        </p:txBody>
      </p:sp>
      <p:sp>
        <p:nvSpPr>
          <p:cNvPr id="28" name="Text 26"/>
          <p:cNvSpPr/>
          <p:nvPr/>
        </p:nvSpPr>
        <p:spPr>
          <a:xfrm>
            <a:off x="4791075" y="3767882"/>
            <a:ext cx="1758506" cy="293191"/>
          </a:xfrm>
          <a:prstGeom prst="rect">
            <a:avLst/>
          </a:prstGeom>
          <a:noFill/>
          <a:ln/>
        </p:spPr>
        <p:txBody>
          <a:bodyPr wrap="square" lIns="0" tIns="0" rIns="0" bIns="0" rtlCol="0" anchor="t"/>
          <a:lstStyle/>
          <a:p>
            <a:pPr algn="l" indent="0" marL="0">
              <a:lnSpc>
                <a:spcPts val="1155"/>
              </a:lnSpc>
              <a:buNone/>
            </a:pPr>
            <a:r>
              <a:rPr lang="en-US" sz="825" dirty="0">
                <a:solidFill>
                  <a:srgbClr val="44546A"/>
                </a:solidFill>
                <a:latin typeface="Arial" pitchFamily="34" charset="0"/>
                <a:ea typeface="Arial" pitchFamily="34" charset="-122"/>
                <a:cs typeface="Arial" pitchFamily="34" charset="-120"/>
              </a:rPr>
              <a:t>Continuously learns and improves from usage patterns and outcomes</a:t>
            </a:r>
            <a:endParaRPr lang="en-US" sz="825" dirty="0"/>
          </a:p>
        </p:txBody>
      </p:sp>
      <p:sp>
        <p:nvSpPr>
          <p:cNvPr id="29" name="Text 27"/>
          <p:cNvSpPr/>
          <p:nvPr/>
        </p:nvSpPr>
        <p:spPr>
          <a:xfrm>
            <a:off x="6781800" y="3455491"/>
            <a:ext cx="1981200" cy="719882"/>
          </a:xfrm>
          <a:prstGeom prst="roundRect">
            <a:avLst>
              <a:gd name="adj" fmla="val 7939"/>
            </a:avLst>
          </a:prstGeom>
          <a:solidFill>
            <a:srgbClr val="F5F7FA"/>
          </a:solidFill>
          <a:ln/>
        </p:spPr>
        <p:txBody>
          <a:bodyPr wrap="square" rtlCol="0" anchor="ctr"/>
          <a:lstStyle/>
          <a:p>
            <a:pPr indent="0" marL="0">
              <a:buNone/>
            </a:pPr>
            <a:endParaRPr lang="en-US" dirty="0"/>
          </a:p>
        </p:txBody>
      </p:sp>
      <p:sp>
        <p:nvSpPr>
          <p:cNvPr id="30" name="Shape 28"/>
          <p:cNvSpPr/>
          <p:nvPr/>
        </p:nvSpPr>
        <p:spPr>
          <a:xfrm>
            <a:off x="6796088" y="3455491"/>
            <a:ext cx="0" cy="719882"/>
          </a:xfrm>
          <a:prstGeom prst="line">
            <a:avLst/>
          </a:prstGeom>
          <a:noFill/>
          <a:ln w="28575">
            <a:solidFill>
              <a:srgbClr val="01A9DB"/>
            </a:solidFill>
            <a:prstDash val="solid"/>
          </a:ln>
        </p:spPr>
      </p:sp>
      <p:sp>
        <p:nvSpPr>
          <p:cNvPr id="31" name="Text 29"/>
          <p:cNvSpPr/>
          <p:nvPr/>
        </p:nvSpPr>
        <p:spPr>
          <a:xfrm>
            <a:off x="6924675" y="3569791"/>
            <a:ext cx="1758506"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07253D"/>
                </a:solidFill>
                <a:latin typeface="Arial" pitchFamily="34" charset="0"/>
                <a:ea typeface="Arial" pitchFamily="34" charset="-122"/>
                <a:cs typeface="Arial" pitchFamily="34" charset="-120"/>
              </a:rPr>
              <a:t>Platform Independent</a:t>
            </a:r>
            <a:endParaRPr lang="en-US" sz="900" dirty="0"/>
          </a:p>
        </p:txBody>
      </p:sp>
      <p:sp>
        <p:nvSpPr>
          <p:cNvPr id="32" name="Text 30"/>
          <p:cNvSpPr/>
          <p:nvPr/>
        </p:nvSpPr>
        <p:spPr>
          <a:xfrm>
            <a:off x="6924675" y="3767882"/>
            <a:ext cx="1758506" cy="293191"/>
          </a:xfrm>
          <a:prstGeom prst="rect">
            <a:avLst/>
          </a:prstGeom>
          <a:noFill/>
          <a:ln/>
        </p:spPr>
        <p:txBody>
          <a:bodyPr wrap="square" lIns="0" tIns="0" rIns="0" bIns="0" rtlCol="0" anchor="t"/>
          <a:lstStyle/>
          <a:p>
            <a:pPr algn="l" indent="0" marL="0">
              <a:lnSpc>
                <a:spcPts val="1155"/>
              </a:lnSpc>
              <a:buNone/>
            </a:pPr>
            <a:r>
              <a:rPr lang="en-US" sz="825" dirty="0">
                <a:solidFill>
                  <a:srgbClr val="44546A"/>
                </a:solidFill>
                <a:latin typeface="Arial" pitchFamily="34" charset="0"/>
                <a:ea typeface="Arial" pitchFamily="34" charset="-122"/>
                <a:cs typeface="Arial" pitchFamily="34" charset="-120"/>
              </a:rPr>
              <a:t>Works across Salesforce, Zendesk, and any CS system</a:t>
            </a:r>
            <a:endParaRPr lang="en-US" sz="825" dirty="0"/>
          </a:p>
        </p:txBody>
      </p:sp>
      <p:sp>
        <p:nvSpPr>
          <p:cNvPr id="33" name="Text 31"/>
          <p:cNvSpPr/>
          <p:nvPr/>
        </p:nvSpPr>
        <p:spPr>
          <a:xfrm>
            <a:off x="8786217" y="4743450"/>
            <a:ext cx="54042"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5168646" cy="304800"/>
          </a:xfrm>
          <a:prstGeom prst="rect">
            <a:avLst/>
          </a:prstGeom>
          <a:noFill/>
          <a:ln/>
        </p:spPr>
        <p:txBody>
          <a:bodyPr wrap="square" lIns="0" tIns="0" rIns="0" bIns="0" rtlCol="0" anchor="t"/>
          <a:lstStyle/>
          <a:p>
            <a:pPr algn="l" indent="0" marL="0">
              <a:lnSpc>
                <a:spcPts val="2400"/>
              </a:lnSpc>
              <a:spcAft>
                <a:spcPts val="300"/>
              </a:spcAft>
              <a:buNone/>
            </a:pPr>
            <a:r>
              <a:rPr lang="en-US" sz="2400" b="1" dirty="0">
                <a:solidFill>
                  <a:srgbClr val="07253D"/>
                </a:solidFill>
                <a:latin typeface="Arial" pitchFamily="34" charset="0"/>
                <a:ea typeface="Arial" pitchFamily="34" charset="-122"/>
                <a:cs typeface="Arial" pitchFamily="34" charset="-120"/>
              </a:rPr>
              <a:t>Four-Module Monetization Journey</a:t>
            </a:r>
            <a:endParaRPr lang="en-US" sz="2400" dirty="0"/>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indent="0" marL="0">
              <a:buNone/>
            </a:pPr>
            <a:endParaRPr lang="en-US" dirty="0"/>
          </a:p>
        </p:txBody>
      </p:sp>
      <p:sp>
        <p:nvSpPr>
          <p:cNvPr id="6" name="Text 4"/>
          <p:cNvSpPr/>
          <p:nvPr/>
        </p:nvSpPr>
        <p:spPr>
          <a:xfrm>
            <a:off x="381000" y="4551164"/>
            <a:ext cx="8382000" cy="401836"/>
          </a:xfrm>
          <a:prstGeom prst="roundRect">
            <a:avLst>
              <a:gd name="adj" fmla="val 14222"/>
            </a:avLst>
          </a:prstGeom>
          <a:solidFill>
            <a:srgbClr val="07253D"/>
          </a:solidFill>
          <a:ln/>
        </p:spPr>
        <p:txBody>
          <a:bodyPr wrap="square" rtlCol="0" anchor="ctr"/>
          <a:lstStyle/>
          <a:p>
            <a:pPr indent="0" marL="0">
              <a:buNone/>
            </a:pPr>
            <a:endParaRPr lang="en-US" dirty="0"/>
          </a:p>
        </p:txBody>
      </p:sp>
      <p:sp>
        <p:nvSpPr>
          <p:cNvPr id="7" name="Text 5"/>
          <p:cNvSpPr/>
          <p:nvPr/>
        </p:nvSpPr>
        <p:spPr>
          <a:xfrm>
            <a:off x="491490" y="4665464"/>
            <a:ext cx="8161020" cy="173236"/>
          </a:xfrm>
          <a:prstGeom prst="rect">
            <a:avLst/>
          </a:prstGeom>
          <a:noFill/>
          <a:ln/>
        </p:spPr>
        <p:txBody>
          <a:bodyPr wrap="square" lIns="0" tIns="0" rIns="0" bIns="0" rtlCol="0" anchor="t"/>
          <a:lstStyle/>
          <a:p>
            <a:pPr algn="ctr" indent="0" marL="0">
              <a:lnSpc>
                <a:spcPts val="1365"/>
              </a:lnSpc>
              <a:buNone/>
            </a:pPr>
            <a:r>
              <a:rPr lang="en-US" sz="975" b="1" dirty="0">
                <a:solidFill>
                  <a:srgbClr val="01A9DB"/>
                </a:solidFill>
                <a:latin typeface="Arial" pitchFamily="34" charset="0"/>
                <a:ea typeface="Arial" pitchFamily="34" charset="-122"/>
                <a:cs typeface="Arial" pitchFamily="34" charset="-120"/>
              </a:rPr>
              <a:t>Result:</a:t>
            </a:r>
            <a:pPr algn="ctr" indent="0" marL="0">
              <a:lnSpc>
                <a:spcPts val="1365"/>
              </a:lnSpc>
              <a:buNone/>
            </a:pPr>
            <a:r>
              <a:rPr lang="en-US" sz="975" dirty="0">
                <a:solidFill>
                  <a:srgbClr val="FFFFFF"/>
                </a:solidFill>
                <a:latin typeface="Arial" pitchFamily="34" charset="0"/>
                <a:ea typeface="Arial" pitchFamily="34" charset="-122"/>
                <a:cs typeface="Arial" pitchFamily="34" charset="-120"/>
              </a:rPr>
              <a:t> 2% freemium conversion → 50K+ free users → </a:t>
            </a:r>
            <a:pPr algn="ctr" indent="0" marL="0">
              <a:lnSpc>
                <a:spcPts val="1365"/>
              </a:lnSpc>
              <a:buNone/>
            </a:pPr>
            <a:r>
              <a:rPr lang="en-US" sz="975" b="1" dirty="0">
                <a:solidFill>
                  <a:srgbClr val="01A9DB"/>
                </a:solidFill>
                <a:latin typeface="Arial" pitchFamily="34" charset="0"/>
                <a:ea typeface="Arial" pitchFamily="34" charset="-122"/>
                <a:cs typeface="Arial" pitchFamily="34" charset="-120"/>
              </a:rPr>
              <a:t>$1-2M Y1 ARR</a:t>
            </a:r>
            <a:endParaRPr lang="en-US" sz="975" dirty="0"/>
          </a:p>
        </p:txBody>
      </p:sp>
      <p:sp>
        <p:nvSpPr>
          <p:cNvPr id="8" name="Text 6"/>
          <p:cNvSpPr/>
          <p:nvPr/>
        </p:nvSpPr>
        <p:spPr>
          <a:xfrm>
            <a:off x="8786217" y="4743450"/>
            <a:ext cx="54042"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6</a:t>
            </a:r>
            <a:endParaRPr lang="en-US" sz="7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81000" y="914400"/>
          <a:ext cx="8382000" cy="3370064"/>
        </p:xfrm>
        <a:graphic>
          <a:graphicData uri="http://schemas.openxmlformats.org/drawingml/2006/table">
            <a:tbl>
              <a:tblPr/>
              <a:tblGrid>
                <a:gridCol w="1645920"/>
                <a:gridCol w="2926080"/>
                <a:gridCol w="1645920"/>
                <a:gridCol w="2011680"/>
              </a:tblGrid>
              <a:tr h="411480">
                <a:tc>
                  <a:txBody>
                    <a:bodyPr/>
                    <a:lstStyle/>
                    <a:p>
                      <a:pPr algn="l" indent="0" marL="0">
                        <a:buNone/>
                      </a:pPr>
                      <a:r>
                        <a:rPr lang="en-US" sz="1100" b="1" dirty="0">
                          <a:solidFill>
                            <a:srgbClr val="FFFFFF"/>
                          </a:solidFill>
                        </a:rPr>
                        <a:t>Module</a:t>
                      </a:r>
                      <a:endParaRPr lang="en-US" sz="11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algn="l" indent="0" marL="0">
                        <a:buNone/>
                      </a:pPr>
                      <a:r>
                        <a:rPr lang="en-US" sz="1100" b="1" dirty="0">
                          <a:solidFill>
                            <a:srgbClr val="FFFFFF"/>
                          </a:solidFill>
                        </a:rPr>
                        <a:t>Purpose</a:t>
                      </a:r>
                      <a:endParaRPr lang="en-US" sz="11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algn="l" indent="0" marL="0">
                        <a:buNone/>
                      </a:pPr>
                      <a:r>
                        <a:rPr lang="en-US" sz="1100" b="1" dirty="0">
                          <a:solidFill>
                            <a:srgbClr val="FFFFFF"/>
                          </a:solidFill>
                        </a:rPr>
                        <a:t>Price</a:t>
                      </a:r>
                      <a:endParaRPr lang="en-US" sz="11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algn="l" indent="0" marL="0">
                        <a:buNone/>
                      </a:pPr>
                      <a:r>
                        <a:rPr lang="en-US" sz="1100" b="1" dirty="0">
                          <a:solidFill>
                            <a:srgbClr val="FFFFFF"/>
                          </a:solidFill>
                        </a:rPr>
                        <a:t>Users</a:t>
                      </a:r>
                      <a:endParaRPr lang="en-US" sz="11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r>
              <a:tr h="457200">
                <a:tc>
                  <a:txBody>
                    <a:bodyPr/>
                    <a:lstStyle/>
                    <a:p>
                      <a:pPr algn="l" indent="0" marL="0">
                        <a:buNone/>
                      </a:pPr>
                      <a:r>
                        <a:rPr lang="en-US" sz="1000" b="1" dirty="0">
                          <a:solidFill>
                            <a:srgbClr val="01A9DB"/>
                          </a:solidFill>
                        </a:rPr>
                        <a:t>Explore</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l" indent="0" marL="0">
                        <a:buNone/>
                      </a:pPr>
                      <a:r>
                        <a:rPr lang="en-US" sz="1000" dirty="0">
                          <a:solidFill>
                            <a:srgbClr val="44546A"/>
                          </a:solidFill>
                        </a:rPr>
                        <a:t>Build user base, education</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l" indent="0" marL="0">
                        <a:buNone/>
                      </a:pPr>
                      <a:r>
                        <a:rPr lang="en-US" sz="1000" b="1" dirty="0">
                          <a:solidFill>
                            <a:srgbClr val="07253D"/>
                          </a:solidFill>
                        </a:rPr>
                        <a:t>Free</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l" indent="0" marL="0">
                        <a:buNone/>
                      </a:pPr>
                      <a:r>
                        <a:rPr lang="en-US" sz="1000" dirty="0">
                          <a:solidFill>
                            <a:srgbClr val="44546A"/>
                          </a:solidFill>
                        </a:rPr>
                        <a:t>Individual Contributors</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r>
              <a:tr h="457200">
                <a:tc>
                  <a:txBody>
                    <a:bodyPr/>
                    <a:lstStyle/>
                    <a:p>
                      <a:pPr algn="l" indent="0" marL="0">
                        <a:buNone/>
                      </a:pPr>
                      <a:r>
                        <a:rPr lang="en-US" sz="1000" b="1" dirty="0">
                          <a:solidFill>
                            <a:srgbClr val="01A9DB"/>
                          </a:solidFill>
                        </a:rPr>
                        <a:t>Mine</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l" indent="0" marL="0">
                        <a:buNone/>
                      </a:pPr>
                      <a:r>
                        <a:rPr lang="en-US" sz="1000" dirty="0">
                          <a:solidFill>
                            <a:srgbClr val="44546A"/>
                          </a:solidFill>
                        </a:rPr>
                        <a:t>Baseline understanding, quick wins</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l" indent="0" marL="0">
                        <a:buNone/>
                      </a:pPr>
                      <a:r>
                        <a:rPr lang="en-US" sz="1000" b="1" dirty="0">
                          <a:solidFill>
                            <a:srgbClr val="07253D"/>
                          </a:solidFill>
                        </a:rPr>
                        <a:t>$10K-$50K</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l" indent="0" marL="0">
                        <a:buNone/>
                      </a:pPr>
                      <a:r>
                        <a:rPr lang="en-US" sz="1000" dirty="0">
                          <a:solidFill>
                            <a:srgbClr val="44546A"/>
                          </a:solidFill>
                        </a:rPr>
                        <a:t>Directors, VPs</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r>
              <a:tr h="457200">
                <a:tc>
                  <a:txBody>
                    <a:bodyPr/>
                    <a:lstStyle/>
                    <a:p>
                      <a:pPr algn="l" indent="0" marL="0">
                        <a:buNone/>
                      </a:pPr>
                      <a:r>
                        <a:rPr lang="en-US" sz="1000" b="1" dirty="0">
                          <a:solidFill>
                            <a:srgbClr val="01A9DB"/>
                          </a:solidFill>
                        </a:rPr>
                        <a:t>Design</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l" indent="0" marL="0">
                        <a:buNone/>
                      </a:pPr>
                      <a:r>
                        <a:rPr lang="en-US" sz="1000" dirty="0">
                          <a:solidFill>
                            <a:srgbClr val="44546A"/>
                          </a:solidFill>
                        </a:rPr>
                        <a:t>AI-readiness plan, roadmap</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l" indent="0" marL="0">
                        <a:buNone/>
                      </a:pPr>
                      <a:r>
                        <a:rPr lang="en-US" sz="1000" b="1" dirty="0">
                          <a:solidFill>
                            <a:srgbClr val="07253D"/>
                          </a:solidFill>
                        </a:rPr>
                        <a:t>$25K-$100K</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l" indent="0" marL="0">
                        <a:buNone/>
                      </a:pPr>
                      <a:r>
                        <a:rPr lang="en-US" sz="1000" dirty="0">
                          <a:solidFill>
                            <a:srgbClr val="44546A"/>
                          </a:solidFill>
                        </a:rPr>
                        <a:t>VPs, C-Suite</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r>
              <a:tr h="457200">
                <a:tc>
                  <a:txBody>
                    <a:bodyPr/>
                    <a:lstStyle/>
                    <a:p>
                      <a:pPr algn="l" indent="0" marL="0">
                        <a:buNone/>
                      </a:pPr>
                      <a:r>
                        <a:rPr lang="en-US" sz="1000" b="1" dirty="0">
                          <a:solidFill>
                            <a:srgbClr val="01A9DB"/>
                          </a:solidFill>
                        </a:rPr>
                        <a:t>Manage</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l" indent="0" marL="0">
                        <a:buNone/>
                      </a:pPr>
                      <a:r>
                        <a:rPr lang="en-US" sz="1000" dirty="0">
                          <a:solidFill>
                            <a:srgbClr val="44546A"/>
                          </a:solidFill>
                        </a:rPr>
                        <a:t>Continuous improvement, governance</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l" indent="0" marL="0">
                        <a:buNone/>
                      </a:pPr>
                      <a:r>
                        <a:rPr lang="en-US" sz="1000" b="1" dirty="0">
                          <a:solidFill>
                            <a:srgbClr val="07253D"/>
                          </a:solidFill>
                        </a:rPr>
                        <a:t>$500-$50K/mo</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l" indent="0" marL="0">
                        <a:buNone/>
                      </a:pPr>
                      <a:r>
                        <a:rPr lang="en-US" sz="1000" dirty="0">
                          <a:solidFill>
                            <a:srgbClr val="44546A"/>
                          </a:solidFill>
                        </a:rPr>
                        <a:t>C-Suite, Operations</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1A9DB"/>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4284536" cy="304800"/>
          </a:xfrm>
          <a:prstGeom prst="rect">
            <a:avLst/>
          </a:prstGeom>
          <a:noFill/>
          <a:ln/>
        </p:spPr>
        <p:txBody>
          <a:bodyPr wrap="square" lIns="0" tIns="0" rIns="0" bIns="0" rtlCol="0" anchor="t"/>
          <a:lstStyle/>
          <a:p>
            <a:pPr algn="l" indent="0" marL="0">
              <a:lnSpc>
                <a:spcPts val="2400"/>
              </a:lnSpc>
              <a:spcAft>
                <a:spcPts val="300"/>
              </a:spcAft>
              <a:buNone/>
            </a:pPr>
            <a:r>
              <a:rPr lang="en-US" sz="2400" b="1" dirty="0">
                <a:solidFill>
                  <a:srgbClr val="07253D"/>
                </a:solidFill>
                <a:latin typeface="Arial" pitchFamily="34" charset="0"/>
                <a:ea typeface="Arial" pitchFamily="34" charset="-122"/>
                <a:cs typeface="Arial" pitchFamily="34" charset="-120"/>
              </a:rPr>
              <a:t>The Unfair Advantage</a:t>
            </a:r>
            <a:endParaRPr lang="en-US" sz="2400" dirty="0"/>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indent="0" marL="0">
              <a:buNone/>
            </a:pPr>
            <a:endParaRPr lang="en-US" dirty="0"/>
          </a:p>
        </p:txBody>
      </p:sp>
      <p:sp>
        <p:nvSpPr>
          <p:cNvPr id="6" name="Text 4"/>
          <p:cNvSpPr/>
          <p:nvPr/>
        </p:nvSpPr>
        <p:spPr>
          <a:xfrm>
            <a:off x="381000" y="1788170"/>
            <a:ext cx="4574027" cy="173236"/>
          </a:xfrm>
          <a:prstGeom prst="rect">
            <a:avLst/>
          </a:prstGeom>
          <a:noFill/>
          <a:ln/>
        </p:spPr>
        <p:txBody>
          <a:bodyPr wrap="square" lIns="0" tIns="0" rIns="0" bIns="0" rtlCol="0" anchor="t"/>
          <a:lstStyle/>
          <a:p>
            <a:pPr algn="l" indent="0" marL="0">
              <a:lnSpc>
                <a:spcPts val="1365"/>
              </a:lnSpc>
              <a:spcAft>
                <a:spcPts val="750"/>
              </a:spcAft>
              <a:buNone/>
            </a:pPr>
            <a:r>
              <a:rPr lang="en-US" sz="975" b="1" dirty="0">
                <a:solidFill>
                  <a:srgbClr val="01A9DB"/>
                </a:solidFill>
                <a:latin typeface="Arial" pitchFamily="34" charset="0"/>
                <a:ea typeface="Arial" pitchFamily="34" charset="-122"/>
                <a:cs typeface="Arial" pitchFamily="34" charset="-120"/>
              </a:rPr>
              <a:t>Four Interconnected Advantages</a:t>
            </a:r>
            <a:endParaRPr lang="en-US" sz="975" dirty="0"/>
          </a:p>
        </p:txBody>
      </p:sp>
      <p:sp>
        <p:nvSpPr>
          <p:cNvPr id="7" name="Text 5"/>
          <p:cNvSpPr/>
          <p:nvPr/>
        </p:nvSpPr>
        <p:spPr>
          <a:xfrm>
            <a:off x="381000" y="2209056"/>
            <a:ext cx="4484340" cy="483691"/>
          </a:xfrm>
          <a:prstGeom prst="roundRect">
            <a:avLst>
              <a:gd name="adj" fmla="val 7877"/>
            </a:avLst>
          </a:prstGeom>
          <a:solidFill>
            <a:srgbClr val="F5F7FA"/>
          </a:solidFill>
          <a:ln/>
        </p:spPr>
        <p:txBody>
          <a:bodyPr wrap="square" rtlCol="0" anchor="ctr"/>
          <a:lstStyle/>
          <a:p>
            <a:pPr indent="0" marL="0">
              <a:buNone/>
            </a:pPr>
            <a:endParaRPr lang="en-US" dirty="0"/>
          </a:p>
        </p:txBody>
      </p:sp>
      <p:sp>
        <p:nvSpPr>
          <p:cNvPr id="8" name="Shape 6"/>
          <p:cNvSpPr/>
          <p:nvPr/>
        </p:nvSpPr>
        <p:spPr>
          <a:xfrm>
            <a:off x="395288" y="2209056"/>
            <a:ext cx="0" cy="483691"/>
          </a:xfrm>
          <a:prstGeom prst="line">
            <a:avLst/>
          </a:prstGeom>
          <a:noFill/>
          <a:ln w="28575">
            <a:solidFill>
              <a:srgbClr val="01A9DB"/>
            </a:solidFill>
            <a:prstDash val="solid"/>
          </a:ln>
        </p:spPr>
      </p:sp>
      <p:sp>
        <p:nvSpPr>
          <p:cNvPr id="9" name="Text 7"/>
          <p:cNvSpPr/>
          <p:nvPr/>
        </p:nvSpPr>
        <p:spPr>
          <a:xfrm>
            <a:off x="523875" y="2304306"/>
            <a:ext cx="4311709" cy="293191"/>
          </a:xfrm>
          <a:prstGeom prst="rect">
            <a:avLst/>
          </a:prstGeom>
          <a:noFill/>
          <a:ln/>
        </p:spPr>
        <p:txBody>
          <a:bodyPr wrap="square" lIns="0" tIns="0" rIns="0" bIns="0" rtlCol="0" anchor="t"/>
          <a:lstStyle/>
          <a:p>
            <a:pPr algn="l" indent="0" marL="0">
              <a:lnSpc>
                <a:spcPts val="1155"/>
              </a:lnSpc>
              <a:buNone/>
            </a:pPr>
            <a:r>
              <a:rPr lang="en-US" sz="825" b="1" dirty="0">
                <a:solidFill>
                  <a:srgbClr val="01A9DB"/>
                </a:solidFill>
                <a:latin typeface="Arial" pitchFamily="34" charset="0"/>
                <a:ea typeface="Arial" pitchFamily="34" charset="-122"/>
                <a:cs typeface="Arial" pitchFamily="34" charset="-120"/>
              </a:rPr>
              <a:t>1. AI-Native Architecture:</a:t>
            </a:r>
            <a:pPr algn="l" indent="0" marL="0">
              <a:lnSpc>
                <a:spcPts val="1155"/>
              </a:lnSpc>
              <a:buNone/>
            </a:pPr>
            <a:r>
              <a:rPr lang="en-US" sz="825" dirty="0">
                <a:solidFill>
                  <a:srgbClr val="07253D"/>
                </a:solidFill>
                <a:latin typeface="Arial" pitchFamily="34" charset="0"/>
                <a:ea typeface="Arial" pitchFamily="34" charset="-122"/>
                <a:cs typeface="Arial" pitchFamily="34" charset="-120"/>
              </a:rPr>
              <a:t> Every component AI-driven = simplified deployment + experiences competitors can't match</a:t>
            </a:r>
            <a:endParaRPr lang="en-US" sz="825" dirty="0"/>
          </a:p>
        </p:txBody>
      </p:sp>
      <p:sp>
        <p:nvSpPr>
          <p:cNvPr id="10" name="Text 8"/>
          <p:cNvSpPr/>
          <p:nvPr/>
        </p:nvSpPr>
        <p:spPr>
          <a:xfrm>
            <a:off x="381000" y="2768947"/>
            <a:ext cx="4484340" cy="483691"/>
          </a:xfrm>
          <a:prstGeom prst="roundRect">
            <a:avLst>
              <a:gd name="adj" fmla="val 7877"/>
            </a:avLst>
          </a:prstGeom>
          <a:solidFill>
            <a:srgbClr val="F5F7FA"/>
          </a:solidFill>
          <a:ln/>
        </p:spPr>
        <p:txBody>
          <a:bodyPr wrap="square" rtlCol="0" anchor="ctr"/>
          <a:lstStyle/>
          <a:p>
            <a:pPr indent="0" marL="0">
              <a:buNone/>
            </a:pPr>
            <a:endParaRPr lang="en-US" dirty="0"/>
          </a:p>
        </p:txBody>
      </p:sp>
      <p:sp>
        <p:nvSpPr>
          <p:cNvPr id="11" name="Shape 9"/>
          <p:cNvSpPr/>
          <p:nvPr/>
        </p:nvSpPr>
        <p:spPr>
          <a:xfrm>
            <a:off x="395288" y="2768947"/>
            <a:ext cx="0" cy="483691"/>
          </a:xfrm>
          <a:prstGeom prst="line">
            <a:avLst/>
          </a:prstGeom>
          <a:noFill/>
          <a:ln w="28575">
            <a:solidFill>
              <a:srgbClr val="01A9DB"/>
            </a:solidFill>
            <a:prstDash val="solid"/>
          </a:ln>
        </p:spPr>
      </p:sp>
      <p:sp>
        <p:nvSpPr>
          <p:cNvPr id="12" name="Text 10"/>
          <p:cNvSpPr/>
          <p:nvPr/>
        </p:nvSpPr>
        <p:spPr>
          <a:xfrm>
            <a:off x="523875" y="2864197"/>
            <a:ext cx="4311709" cy="293191"/>
          </a:xfrm>
          <a:prstGeom prst="rect">
            <a:avLst/>
          </a:prstGeom>
          <a:noFill/>
          <a:ln/>
        </p:spPr>
        <p:txBody>
          <a:bodyPr wrap="square" lIns="0" tIns="0" rIns="0" bIns="0" rtlCol="0" anchor="t"/>
          <a:lstStyle/>
          <a:p>
            <a:pPr algn="l" indent="0" marL="0">
              <a:lnSpc>
                <a:spcPts val="1155"/>
              </a:lnSpc>
              <a:buNone/>
            </a:pPr>
            <a:r>
              <a:rPr lang="en-US" sz="825" b="1" dirty="0">
                <a:solidFill>
                  <a:srgbClr val="01A9DB"/>
                </a:solidFill>
                <a:latin typeface="Arial" pitchFamily="34" charset="0"/>
                <a:ea typeface="Arial" pitchFamily="34" charset="-122"/>
                <a:cs typeface="Arial" pitchFamily="34" charset="-120"/>
              </a:rPr>
              <a:t>2. Platform Independence:</a:t>
            </a:r>
            <a:pPr algn="l" indent="0" marL="0">
              <a:lnSpc>
                <a:spcPts val="1155"/>
              </a:lnSpc>
              <a:buNone/>
            </a:pPr>
            <a:r>
              <a:rPr lang="en-US" sz="825" dirty="0">
                <a:solidFill>
                  <a:srgbClr val="07253D"/>
                </a:solidFill>
                <a:latin typeface="Arial" pitchFamily="34" charset="0"/>
                <a:ea typeface="Arial" pitchFamily="34" charset="-122"/>
                <a:cs typeface="Arial" pitchFamily="34" charset="-120"/>
              </a:rPr>
              <a:t> Multi-platform aware, vendor-neutral position (customers maintain optionality)</a:t>
            </a:r>
            <a:endParaRPr lang="en-US" sz="825" dirty="0"/>
          </a:p>
        </p:txBody>
      </p:sp>
      <p:sp>
        <p:nvSpPr>
          <p:cNvPr id="13" name="Text 11"/>
          <p:cNvSpPr/>
          <p:nvPr/>
        </p:nvSpPr>
        <p:spPr>
          <a:xfrm>
            <a:off x="381000" y="3328839"/>
            <a:ext cx="4484340" cy="337096"/>
          </a:xfrm>
          <a:prstGeom prst="roundRect">
            <a:avLst>
              <a:gd name="adj" fmla="val 11302"/>
            </a:avLst>
          </a:prstGeom>
          <a:solidFill>
            <a:srgbClr val="F5F7FA"/>
          </a:solidFill>
          <a:ln/>
        </p:spPr>
        <p:txBody>
          <a:bodyPr wrap="square" rtlCol="0" anchor="ctr"/>
          <a:lstStyle/>
          <a:p>
            <a:pPr indent="0" marL="0">
              <a:buNone/>
            </a:pPr>
            <a:endParaRPr lang="en-US" dirty="0"/>
          </a:p>
        </p:txBody>
      </p:sp>
      <p:sp>
        <p:nvSpPr>
          <p:cNvPr id="14" name="Shape 12"/>
          <p:cNvSpPr/>
          <p:nvPr/>
        </p:nvSpPr>
        <p:spPr>
          <a:xfrm>
            <a:off x="395288" y="3328839"/>
            <a:ext cx="0" cy="337096"/>
          </a:xfrm>
          <a:prstGeom prst="line">
            <a:avLst/>
          </a:prstGeom>
          <a:noFill/>
          <a:ln w="28575">
            <a:solidFill>
              <a:srgbClr val="01A9DB"/>
            </a:solidFill>
            <a:prstDash val="solid"/>
          </a:ln>
        </p:spPr>
      </p:sp>
      <p:sp>
        <p:nvSpPr>
          <p:cNvPr id="15" name="Text 13"/>
          <p:cNvSpPr/>
          <p:nvPr/>
        </p:nvSpPr>
        <p:spPr>
          <a:xfrm>
            <a:off x="523875" y="3424089"/>
            <a:ext cx="4311709" cy="146596"/>
          </a:xfrm>
          <a:prstGeom prst="rect">
            <a:avLst/>
          </a:prstGeom>
          <a:noFill/>
          <a:ln/>
        </p:spPr>
        <p:txBody>
          <a:bodyPr wrap="square" lIns="0" tIns="0" rIns="0" bIns="0" rtlCol="0" anchor="t"/>
          <a:lstStyle/>
          <a:p>
            <a:pPr algn="l" indent="0" marL="0">
              <a:lnSpc>
                <a:spcPts val="1155"/>
              </a:lnSpc>
              <a:buNone/>
            </a:pPr>
            <a:r>
              <a:rPr lang="en-US" sz="825" b="1" dirty="0">
                <a:solidFill>
                  <a:srgbClr val="01A9DB"/>
                </a:solidFill>
                <a:latin typeface="Arial" pitchFamily="34" charset="0"/>
                <a:ea typeface="Arial" pitchFamily="34" charset="-122"/>
                <a:cs typeface="Arial" pitchFamily="34" charset="-120"/>
              </a:rPr>
              <a:t>3. Data Network Effects:</a:t>
            </a:r>
            <a:pPr algn="l" indent="0" marL="0">
              <a:lnSpc>
                <a:spcPts val="1155"/>
              </a:lnSpc>
              <a:buNone/>
            </a:pPr>
            <a:r>
              <a:rPr lang="en-US" sz="825" dirty="0">
                <a:solidFill>
                  <a:srgbClr val="07253D"/>
                </a:solidFill>
                <a:latin typeface="Arial" pitchFamily="34" charset="0"/>
                <a:ea typeface="Arial" pitchFamily="34" charset="-122"/>
                <a:cs typeface="Arial" pitchFamily="34" charset="-120"/>
              </a:rPr>
              <a:t> Fleet learning + peer benchmarks = true network effects moat</a:t>
            </a:r>
            <a:endParaRPr lang="en-US" sz="825" dirty="0"/>
          </a:p>
        </p:txBody>
      </p:sp>
      <p:sp>
        <p:nvSpPr>
          <p:cNvPr id="16" name="Text 14"/>
          <p:cNvSpPr/>
          <p:nvPr/>
        </p:nvSpPr>
        <p:spPr>
          <a:xfrm>
            <a:off x="381000" y="3742134"/>
            <a:ext cx="4484340" cy="337096"/>
          </a:xfrm>
          <a:prstGeom prst="roundRect">
            <a:avLst>
              <a:gd name="adj" fmla="val 11302"/>
            </a:avLst>
          </a:prstGeom>
          <a:solidFill>
            <a:srgbClr val="F5F7FA"/>
          </a:solidFill>
          <a:ln/>
        </p:spPr>
        <p:txBody>
          <a:bodyPr wrap="square" rtlCol="0" anchor="ctr"/>
          <a:lstStyle/>
          <a:p>
            <a:pPr indent="0" marL="0">
              <a:buNone/>
            </a:pPr>
            <a:endParaRPr lang="en-US" dirty="0"/>
          </a:p>
        </p:txBody>
      </p:sp>
      <p:sp>
        <p:nvSpPr>
          <p:cNvPr id="17" name="Shape 15"/>
          <p:cNvSpPr/>
          <p:nvPr/>
        </p:nvSpPr>
        <p:spPr>
          <a:xfrm>
            <a:off x="395288" y="3742134"/>
            <a:ext cx="0" cy="337096"/>
          </a:xfrm>
          <a:prstGeom prst="line">
            <a:avLst/>
          </a:prstGeom>
          <a:noFill/>
          <a:ln w="28575">
            <a:solidFill>
              <a:srgbClr val="01A9DB"/>
            </a:solidFill>
            <a:prstDash val="solid"/>
          </a:ln>
        </p:spPr>
      </p:sp>
      <p:sp>
        <p:nvSpPr>
          <p:cNvPr id="18" name="Text 16"/>
          <p:cNvSpPr/>
          <p:nvPr/>
        </p:nvSpPr>
        <p:spPr>
          <a:xfrm>
            <a:off x="523875" y="3837384"/>
            <a:ext cx="4311709" cy="146596"/>
          </a:xfrm>
          <a:prstGeom prst="rect">
            <a:avLst/>
          </a:prstGeom>
          <a:noFill/>
          <a:ln/>
        </p:spPr>
        <p:txBody>
          <a:bodyPr wrap="square" lIns="0" tIns="0" rIns="0" bIns="0" rtlCol="0" anchor="t"/>
          <a:lstStyle/>
          <a:p>
            <a:pPr algn="l" indent="0" marL="0">
              <a:lnSpc>
                <a:spcPts val="1155"/>
              </a:lnSpc>
              <a:buNone/>
            </a:pPr>
            <a:r>
              <a:rPr lang="en-US" sz="825" b="1" dirty="0">
                <a:solidFill>
                  <a:srgbClr val="01A9DB"/>
                </a:solidFill>
                <a:latin typeface="Arial" pitchFamily="34" charset="0"/>
                <a:ea typeface="Arial" pitchFamily="34" charset="-122"/>
                <a:cs typeface="Arial" pitchFamily="34" charset="-120"/>
              </a:rPr>
              <a:t>4. First-Mover Advantage:</a:t>
            </a:r>
            <a:pPr algn="l" indent="0" marL="0">
              <a:lnSpc>
                <a:spcPts val="1155"/>
              </a:lnSpc>
              <a:buNone/>
            </a:pPr>
            <a:r>
              <a:rPr lang="en-US" sz="825" dirty="0">
                <a:solidFill>
                  <a:srgbClr val="07253D"/>
                </a:solidFill>
                <a:latin typeface="Arial" pitchFamily="34" charset="0"/>
                <a:ea typeface="Arial" pitchFamily="34" charset="-122"/>
                <a:cs typeface="Arial" pitchFamily="34" charset="-120"/>
              </a:rPr>
              <a:t> Own "Executive Agent" category (12-18 month window)</a:t>
            </a:r>
            <a:endParaRPr lang="en-US" sz="825" dirty="0"/>
          </a:p>
        </p:txBody>
      </p:sp>
      <p:sp>
        <p:nvSpPr>
          <p:cNvPr id="19" name="Text 17"/>
          <p:cNvSpPr/>
          <p:nvPr/>
        </p:nvSpPr>
        <p:spPr>
          <a:xfrm>
            <a:off x="5093940" y="2152799"/>
            <a:ext cx="3669060" cy="1561654"/>
          </a:xfrm>
          <a:prstGeom prst="roundRect">
            <a:avLst>
              <a:gd name="adj" fmla="val 3660"/>
            </a:avLst>
          </a:prstGeom>
          <a:solidFill>
            <a:srgbClr val="07253D"/>
          </a:solidFill>
          <a:ln/>
        </p:spPr>
        <p:txBody>
          <a:bodyPr wrap="square" rtlCol="0" anchor="ctr"/>
          <a:lstStyle/>
          <a:p>
            <a:pPr indent="0" marL="0">
              <a:buNone/>
            </a:pPr>
            <a:endParaRPr lang="en-US" dirty="0"/>
          </a:p>
        </p:txBody>
      </p:sp>
      <p:sp>
        <p:nvSpPr>
          <p:cNvPr id="20" name="Text 18"/>
          <p:cNvSpPr/>
          <p:nvPr/>
        </p:nvSpPr>
        <p:spPr>
          <a:xfrm>
            <a:off x="5246340" y="2305199"/>
            <a:ext cx="3431545" cy="173236"/>
          </a:xfrm>
          <a:prstGeom prst="rect">
            <a:avLst/>
          </a:prstGeom>
          <a:noFill/>
          <a:ln/>
        </p:spPr>
        <p:txBody>
          <a:bodyPr wrap="square" lIns="0" tIns="0" rIns="0" bIns="0" rtlCol="0" anchor="t"/>
          <a:lstStyle/>
          <a:p>
            <a:pPr algn="l" indent="0" marL="0">
              <a:lnSpc>
                <a:spcPts val="1365"/>
              </a:lnSpc>
              <a:spcAft>
                <a:spcPts val="900"/>
              </a:spcAft>
              <a:buNone/>
            </a:pPr>
            <a:r>
              <a:rPr lang="en-US" sz="975" b="1" dirty="0">
                <a:solidFill>
                  <a:srgbClr val="FB4100"/>
                </a:solidFill>
                <a:latin typeface="Arial" pitchFamily="34" charset="0"/>
                <a:ea typeface="Arial" pitchFamily="34" charset="-122"/>
                <a:cs typeface="Arial" pitchFamily="34" charset="-120"/>
              </a:rPr>
              <a:t>Why Competitors Can't Match</a:t>
            </a:r>
            <a:endParaRPr lang="en-US" sz="975" dirty="0"/>
          </a:p>
        </p:txBody>
      </p:sp>
      <p:sp>
        <p:nvSpPr>
          <p:cNvPr id="21" name="Text 19"/>
          <p:cNvSpPr/>
          <p:nvPr/>
        </p:nvSpPr>
        <p:spPr>
          <a:xfrm>
            <a:off x="5246340" y="2592735"/>
            <a:ext cx="3431545"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01A9DB"/>
                </a:solidFill>
                <a:latin typeface="Arial" pitchFamily="34" charset="0"/>
                <a:ea typeface="Arial" pitchFamily="34" charset="-122"/>
                <a:cs typeface="Arial" pitchFamily="34" charset="-120"/>
              </a:rPr>
              <a:t>Legacy Vendors</a:t>
            </a:r>
            <a:endParaRPr lang="en-US" sz="900" dirty="0"/>
          </a:p>
        </p:txBody>
      </p:sp>
      <p:sp>
        <p:nvSpPr>
          <p:cNvPr id="22" name="Text 20"/>
          <p:cNvSpPr/>
          <p:nvPr/>
        </p:nvSpPr>
        <p:spPr>
          <a:xfrm>
            <a:off x="5246340" y="2790825"/>
            <a:ext cx="3431545" cy="293191"/>
          </a:xfrm>
          <a:prstGeom prst="rect">
            <a:avLst/>
          </a:prstGeom>
          <a:noFill/>
          <a:ln/>
        </p:spPr>
        <p:txBody>
          <a:bodyPr wrap="square" lIns="0" tIns="0" rIns="0" bIns="0" rtlCol="0" anchor="t"/>
          <a:lstStyle/>
          <a:p>
            <a:pPr algn="l" indent="0" marL="0">
              <a:lnSpc>
                <a:spcPts val="1155"/>
              </a:lnSpc>
              <a:buNone/>
            </a:pPr>
            <a:r>
              <a:rPr lang="en-US" sz="825" dirty="0">
                <a:solidFill>
                  <a:srgbClr val="FFFFFF"/>
                </a:solidFill>
                <a:latin typeface="Arial" pitchFamily="34" charset="0"/>
                <a:ea typeface="Arial" pitchFamily="34" charset="-122"/>
                <a:cs typeface="Arial" pitchFamily="34" charset="-120"/>
              </a:rPr>
              <a:t>Trapped in enterprise model, revenue locked in upfront analytics, no network effects</a:t>
            </a:r>
            <a:endParaRPr lang="en-US" sz="825" dirty="0"/>
          </a:p>
        </p:txBody>
      </p:sp>
      <p:sp>
        <p:nvSpPr>
          <p:cNvPr id="23" name="Text 21"/>
          <p:cNvSpPr/>
          <p:nvPr/>
        </p:nvSpPr>
        <p:spPr>
          <a:xfrm>
            <a:off x="5246340" y="3217366"/>
            <a:ext cx="3431545"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01A9DB"/>
                </a:solidFill>
                <a:latin typeface="Arial" pitchFamily="34" charset="0"/>
                <a:ea typeface="Arial" pitchFamily="34" charset="-122"/>
                <a:cs typeface="Arial" pitchFamily="34" charset="-120"/>
              </a:rPr>
              <a:t>Incumbents (Salesforce)</a:t>
            </a:r>
            <a:endParaRPr lang="en-US" sz="900" dirty="0"/>
          </a:p>
        </p:txBody>
      </p:sp>
      <p:sp>
        <p:nvSpPr>
          <p:cNvPr id="24" name="Text 22"/>
          <p:cNvSpPr/>
          <p:nvPr/>
        </p:nvSpPr>
        <p:spPr>
          <a:xfrm>
            <a:off x="5246340" y="3415457"/>
            <a:ext cx="3431545" cy="146596"/>
          </a:xfrm>
          <a:prstGeom prst="rect">
            <a:avLst/>
          </a:prstGeom>
          <a:noFill/>
          <a:ln/>
        </p:spPr>
        <p:txBody>
          <a:bodyPr wrap="square" lIns="0" tIns="0" rIns="0" bIns="0" rtlCol="0" anchor="t"/>
          <a:lstStyle/>
          <a:p>
            <a:pPr algn="l" indent="0" marL="0">
              <a:lnSpc>
                <a:spcPts val="1155"/>
              </a:lnSpc>
              <a:buNone/>
            </a:pPr>
            <a:r>
              <a:rPr lang="en-US" sz="825" dirty="0">
                <a:solidFill>
                  <a:srgbClr val="FFFFFF"/>
                </a:solidFill>
                <a:latin typeface="Arial" pitchFamily="34" charset="0"/>
                <a:ea typeface="Arial" pitchFamily="34" charset="-122"/>
                <a:cs typeface="Arial" pitchFamily="34" charset="-120"/>
              </a:rPr>
              <a:t>Platform bias, can't be trustworthy governance layer, lack specialization</a:t>
            </a:r>
            <a:endParaRPr lang="en-US" sz="825" dirty="0"/>
          </a:p>
        </p:txBody>
      </p:sp>
      <p:sp>
        <p:nvSpPr>
          <p:cNvPr id="25" name="Text 23"/>
          <p:cNvSpPr/>
          <p:nvPr/>
        </p:nvSpPr>
        <p:spPr>
          <a:xfrm>
            <a:off x="8786217" y="4743450"/>
            <a:ext cx="54042"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4284536" cy="304800"/>
          </a:xfrm>
          <a:prstGeom prst="rect">
            <a:avLst/>
          </a:prstGeom>
          <a:noFill/>
          <a:ln/>
        </p:spPr>
        <p:txBody>
          <a:bodyPr wrap="square" lIns="0" tIns="0" rIns="0" bIns="0" rtlCol="0" anchor="t"/>
          <a:lstStyle/>
          <a:p>
            <a:pPr algn="l" indent="0" marL="0">
              <a:lnSpc>
                <a:spcPts val="2400"/>
              </a:lnSpc>
              <a:spcAft>
                <a:spcPts val="300"/>
              </a:spcAft>
              <a:buNone/>
            </a:pPr>
            <a:r>
              <a:rPr lang="en-US" sz="2400" b="1" dirty="0">
                <a:solidFill>
                  <a:srgbClr val="07253D"/>
                </a:solidFill>
                <a:latin typeface="Arial" pitchFamily="34" charset="0"/>
                <a:ea typeface="Arial" pitchFamily="34" charset="-122"/>
                <a:cs typeface="Arial" pitchFamily="34" charset="-120"/>
              </a:rPr>
              <a:t>5-Year Financial Trajectory</a:t>
            </a:r>
            <a:endParaRPr lang="en-US" sz="2400" dirty="0"/>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indent="0" marL="0">
              <a:buNone/>
            </a:pPr>
            <a:endParaRPr lang="en-US" dirty="0"/>
          </a:p>
        </p:txBody>
      </p:sp>
      <p:sp>
        <p:nvSpPr>
          <p:cNvPr id="6" name="Text 4"/>
          <p:cNvSpPr/>
          <p:nvPr/>
        </p:nvSpPr>
        <p:spPr>
          <a:xfrm>
            <a:off x="381000" y="4532114"/>
            <a:ext cx="8382000" cy="420886"/>
          </a:xfrm>
          <a:prstGeom prst="roundRect">
            <a:avLst>
              <a:gd name="adj" fmla="val 13578"/>
            </a:avLst>
          </a:prstGeom>
          <a:solidFill>
            <a:srgbClr val="F0F9FC"/>
          </a:solidFill>
          <a:ln w="9525">
            <a:solidFill>
              <a:srgbClr val="01A9DB"/>
            </a:solidFill>
          </a:ln>
        </p:spPr>
        <p:txBody>
          <a:bodyPr wrap="square" rtlCol="0" anchor="ctr"/>
          <a:lstStyle/>
          <a:p>
            <a:pPr indent="0" marL="0">
              <a:buNone/>
            </a:pPr>
            <a:endParaRPr lang="en-US" dirty="0"/>
          </a:p>
        </p:txBody>
      </p:sp>
      <p:sp>
        <p:nvSpPr>
          <p:cNvPr id="7" name="Text 5"/>
          <p:cNvSpPr/>
          <p:nvPr/>
        </p:nvSpPr>
        <p:spPr>
          <a:xfrm>
            <a:off x="501206" y="4655939"/>
            <a:ext cx="8141589" cy="173236"/>
          </a:xfrm>
          <a:prstGeom prst="rect">
            <a:avLst/>
          </a:prstGeom>
          <a:noFill/>
          <a:ln/>
        </p:spPr>
        <p:txBody>
          <a:bodyPr wrap="square" lIns="0" tIns="0" rIns="0" bIns="0" rtlCol="0" anchor="t"/>
          <a:lstStyle/>
          <a:p>
            <a:pPr algn="ctr" indent="0" marL="0">
              <a:lnSpc>
                <a:spcPts val="1365"/>
              </a:lnSpc>
              <a:buNone/>
            </a:pPr>
            <a:r>
              <a:rPr lang="en-US" sz="975" b="1" dirty="0">
                <a:solidFill>
                  <a:srgbClr val="01A9DB"/>
                </a:solidFill>
                <a:latin typeface="Arial" pitchFamily="34" charset="0"/>
                <a:ea typeface="Arial" pitchFamily="34" charset="-122"/>
                <a:cs typeface="Arial" pitchFamily="34" charset="-120"/>
              </a:rPr>
              <a:t>Key Driver:</a:t>
            </a:r>
            <a:pPr algn="ctr" indent="0" marL="0">
              <a:lnSpc>
                <a:spcPts val="1365"/>
              </a:lnSpc>
              <a:buNone/>
            </a:pPr>
            <a:r>
              <a:rPr lang="en-US" sz="975" dirty="0">
                <a:solidFill>
                  <a:srgbClr val="07253D"/>
                </a:solidFill>
                <a:latin typeface="Arial" pitchFamily="34" charset="0"/>
                <a:ea typeface="Arial" pitchFamily="34" charset="-122"/>
                <a:cs typeface="Arial" pitchFamily="34" charset="-120"/>
              </a:rPr>
              <a:t> 2% freemium conversion + 130-180% NDR = </a:t>
            </a:r>
            <a:pPr algn="ctr" indent="0" marL="0">
              <a:lnSpc>
                <a:spcPts val="1365"/>
              </a:lnSpc>
              <a:buNone/>
            </a:pPr>
            <a:r>
              <a:rPr lang="en-US" sz="975" b="1" dirty="0">
                <a:solidFill>
                  <a:srgbClr val="07253D"/>
                </a:solidFill>
                <a:latin typeface="Arial" pitchFamily="34" charset="0"/>
                <a:ea typeface="Arial" pitchFamily="34" charset="-122"/>
                <a:cs typeface="Arial" pitchFamily="34" charset="-120"/>
              </a:rPr>
              <a:t>exponential growth trajectory</a:t>
            </a:r>
            <a:endParaRPr lang="en-US" sz="975" dirty="0"/>
          </a:p>
        </p:txBody>
      </p:sp>
      <p:sp>
        <p:nvSpPr>
          <p:cNvPr id="8" name="Text 6"/>
          <p:cNvSpPr/>
          <p:nvPr/>
        </p:nvSpPr>
        <p:spPr>
          <a:xfrm>
            <a:off x="8786217" y="4743450"/>
            <a:ext cx="54042"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8</a:t>
            </a:r>
            <a:endParaRPr lang="en-US" sz="7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81000" y="914400"/>
          <a:ext cx="8382000" cy="3351014"/>
        </p:xfrm>
        <a:graphic>
          <a:graphicData uri="http://schemas.openxmlformats.org/drawingml/2006/table">
            <a:tbl>
              <a:tblPr/>
              <a:tblGrid>
                <a:gridCol w="1371600"/>
                <a:gridCol w="1645920"/>
                <a:gridCol w="2011680"/>
                <a:gridCol w="1645920"/>
                <a:gridCol w="1554480"/>
              </a:tblGrid>
              <a:tr h="411480">
                <a:tc>
                  <a:txBody>
                    <a:bodyPr/>
                    <a:lstStyle/>
                    <a:p>
                      <a:pPr algn="ctr" indent="0" marL="0">
                        <a:buNone/>
                      </a:pPr>
                      <a:r>
                        <a:rPr lang="en-US" sz="1100" b="1" dirty="0">
                          <a:solidFill>
                            <a:srgbClr val="FFFFFF"/>
                          </a:solidFill>
                        </a:rPr>
                        <a:t>Year</a:t>
                      </a:r>
                      <a:endParaRPr lang="en-US" sz="11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algn="ctr" indent="0" marL="0">
                        <a:buNone/>
                      </a:pPr>
                      <a:r>
                        <a:rPr lang="en-US" sz="1100" b="1" dirty="0">
                          <a:solidFill>
                            <a:srgbClr val="FFFFFF"/>
                          </a:solidFill>
                        </a:rPr>
                        <a:t>Free Users</a:t>
                      </a:r>
                      <a:endParaRPr lang="en-US" sz="11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algn="ctr" indent="0" marL="0">
                        <a:buNone/>
                      </a:pPr>
                      <a:r>
                        <a:rPr lang="en-US" sz="1100" b="1" dirty="0">
                          <a:solidFill>
                            <a:srgbClr val="FFFFFF"/>
                          </a:solidFill>
                        </a:rPr>
                        <a:t>Paying Customers</a:t>
                      </a:r>
                      <a:endParaRPr lang="en-US" sz="11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algn="ctr" indent="0" marL="0">
                        <a:buNone/>
                      </a:pPr>
                      <a:r>
                        <a:rPr lang="en-US" sz="1100" b="1" dirty="0">
                          <a:solidFill>
                            <a:srgbClr val="FFFFFF"/>
                          </a:solidFill>
                        </a:rPr>
                        <a:t>ARR</a:t>
                      </a:r>
                      <a:endParaRPr lang="en-US" sz="11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algn="ctr" indent="0" marL="0">
                        <a:buNone/>
                      </a:pPr>
                      <a:r>
                        <a:rPr lang="en-US" sz="1100" b="1" dirty="0">
                          <a:solidFill>
                            <a:srgbClr val="FFFFFF"/>
                          </a:solidFill>
                        </a:rPr>
                        <a:t>NDR</a:t>
                      </a:r>
                      <a:endParaRPr lang="en-US" sz="11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r>
              <a:tr h="457200">
                <a:tc>
                  <a:txBody>
                    <a:bodyPr/>
                    <a:lstStyle/>
                    <a:p>
                      <a:pPr algn="ctr" indent="0" marL="0">
                        <a:buNone/>
                      </a:pPr>
                      <a:r>
                        <a:rPr lang="en-US" sz="1000" b="1" dirty="0">
                          <a:solidFill>
                            <a:srgbClr val="01A9DB"/>
                          </a:solidFill>
                        </a:rPr>
                        <a:t>Y1 (2026)</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50,000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500-1,000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b="1" dirty="0">
                          <a:solidFill>
                            <a:srgbClr val="07253D"/>
                          </a:solidFill>
                        </a:rPr>
                        <a:t>$1-2M</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110-120%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r>
              <a:tr h="457200">
                <a:tc>
                  <a:txBody>
                    <a:bodyPr/>
                    <a:lstStyle/>
                    <a:p>
                      <a:pPr algn="ctr" indent="0" marL="0">
                        <a:buNone/>
                      </a:pPr>
                      <a:r>
                        <a:rPr lang="en-US" sz="1000" b="1" dirty="0">
                          <a:solidFill>
                            <a:srgbClr val="01A9DB"/>
                          </a:solidFill>
                        </a:rPr>
                        <a:t>Y2 (2027)</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200,000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2,500-4,000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b="1" dirty="0">
                          <a:solidFill>
                            <a:srgbClr val="07253D"/>
                          </a:solidFill>
                        </a:rPr>
                        <a:t>$5-10M</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130-150%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r>
              <a:tr h="457200">
                <a:tc>
                  <a:txBody>
                    <a:bodyPr/>
                    <a:lstStyle/>
                    <a:p>
                      <a:pPr algn="ctr" indent="0" marL="0">
                        <a:buNone/>
                      </a:pPr>
                      <a:r>
                        <a:rPr lang="en-US" sz="1000" b="1" dirty="0">
                          <a:solidFill>
                            <a:srgbClr val="01A9DB"/>
                          </a:solidFill>
                        </a:rPr>
                        <a:t>Y3 (2028)</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500,000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7,000-10,000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b="1" dirty="0">
                          <a:solidFill>
                            <a:srgbClr val="07253D"/>
                          </a:solidFill>
                        </a:rPr>
                        <a:t>$20-40M</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140-160%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r>
              <a:tr h="457200">
                <a:tc>
                  <a:txBody>
                    <a:bodyPr/>
                    <a:lstStyle/>
                    <a:p>
                      <a:pPr algn="ctr" indent="0" marL="0">
                        <a:buNone/>
                      </a:pPr>
                      <a:r>
                        <a:rPr lang="en-US" sz="1000" b="1" dirty="0">
                          <a:solidFill>
                            <a:srgbClr val="01A9DB"/>
                          </a:solidFill>
                        </a:rPr>
                        <a:t>Y5 (2030)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2,000,000+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18,000-20,000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100" b="1" dirty="0">
                          <a:solidFill>
                            <a:srgbClr val="01A9DB"/>
                          </a:solidFill>
                        </a:rPr>
                        <a:t>$100-150M</a:t>
                      </a:r>
                      <a:endParaRPr lang="en-US" sz="11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150-180%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4906328" cy="266700"/>
          </a:xfrm>
          <a:prstGeom prst="rect">
            <a:avLst/>
          </a:prstGeom>
          <a:noFill/>
          <a:ln/>
        </p:spPr>
        <p:txBody>
          <a:bodyPr wrap="square" lIns="0" tIns="0" rIns="0" bIns="0" rtlCol="0" anchor="t"/>
          <a:lstStyle/>
          <a:p>
            <a:pPr algn="l" indent="0" marL="0">
              <a:lnSpc>
                <a:spcPts val="2100"/>
              </a:lnSpc>
              <a:spcAft>
                <a:spcPts val="300"/>
              </a:spcAft>
              <a:buNone/>
            </a:pPr>
            <a:r>
              <a:rPr lang="en-US" sz="2100" b="1" dirty="0">
                <a:solidFill>
                  <a:srgbClr val="07253D"/>
                </a:solidFill>
                <a:latin typeface="Arial" pitchFamily="34" charset="0"/>
                <a:ea typeface="Arial" pitchFamily="34" charset="-122"/>
                <a:cs typeface="Arial" pitchFamily="34" charset="-120"/>
              </a:rPr>
              <a:t>Unit Economics &amp; Path to Profitability</a:t>
            </a:r>
            <a:endParaRPr lang="en-US" sz="2100" dirty="0"/>
          </a:p>
        </p:txBody>
      </p:sp>
      <p:sp>
        <p:nvSpPr>
          <p:cNvPr id="5" name="Text 3"/>
          <p:cNvSpPr/>
          <p:nvPr/>
        </p:nvSpPr>
        <p:spPr>
          <a:xfrm>
            <a:off x="381000" y="571500"/>
            <a:ext cx="762000" cy="38100"/>
          </a:xfrm>
          <a:prstGeom prst="rect">
            <a:avLst/>
          </a:prstGeom>
          <a:solidFill>
            <a:srgbClr val="01A9DB"/>
          </a:solidFill>
          <a:ln/>
        </p:spPr>
        <p:txBody>
          <a:bodyPr wrap="square" rtlCol="0" anchor="ctr"/>
          <a:lstStyle/>
          <a:p>
            <a:pPr indent="0" marL="0">
              <a:buNone/>
            </a:pPr>
            <a:endParaRPr lang="en-US" dirty="0"/>
          </a:p>
        </p:txBody>
      </p:sp>
      <p:sp>
        <p:nvSpPr>
          <p:cNvPr id="6" name="Text 4"/>
          <p:cNvSpPr/>
          <p:nvPr/>
        </p:nvSpPr>
        <p:spPr>
          <a:xfrm>
            <a:off x="5093940" y="1496467"/>
            <a:ext cx="3669060" cy="2836218"/>
          </a:xfrm>
          <a:prstGeom prst="roundRect">
            <a:avLst>
              <a:gd name="adj" fmla="val 2015"/>
            </a:avLst>
          </a:prstGeom>
          <a:solidFill>
            <a:srgbClr val="07253D"/>
          </a:solidFill>
          <a:ln/>
        </p:spPr>
        <p:txBody>
          <a:bodyPr wrap="square" rtlCol="0" anchor="ctr"/>
          <a:lstStyle/>
          <a:p>
            <a:pPr indent="0" marL="0">
              <a:buNone/>
            </a:pPr>
            <a:endParaRPr lang="en-US" dirty="0"/>
          </a:p>
        </p:txBody>
      </p:sp>
      <p:sp>
        <p:nvSpPr>
          <p:cNvPr id="7" name="Text 5"/>
          <p:cNvSpPr/>
          <p:nvPr/>
        </p:nvSpPr>
        <p:spPr>
          <a:xfrm>
            <a:off x="5246340" y="1648867"/>
            <a:ext cx="3431545" cy="186630"/>
          </a:xfrm>
          <a:prstGeom prst="rect">
            <a:avLst/>
          </a:prstGeom>
          <a:noFill/>
          <a:ln/>
        </p:spPr>
        <p:txBody>
          <a:bodyPr wrap="square" lIns="0" tIns="0" rIns="0" bIns="0" rtlCol="0" anchor="t"/>
          <a:lstStyle/>
          <a:p>
            <a:pPr algn="l" indent="0" marL="0">
              <a:lnSpc>
                <a:spcPts val="1470"/>
              </a:lnSpc>
              <a:spcAft>
                <a:spcPts val="1050"/>
              </a:spcAft>
              <a:buNone/>
            </a:pPr>
            <a:r>
              <a:rPr lang="en-US" sz="1050" b="1" dirty="0">
                <a:solidFill>
                  <a:srgbClr val="01A9DB"/>
                </a:solidFill>
                <a:latin typeface="Arial" pitchFamily="34" charset="0"/>
                <a:ea typeface="Arial" pitchFamily="34" charset="-122"/>
                <a:cs typeface="Arial" pitchFamily="34" charset="-120"/>
              </a:rPr>
              <a:t>Profitability Timeline</a:t>
            </a:r>
            <a:endParaRPr lang="en-US" sz="1050" dirty="0"/>
          </a:p>
        </p:txBody>
      </p:sp>
      <p:sp>
        <p:nvSpPr>
          <p:cNvPr id="8" name="Text 6"/>
          <p:cNvSpPr/>
          <p:nvPr/>
        </p:nvSpPr>
        <p:spPr>
          <a:xfrm>
            <a:off x="5246340" y="1968847"/>
            <a:ext cx="3431545" cy="159990"/>
          </a:xfrm>
          <a:prstGeom prst="rect">
            <a:avLst/>
          </a:prstGeom>
          <a:noFill/>
          <a:ln/>
        </p:spPr>
        <p:txBody>
          <a:bodyPr wrap="square" lIns="0" tIns="0" rIns="0" bIns="0" rtlCol="0" anchor="t"/>
          <a:lstStyle/>
          <a:p>
            <a:pPr algn="l" indent="0" marL="0">
              <a:lnSpc>
                <a:spcPts val="1260"/>
              </a:lnSpc>
              <a:spcAft>
                <a:spcPts val="225"/>
              </a:spcAft>
              <a:buNone/>
            </a:pPr>
            <a:r>
              <a:rPr lang="en-US" sz="900" b="1" dirty="0">
                <a:solidFill>
                  <a:srgbClr val="01A9DB"/>
                </a:solidFill>
                <a:latin typeface="Arial" pitchFamily="34" charset="0"/>
                <a:ea typeface="Arial" pitchFamily="34" charset="-122"/>
                <a:cs typeface="Arial" pitchFamily="34" charset="-120"/>
              </a:rPr>
              <a:t>Gross Margin</a:t>
            </a:r>
            <a:endParaRPr lang="en-US" sz="900" dirty="0"/>
          </a:p>
        </p:txBody>
      </p:sp>
      <p:sp>
        <p:nvSpPr>
          <p:cNvPr id="9" name="Text 7"/>
          <p:cNvSpPr/>
          <p:nvPr/>
        </p:nvSpPr>
        <p:spPr>
          <a:xfrm>
            <a:off x="5246340" y="2157413"/>
            <a:ext cx="3431545" cy="319980"/>
          </a:xfrm>
          <a:prstGeom prst="rect">
            <a:avLst/>
          </a:prstGeom>
          <a:noFill/>
          <a:ln/>
        </p:spPr>
        <p:txBody>
          <a:bodyPr wrap="square" lIns="0" tIns="0" rIns="0" bIns="0" rtlCol="0" anchor="t"/>
          <a:lstStyle/>
          <a:p>
            <a:pPr algn="l" indent="0" marL="0">
              <a:lnSpc>
                <a:spcPts val="2520"/>
              </a:lnSpc>
              <a:buNone/>
            </a:pPr>
            <a:r>
              <a:rPr lang="en-US" sz="1800" b="1" dirty="0">
                <a:solidFill>
                  <a:srgbClr val="FFFFFF"/>
                </a:solidFill>
                <a:latin typeface="Arial" pitchFamily="34" charset="0"/>
                <a:ea typeface="Arial" pitchFamily="34" charset="-122"/>
                <a:cs typeface="Arial" pitchFamily="34" charset="-120"/>
              </a:rPr>
              <a:t>80-85%</a:t>
            </a:r>
            <a:endParaRPr lang="en-US" sz="1800" dirty="0"/>
          </a:p>
        </p:txBody>
      </p:sp>
      <p:sp>
        <p:nvSpPr>
          <p:cNvPr id="10" name="Text 8"/>
          <p:cNvSpPr/>
          <p:nvPr/>
        </p:nvSpPr>
        <p:spPr>
          <a:xfrm>
            <a:off x="5246340" y="2496443"/>
            <a:ext cx="3431545"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FFFFFF"/>
                </a:solidFill>
                <a:latin typeface="Arial" pitchFamily="34" charset="0"/>
                <a:ea typeface="Arial" pitchFamily="34" charset="-122"/>
                <a:cs typeface="Arial" pitchFamily="34" charset="-120"/>
              </a:rPr>
              <a:t>From day 1 (software high margin)</a:t>
            </a:r>
            <a:endParaRPr lang="en-US" sz="750" dirty="0"/>
          </a:p>
        </p:txBody>
      </p:sp>
      <p:sp>
        <p:nvSpPr>
          <p:cNvPr id="11" name="Text 9"/>
          <p:cNvSpPr/>
          <p:nvPr/>
        </p:nvSpPr>
        <p:spPr>
          <a:xfrm>
            <a:off x="5246340" y="2744093"/>
            <a:ext cx="3431545" cy="159990"/>
          </a:xfrm>
          <a:prstGeom prst="rect">
            <a:avLst/>
          </a:prstGeom>
          <a:noFill/>
          <a:ln/>
        </p:spPr>
        <p:txBody>
          <a:bodyPr wrap="square" lIns="0" tIns="0" rIns="0" bIns="0" rtlCol="0" anchor="t"/>
          <a:lstStyle/>
          <a:p>
            <a:pPr algn="l" indent="0" marL="0">
              <a:lnSpc>
                <a:spcPts val="1260"/>
              </a:lnSpc>
              <a:spcAft>
                <a:spcPts val="225"/>
              </a:spcAft>
              <a:buNone/>
            </a:pPr>
            <a:r>
              <a:rPr lang="en-US" sz="900" b="1" dirty="0">
                <a:solidFill>
                  <a:srgbClr val="01A9DB"/>
                </a:solidFill>
                <a:latin typeface="Arial" pitchFamily="34" charset="0"/>
                <a:ea typeface="Arial" pitchFamily="34" charset="-122"/>
                <a:cs typeface="Arial" pitchFamily="34" charset="-120"/>
              </a:rPr>
              <a:t>EBITDA Positive</a:t>
            </a:r>
            <a:endParaRPr lang="en-US" sz="900" dirty="0"/>
          </a:p>
        </p:txBody>
      </p:sp>
      <p:sp>
        <p:nvSpPr>
          <p:cNvPr id="12" name="Text 10"/>
          <p:cNvSpPr/>
          <p:nvPr/>
        </p:nvSpPr>
        <p:spPr>
          <a:xfrm>
            <a:off x="5246340" y="2932658"/>
            <a:ext cx="3431545" cy="319980"/>
          </a:xfrm>
          <a:prstGeom prst="rect">
            <a:avLst/>
          </a:prstGeom>
          <a:noFill/>
          <a:ln/>
        </p:spPr>
        <p:txBody>
          <a:bodyPr wrap="square" lIns="0" tIns="0" rIns="0" bIns="0" rtlCol="0" anchor="t"/>
          <a:lstStyle/>
          <a:p>
            <a:pPr algn="l" indent="0" marL="0">
              <a:lnSpc>
                <a:spcPts val="2520"/>
              </a:lnSpc>
              <a:buNone/>
            </a:pPr>
            <a:r>
              <a:rPr lang="en-US" sz="1800" b="1" dirty="0">
                <a:solidFill>
                  <a:srgbClr val="FFFFFF"/>
                </a:solidFill>
                <a:latin typeface="Arial" pitchFamily="34" charset="0"/>
                <a:ea typeface="Arial" pitchFamily="34" charset="-122"/>
                <a:cs typeface="Arial" pitchFamily="34" charset="-120"/>
              </a:rPr>
              <a:t>Year 2-3</a:t>
            </a:r>
            <a:endParaRPr lang="en-US" sz="1800" dirty="0"/>
          </a:p>
        </p:txBody>
      </p:sp>
      <p:sp>
        <p:nvSpPr>
          <p:cNvPr id="13" name="Text 11"/>
          <p:cNvSpPr/>
          <p:nvPr/>
        </p:nvSpPr>
        <p:spPr>
          <a:xfrm>
            <a:off x="5246340" y="3271689"/>
            <a:ext cx="3431545"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FFFFFF"/>
                </a:solidFill>
                <a:latin typeface="Arial" pitchFamily="34" charset="0"/>
                <a:ea typeface="Arial" pitchFamily="34" charset="-122"/>
                <a:cs typeface="Arial" pitchFamily="34" charset="-120"/>
              </a:rPr>
              <a:t>When growth moderates</a:t>
            </a:r>
            <a:endParaRPr lang="en-US" sz="750" dirty="0"/>
          </a:p>
        </p:txBody>
      </p:sp>
      <p:sp>
        <p:nvSpPr>
          <p:cNvPr id="14" name="Text 12"/>
          <p:cNvSpPr/>
          <p:nvPr/>
        </p:nvSpPr>
        <p:spPr>
          <a:xfrm>
            <a:off x="5246340" y="3519339"/>
            <a:ext cx="3431545" cy="159990"/>
          </a:xfrm>
          <a:prstGeom prst="rect">
            <a:avLst/>
          </a:prstGeom>
          <a:noFill/>
          <a:ln/>
        </p:spPr>
        <p:txBody>
          <a:bodyPr wrap="square" lIns="0" tIns="0" rIns="0" bIns="0" rtlCol="0" anchor="t"/>
          <a:lstStyle/>
          <a:p>
            <a:pPr algn="l" indent="0" marL="0">
              <a:lnSpc>
                <a:spcPts val="1260"/>
              </a:lnSpc>
              <a:spcAft>
                <a:spcPts val="225"/>
              </a:spcAft>
              <a:buNone/>
            </a:pPr>
            <a:r>
              <a:rPr lang="en-US" sz="900" b="1" dirty="0">
                <a:solidFill>
                  <a:srgbClr val="01A9DB"/>
                </a:solidFill>
                <a:latin typeface="Arial" pitchFamily="34" charset="0"/>
                <a:ea typeface="Arial" pitchFamily="34" charset="-122"/>
                <a:cs typeface="Arial" pitchFamily="34" charset="-120"/>
              </a:rPr>
              <a:t>Path to $100M ARR</a:t>
            </a:r>
            <a:endParaRPr lang="en-US" sz="900" dirty="0"/>
          </a:p>
        </p:txBody>
      </p:sp>
      <p:sp>
        <p:nvSpPr>
          <p:cNvPr id="15" name="Text 13"/>
          <p:cNvSpPr/>
          <p:nvPr/>
        </p:nvSpPr>
        <p:spPr>
          <a:xfrm>
            <a:off x="5246340" y="3707904"/>
            <a:ext cx="3431545" cy="319980"/>
          </a:xfrm>
          <a:prstGeom prst="rect">
            <a:avLst/>
          </a:prstGeom>
          <a:noFill/>
          <a:ln/>
        </p:spPr>
        <p:txBody>
          <a:bodyPr wrap="square" lIns="0" tIns="0" rIns="0" bIns="0" rtlCol="0" anchor="t"/>
          <a:lstStyle/>
          <a:p>
            <a:pPr algn="l" indent="0" marL="0">
              <a:lnSpc>
                <a:spcPts val="2520"/>
              </a:lnSpc>
              <a:buNone/>
            </a:pPr>
            <a:r>
              <a:rPr lang="en-US" sz="1800" b="1" dirty="0">
                <a:solidFill>
                  <a:srgbClr val="FFFFFF"/>
                </a:solidFill>
                <a:latin typeface="Arial" pitchFamily="34" charset="0"/>
                <a:ea typeface="Arial" pitchFamily="34" charset="-122"/>
                <a:cs typeface="Arial" pitchFamily="34" charset="-120"/>
              </a:rPr>
              <a:t>Year 5</a:t>
            </a:r>
            <a:endParaRPr lang="en-US" sz="1800" dirty="0"/>
          </a:p>
        </p:txBody>
      </p:sp>
      <p:sp>
        <p:nvSpPr>
          <p:cNvPr id="16" name="Text 14"/>
          <p:cNvSpPr/>
          <p:nvPr/>
        </p:nvSpPr>
        <p:spPr>
          <a:xfrm>
            <a:off x="5246340" y="4046934"/>
            <a:ext cx="3431545"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FFFFFF"/>
                </a:solidFill>
                <a:latin typeface="Arial" pitchFamily="34" charset="0"/>
                <a:ea typeface="Arial" pitchFamily="34" charset="-122"/>
                <a:cs typeface="Arial" pitchFamily="34" charset="-120"/>
              </a:rPr>
              <a:t>Sustainable, cash-generative</a:t>
            </a:r>
            <a:endParaRPr lang="en-US" sz="750" dirty="0"/>
          </a:p>
        </p:txBody>
      </p:sp>
      <p:sp>
        <p:nvSpPr>
          <p:cNvPr id="17" name="Text 15"/>
          <p:cNvSpPr/>
          <p:nvPr/>
        </p:nvSpPr>
        <p:spPr>
          <a:xfrm>
            <a:off x="8786217" y="4743450"/>
            <a:ext cx="54042"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9</a:t>
            </a:r>
            <a:endParaRPr lang="en-US" sz="7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81000" y="1233041"/>
          <a:ext cx="4484340" cy="3363218"/>
        </p:xfrm>
        <a:graphic>
          <a:graphicData uri="http://schemas.openxmlformats.org/drawingml/2006/table">
            <a:tbl>
              <a:tblPr/>
              <a:tblGrid>
                <a:gridCol w="914400"/>
                <a:gridCol w="1005840"/>
                <a:gridCol w="1005840"/>
                <a:gridCol w="1005840"/>
                <a:gridCol w="914400"/>
              </a:tblGrid>
              <a:tr h="365760">
                <a:tc>
                  <a:txBody>
                    <a:bodyPr/>
                    <a:lstStyle/>
                    <a:p>
                      <a:pPr algn="ctr" indent="0" marL="0">
                        <a:buNone/>
                      </a:pPr>
                      <a:r>
                        <a:rPr lang="en-US" sz="1000" b="1" dirty="0">
                          <a:solidFill>
                            <a:srgbClr val="FFFFFF"/>
                          </a:solidFill>
                        </a:rPr>
                        <a:t>Segment</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algn="ctr" indent="0" marL="0">
                        <a:buNone/>
                      </a:pPr>
                      <a:r>
                        <a:rPr lang="en-US" sz="1000" b="1" dirty="0">
                          <a:solidFill>
                            <a:srgbClr val="FFFFFF"/>
                          </a:solidFill>
                        </a:rPr>
                        <a:t>LTV:CAC</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algn="ctr" indent="0" marL="0">
                        <a:buNone/>
                      </a:pPr>
                      <a:r>
                        <a:rPr lang="en-US" sz="1000" b="1" dirty="0">
                          <a:solidFill>
                            <a:srgbClr val="FFFFFF"/>
                          </a:solidFill>
                        </a:rPr>
                        <a:t>CAC Payback</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algn="ctr" indent="0" marL="0">
                        <a:buNone/>
                      </a:pPr>
                      <a:r>
                        <a:rPr lang="en-US" sz="1000" b="1" dirty="0">
                          <a:solidFill>
                            <a:srgbClr val="FFFFFF"/>
                          </a:solidFill>
                        </a:rPr>
                        <a:t>Gross Margin</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algn="ctr" indent="0" marL="0">
                        <a:buNone/>
                      </a:pPr>
                      <a:r>
                        <a:rPr lang="en-US" sz="1000" b="1" dirty="0">
                          <a:solidFill>
                            <a:srgbClr val="FFFFFF"/>
                          </a:solidFill>
                        </a:rPr>
                        <a:t>NDR</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r>
              <a:tr h="502920">
                <a:tc>
                  <a:txBody>
                    <a:bodyPr/>
                    <a:lstStyle/>
                    <a:p>
                      <a:pPr algn="ctr" indent="0" marL="0">
                        <a:buNone/>
                      </a:pPr>
                      <a:r>
                        <a:rPr lang="en-US" sz="1000" b="1" dirty="0">
                          <a:solidFill>
                            <a:srgbClr val="01A9DB"/>
                          </a:solidFill>
                        </a:rPr>
                        <a:t>SMB</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b="1" dirty="0">
                          <a:solidFill>
                            <a:srgbClr val="07253D"/>
                          </a:solidFill>
                        </a:rPr>
                        <a:t>80-250:1</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1-2 mo</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80-85%</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110-120%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r>
              <a:tr h="502920">
                <a:tc>
                  <a:txBody>
                    <a:bodyPr/>
                    <a:lstStyle/>
                    <a:p>
                      <a:pPr algn="ctr" indent="0" marL="0">
                        <a:buNone/>
                      </a:pPr>
                      <a:r>
                        <a:rPr lang="en-US" sz="1000" b="1" dirty="0">
                          <a:solidFill>
                            <a:srgbClr val="01A9DB"/>
                          </a:solidFill>
                        </a:rPr>
                        <a:t>Mid-Market</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b="1" dirty="0">
                          <a:solidFill>
                            <a:srgbClr val="07253D"/>
                          </a:solidFill>
                        </a:rPr>
                        <a:t>100-300:1</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2-4 mo</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82-87%</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130-150%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r>
              <a:tr h="502920">
                <a:tc>
                  <a:txBody>
                    <a:bodyPr/>
                    <a:lstStyle/>
                    <a:p>
                      <a:pPr algn="ctr" indent="0" marL="0">
                        <a:buNone/>
                      </a:pPr>
                      <a:r>
                        <a:rPr lang="en-US" sz="1000" b="1" dirty="0">
                          <a:solidFill>
                            <a:srgbClr val="01A9DB"/>
                          </a:solidFill>
                        </a:rPr>
                        <a:t>Enterprise</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b="1" dirty="0">
                          <a:solidFill>
                            <a:srgbClr val="07253D"/>
                          </a:solidFill>
                        </a:rPr>
                        <a:t>100-400:1</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3-6 mo</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dirty="0">
                          <a:solidFill>
                            <a:srgbClr val="44546A"/>
                          </a:solidFill>
                        </a:rPr>
                        <a:t>85-90%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algn="ctr" indent="0" marL="0">
                        <a:buNone/>
                      </a:pPr>
                      <a:r>
                        <a:rPr lang="en-US" sz="1000" b="1" dirty="0">
                          <a:solidFill>
                            <a:srgbClr val="01A9DB"/>
                          </a:solidFill>
                        </a:rPr>
                        <a:t>140-180%</a:t>
                      </a:r>
                      <a:endParaRPr lang="en-US" sz="1000" dirty="0"/>
                    </a:p>
                  </a:txBody>
                  <a:tcPr marL="91440" marR="91440" marT="45720" marB="45720"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4614863" cy="304800"/>
          </a:xfrm>
          <a:prstGeom prst="rect">
            <a:avLst/>
          </a:prstGeom>
          <a:noFill/>
          <a:ln/>
        </p:spPr>
        <p:txBody>
          <a:bodyPr wrap="square" lIns="0" tIns="0" rIns="0" bIns="0" rtlCol="0" anchor="t"/>
          <a:lstStyle/>
          <a:p>
            <a:pPr algn="l" indent="0" marL="0">
              <a:lnSpc>
                <a:spcPts val="2400"/>
              </a:lnSpc>
              <a:spcAft>
                <a:spcPts val="300"/>
              </a:spcAft>
              <a:buNone/>
            </a:pPr>
            <a:r>
              <a:rPr lang="en-US" sz="2400" b="1" dirty="0">
                <a:solidFill>
                  <a:srgbClr val="07253D"/>
                </a:solidFill>
                <a:latin typeface="Arial" pitchFamily="34" charset="0"/>
                <a:ea typeface="Arial" pitchFamily="34" charset="-122"/>
                <a:cs typeface="Arial" pitchFamily="34" charset="-120"/>
              </a:rPr>
              <a:t>Three-Phase Market Expansion</a:t>
            </a:r>
            <a:endParaRPr lang="en-US" sz="2400" dirty="0"/>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indent="0" marL="0">
              <a:buNone/>
            </a:pPr>
            <a:endParaRPr lang="en-US" dirty="0"/>
          </a:p>
        </p:txBody>
      </p:sp>
      <p:pic>
        <p:nvPicPr>
          <p:cNvPr id="6" name="Image 0" descr="/tmp/rasterized-gradient-b8c44de3.png">    </p:cNvPr>
          <p:cNvPicPr>
            <a:picLocks noChangeAspect="1"/>
          </p:cNvPicPr>
          <p:nvPr/>
        </p:nvPicPr>
        <p:blipFill>
          <a:blip r:embed="rId1"/>
          <a:stretch>
            <a:fillRect/>
          </a:stretch>
        </p:blipFill>
        <p:spPr>
          <a:xfrm>
            <a:off x="381000" y="952500"/>
            <a:ext cx="2667000" cy="3962400"/>
          </a:xfrm>
          <a:prstGeom prst="rect">
            <a:avLst/>
          </a:prstGeom>
        </p:spPr>
      </p:pic>
      <p:sp>
        <p:nvSpPr>
          <p:cNvPr id="7" name="Text 4"/>
          <p:cNvSpPr/>
          <p:nvPr/>
        </p:nvSpPr>
        <p:spPr>
          <a:xfrm>
            <a:off x="533400" y="2171849"/>
            <a:ext cx="2362200" cy="260896"/>
          </a:xfrm>
          <a:prstGeom prst="roundRect">
            <a:avLst>
              <a:gd name="adj" fmla="val 14604"/>
            </a:avLst>
          </a:prstGeom>
          <a:solidFill>
            <a:srgbClr val="01A9DB"/>
          </a:solidFill>
          <a:ln/>
        </p:spPr>
        <p:txBody>
          <a:bodyPr wrap="square" rtlCol="0" anchor="ctr"/>
          <a:lstStyle/>
          <a:p>
            <a:pPr indent="0" marL="0">
              <a:buNone/>
            </a:pPr>
            <a:endParaRPr lang="en-US" dirty="0"/>
          </a:p>
        </p:txBody>
      </p:sp>
      <p:sp>
        <p:nvSpPr>
          <p:cNvPr id="8" name="Text 5"/>
          <p:cNvSpPr/>
          <p:nvPr/>
        </p:nvSpPr>
        <p:spPr>
          <a:xfrm>
            <a:off x="647700" y="2228999"/>
            <a:ext cx="2176272"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PHASE 1: Y1-2</a:t>
            </a:r>
            <a:endParaRPr lang="en-US" sz="825" dirty="0"/>
          </a:p>
        </p:txBody>
      </p:sp>
      <p:sp>
        <p:nvSpPr>
          <p:cNvPr id="9" name="Text 6"/>
          <p:cNvSpPr/>
          <p:nvPr/>
        </p:nvSpPr>
        <p:spPr>
          <a:xfrm>
            <a:off x="533400" y="2680395"/>
            <a:ext cx="2409444" cy="213271"/>
          </a:xfrm>
          <a:prstGeom prst="rect">
            <a:avLst/>
          </a:prstGeom>
          <a:noFill/>
          <a:ln/>
        </p:spPr>
        <p:txBody>
          <a:bodyPr wrap="square" lIns="0" tIns="0" rIns="0" bIns="0" rtlCol="0" anchor="t"/>
          <a:lstStyle/>
          <a:p>
            <a:pPr algn="l" indent="0" marL="0">
              <a:lnSpc>
                <a:spcPts val="1680"/>
              </a:lnSpc>
              <a:spcAft>
                <a:spcPts val="750"/>
              </a:spcAft>
              <a:buNone/>
            </a:pPr>
            <a:r>
              <a:rPr lang="en-US" sz="1200" b="1" dirty="0">
                <a:solidFill>
                  <a:srgbClr val="FFFFFF"/>
                </a:solidFill>
                <a:latin typeface="Arial" pitchFamily="34" charset="0"/>
                <a:ea typeface="Arial" pitchFamily="34" charset="-122"/>
                <a:cs typeface="Arial" pitchFamily="34" charset="-120"/>
              </a:rPr>
              <a:t>SMB Domination</a:t>
            </a:r>
            <a:endParaRPr lang="en-US" sz="1200" dirty="0"/>
          </a:p>
        </p:txBody>
      </p:sp>
      <p:sp>
        <p:nvSpPr>
          <p:cNvPr id="10" name="Text 7"/>
          <p:cNvSpPr/>
          <p:nvPr/>
        </p:nvSpPr>
        <p:spPr>
          <a:xfrm>
            <a:off x="533400" y="3141315"/>
            <a:ext cx="2362200" cy="554087"/>
          </a:xfrm>
          <a:prstGeom prst="rect">
            <a:avLst/>
          </a:prstGeom>
          <a:noFill/>
          <a:ln/>
        </p:spPr>
        <p:txBody>
          <a:bodyPr wrap="square" lIns="66675" tIns="0" rIns="0" bIns="0" rtlCol="0" anchor="t"/>
          <a:lstStyle/>
          <a:p>
            <a:pPr algn="l" marL="66675" indent="-66675">
              <a:lnSpc>
                <a:spcPts val="1155"/>
              </a:lnSpc>
              <a:spcAft>
                <a:spcPts val="600"/>
              </a:spcAft>
              <a:buSzPct val="100000"/>
              <a:buChar char="•"/>
            </a:pPr>
            <a:r>
              <a:rPr lang="en-US" sz="825" dirty="0">
                <a:solidFill>
                  <a:srgbClr val="FFFFFF"/>
                </a:solidFill>
                <a:latin typeface="Arial" pitchFamily="34" charset="0"/>
                <a:ea typeface="Arial" pitchFamily="34" charset="-122"/>
                <a:cs typeface="Arial" pitchFamily="34" charset="-120"/>
              </a:rPr>
              <a:t>Beachhead: 150,000 SMB companies via Salesforce AppExchange</a:t>
            </a:r>
            <a:endParaRPr lang="en-US" sz="825" dirty="0"/>
          </a:p>
          <a:p>
            <a:pPr algn="l" marL="66675" indent="-66675">
              <a:lnSpc>
                <a:spcPts val="1155"/>
              </a:lnSpc>
              <a:spcAft>
                <a:spcPts val="600"/>
              </a:spcAft>
              <a:buSzPct val="100000"/>
              <a:buChar char="•"/>
            </a:pPr>
            <a:r>
              <a:rPr lang="en-US" sz="825" b="1" dirty="0">
                <a:solidFill>
                  <a:srgbClr val="01A9DB"/>
                </a:solidFill>
                <a:latin typeface="Arial" pitchFamily="34" charset="0"/>
                <a:ea typeface="Arial" pitchFamily="34" charset="-122"/>
                <a:cs typeface="Arial" pitchFamily="34" charset="-120"/>
              </a:rPr>
              <a:t>Target:</a:t>
            </a:r>
            <a:pPr algn="l" indent="0" marL="0">
              <a:lnSpc>
                <a:spcPts val="1155"/>
              </a:lnSpc>
              <a:spcAft>
                <a:spcPts val="600"/>
              </a:spcAft>
              <a:buNone/>
            </a:pPr>
            <a:r>
              <a:rPr lang="en-US" sz="825" dirty="0">
                <a:solidFill>
                  <a:srgbClr val="FFFFFF"/>
                </a:solidFill>
                <a:latin typeface="Arial" pitchFamily="34" charset="0"/>
                <a:ea typeface="Arial" pitchFamily="34" charset="-122"/>
                <a:cs typeface="Arial" pitchFamily="34" charset="-120"/>
              </a:rPr>
              <a:t> 50K free → 1K paying → $1-2M ARR</a:t>
            </a:r>
            <a:endParaRPr lang="en-US" sz="825" dirty="0"/>
          </a:p>
        </p:txBody>
      </p:sp>
      <p:pic>
        <p:nvPicPr>
          <p:cNvPr id="11" name="Image 1" descr="/tmp/rasterized-gradient-47afbf22.png">    </p:cNvPr>
          <p:cNvPicPr>
            <a:picLocks noChangeAspect="1"/>
          </p:cNvPicPr>
          <p:nvPr/>
        </p:nvPicPr>
        <p:blipFill>
          <a:blip r:embed="rId2"/>
          <a:stretch>
            <a:fillRect/>
          </a:stretch>
        </p:blipFill>
        <p:spPr>
          <a:xfrm>
            <a:off x="3238500" y="952500"/>
            <a:ext cx="2667000" cy="3962400"/>
          </a:xfrm>
          <a:prstGeom prst="rect">
            <a:avLst/>
          </a:prstGeom>
        </p:spPr>
      </p:pic>
      <p:sp>
        <p:nvSpPr>
          <p:cNvPr id="12" name="Text 8"/>
          <p:cNvSpPr/>
          <p:nvPr/>
        </p:nvSpPr>
        <p:spPr>
          <a:xfrm>
            <a:off x="3390900" y="2171849"/>
            <a:ext cx="2362200" cy="260896"/>
          </a:xfrm>
          <a:prstGeom prst="roundRect">
            <a:avLst>
              <a:gd name="adj" fmla="val 14604"/>
            </a:avLst>
          </a:prstGeom>
          <a:solidFill>
            <a:srgbClr val="01A9DB"/>
          </a:solidFill>
          <a:ln/>
        </p:spPr>
        <p:txBody>
          <a:bodyPr wrap="square" rtlCol="0" anchor="ctr"/>
          <a:lstStyle/>
          <a:p>
            <a:pPr indent="0" marL="0">
              <a:buNone/>
            </a:pPr>
            <a:endParaRPr lang="en-US" dirty="0"/>
          </a:p>
        </p:txBody>
      </p:sp>
      <p:sp>
        <p:nvSpPr>
          <p:cNvPr id="13" name="Text 9"/>
          <p:cNvSpPr/>
          <p:nvPr/>
        </p:nvSpPr>
        <p:spPr>
          <a:xfrm>
            <a:off x="3505200" y="2228999"/>
            <a:ext cx="2176272"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PHASE 2: Y2-3</a:t>
            </a:r>
            <a:endParaRPr lang="en-US" sz="825" dirty="0"/>
          </a:p>
        </p:txBody>
      </p:sp>
      <p:sp>
        <p:nvSpPr>
          <p:cNvPr id="14" name="Text 10"/>
          <p:cNvSpPr/>
          <p:nvPr/>
        </p:nvSpPr>
        <p:spPr>
          <a:xfrm>
            <a:off x="3390900" y="2680395"/>
            <a:ext cx="2409444" cy="213271"/>
          </a:xfrm>
          <a:prstGeom prst="rect">
            <a:avLst/>
          </a:prstGeom>
          <a:noFill/>
          <a:ln/>
        </p:spPr>
        <p:txBody>
          <a:bodyPr wrap="square" lIns="0" tIns="0" rIns="0" bIns="0" rtlCol="0" anchor="t"/>
          <a:lstStyle/>
          <a:p>
            <a:pPr algn="l" indent="0" marL="0">
              <a:lnSpc>
                <a:spcPts val="1680"/>
              </a:lnSpc>
              <a:spcAft>
                <a:spcPts val="750"/>
              </a:spcAft>
              <a:buNone/>
            </a:pPr>
            <a:r>
              <a:rPr lang="en-US" sz="1200" b="1" dirty="0">
                <a:solidFill>
                  <a:srgbClr val="FFFFFF"/>
                </a:solidFill>
                <a:latin typeface="Arial" pitchFamily="34" charset="0"/>
                <a:ea typeface="Arial" pitchFamily="34" charset="-122"/>
                <a:cs typeface="Arial" pitchFamily="34" charset="-120"/>
              </a:rPr>
              <a:t>Mid-Market Expansion</a:t>
            </a:r>
            <a:endParaRPr lang="en-US" sz="1200" dirty="0"/>
          </a:p>
        </p:txBody>
      </p:sp>
      <p:sp>
        <p:nvSpPr>
          <p:cNvPr id="15" name="Text 11"/>
          <p:cNvSpPr/>
          <p:nvPr/>
        </p:nvSpPr>
        <p:spPr>
          <a:xfrm>
            <a:off x="3390900" y="3141315"/>
            <a:ext cx="2362200" cy="554087"/>
          </a:xfrm>
          <a:prstGeom prst="rect">
            <a:avLst/>
          </a:prstGeom>
          <a:noFill/>
          <a:ln/>
        </p:spPr>
        <p:txBody>
          <a:bodyPr wrap="square" lIns="66675" tIns="0" rIns="0" bIns="0" rtlCol="0" anchor="t"/>
          <a:lstStyle/>
          <a:p>
            <a:pPr algn="l" marL="66675" indent="-66675">
              <a:lnSpc>
                <a:spcPts val="1155"/>
              </a:lnSpc>
              <a:spcAft>
                <a:spcPts val="600"/>
              </a:spcAft>
              <a:buSzPct val="100000"/>
              <a:buChar char="•"/>
            </a:pPr>
            <a:r>
              <a:rPr lang="en-US" sz="825" dirty="0">
                <a:solidFill>
                  <a:srgbClr val="FFFFFF"/>
                </a:solidFill>
                <a:latin typeface="Arial" pitchFamily="34" charset="0"/>
                <a:ea typeface="Arial" pitchFamily="34" charset="-122"/>
                <a:cs typeface="Arial" pitchFamily="34" charset="-120"/>
              </a:rPr>
              <a:t>Leverage: 5,000+ SMB proof points → "If it works for them, why not us?"</a:t>
            </a:r>
            <a:endParaRPr lang="en-US" sz="825" dirty="0"/>
          </a:p>
          <a:p>
            <a:pPr algn="l" marL="66675" indent="-66675">
              <a:lnSpc>
                <a:spcPts val="1155"/>
              </a:lnSpc>
              <a:spcAft>
                <a:spcPts val="600"/>
              </a:spcAft>
              <a:buSzPct val="100000"/>
              <a:buChar char="•"/>
            </a:pPr>
            <a:r>
              <a:rPr lang="en-US" sz="825" b="1" dirty="0">
                <a:solidFill>
                  <a:srgbClr val="01A9DB"/>
                </a:solidFill>
                <a:latin typeface="Arial" pitchFamily="34" charset="0"/>
                <a:ea typeface="Arial" pitchFamily="34" charset="-122"/>
                <a:cs typeface="Arial" pitchFamily="34" charset="-120"/>
              </a:rPr>
              <a:t>Target:</a:t>
            </a:r>
            <a:pPr algn="l" indent="0" marL="0">
              <a:lnSpc>
                <a:spcPts val="1155"/>
              </a:lnSpc>
              <a:spcAft>
                <a:spcPts val="600"/>
              </a:spcAft>
              <a:buNone/>
            </a:pPr>
            <a:r>
              <a:rPr lang="en-US" sz="825" dirty="0">
                <a:solidFill>
                  <a:srgbClr val="FFFFFF"/>
                </a:solidFill>
                <a:latin typeface="Arial" pitchFamily="34" charset="0"/>
                <a:ea typeface="Arial" pitchFamily="34" charset="-122"/>
                <a:cs typeface="Arial" pitchFamily="34" charset="-120"/>
              </a:rPr>
              <a:t> 200K free → 4K paying → $5-10M ARR</a:t>
            </a:r>
            <a:endParaRPr lang="en-US" sz="825" dirty="0"/>
          </a:p>
        </p:txBody>
      </p:sp>
      <p:pic>
        <p:nvPicPr>
          <p:cNvPr id="16" name="Image 2" descr="/tmp/rasterized-gradient-3a1b2864.png">    </p:cNvPr>
          <p:cNvPicPr>
            <a:picLocks noChangeAspect="1"/>
          </p:cNvPicPr>
          <p:nvPr/>
        </p:nvPicPr>
        <p:blipFill>
          <a:blip r:embed="rId3"/>
          <a:stretch>
            <a:fillRect/>
          </a:stretch>
        </p:blipFill>
        <p:spPr>
          <a:xfrm>
            <a:off x="6096000" y="952500"/>
            <a:ext cx="2667000" cy="3962400"/>
          </a:xfrm>
          <a:prstGeom prst="rect">
            <a:avLst/>
          </a:prstGeom>
        </p:spPr>
      </p:pic>
      <p:sp>
        <p:nvSpPr>
          <p:cNvPr id="17" name="Text 12"/>
          <p:cNvSpPr/>
          <p:nvPr/>
        </p:nvSpPr>
        <p:spPr>
          <a:xfrm>
            <a:off x="6248400" y="1968103"/>
            <a:ext cx="2362200" cy="260896"/>
          </a:xfrm>
          <a:prstGeom prst="roundRect">
            <a:avLst>
              <a:gd name="adj" fmla="val 14604"/>
            </a:avLst>
          </a:prstGeom>
          <a:solidFill>
            <a:srgbClr val="FB4100"/>
          </a:solidFill>
          <a:ln/>
        </p:spPr>
        <p:txBody>
          <a:bodyPr wrap="square" rtlCol="0" anchor="ctr"/>
          <a:lstStyle/>
          <a:p>
            <a:pPr indent="0" marL="0">
              <a:buNone/>
            </a:pPr>
            <a:endParaRPr lang="en-US" dirty="0"/>
          </a:p>
        </p:txBody>
      </p:sp>
      <p:sp>
        <p:nvSpPr>
          <p:cNvPr id="18" name="Text 13"/>
          <p:cNvSpPr/>
          <p:nvPr/>
        </p:nvSpPr>
        <p:spPr>
          <a:xfrm>
            <a:off x="6362700" y="2025253"/>
            <a:ext cx="2176272"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PHASE 3: Y3+</a:t>
            </a:r>
            <a:endParaRPr lang="en-US" sz="825" dirty="0"/>
          </a:p>
        </p:txBody>
      </p:sp>
      <p:sp>
        <p:nvSpPr>
          <p:cNvPr id="19" name="Text 14"/>
          <p:cNvSpPr/>
          <p:nvPr/>
        </p:nvSpPr>
        <p:spPr>
          <a:xfrm>
            <a:off x="6248400" y="2476649"/>
            <a:ext cx="2409444" cy="213271"/>
          </a:xfrm>
          <a:prstGeom prst="rect">
            <a:avLst/>
          </a:prstGeom>
          <a:noFill/>
          <a:ln/>
        </p:spPr>
        <p:txBody>
          <a:bodyPr wrap="square" lIns="0" tIns="0" rIns="0" bIns="0" rtlCol="0" anchor="t"/>
          <a:lstStyle/>
          <a:p>
            <a:pPr algn="l" indent="0" marL="0">
              <a:lnSpc>
                <a:spcPts val="1680"/>
              </a:lnSpc>
              <a:spcAft>
                <a:spcPts val="750"/>
              </a:spcAft>
              <a:buNone/>
            </a:pPr>
            <a:r>
              <a:rPr lang="en-US" sz="1200" b="1" dirty="0">
                <a:solidFill>
                  <a:srgbClr val="FFFFFF"/>
                </a:solidFill>
                <a:latin typeface="Arial" pitchFamily="34" charset="0"/>
                <a:ea typeface="Arial" pitchFamily="34" charset="-122"/>
                <a:cs typeface="Arial" pitchFamily="34" charset="-120"/>
              </a:rPr>
              <a:t>Enterprise &amp; Vertical</a:t>
            </a:r>
            <a:endParaRPr lang="en-US" sz="1200" dirty="0"/>
          </a:p>
        </p:txBody>
      </p:sp>
      <p:sp>
        <p:nvSpPr>
          <p:cNvPr id="20" name="Text 15"/>
          <p:cNvSpPr/>
          <p:nvPr/>
        </p:nvSpPr>
        <p:spPr>
          <a:xfrm>
            <a:off x="6248400" y="2937570"/>
            <a:ext cx="2362200" cy="961579"/>
          </a:xfrm>
          <a:prstGeom prst="rect">
            <a:avLst/>
          </a:prstGeom>
          <a:noFill/>
          <a:ln/>
        </p:spPr>
        <p:txBody>
          <a:bodyPr wrap="square" lIns="66675" tIns="0" rIns="0" bIns="0" rtlCol="0" anchor="t"/>
          <a:lstStyle/>
          <a:p>
            <a:pPr algn="l" marL="66675" indent="-66675">
              <a:lnSpc>
                <a:spcPts val="1155"/>
              </a:lnSpc>
              <a:spcAft>
                <a:spcPts val="600"/>
              </a:spcAft>
              <a:buSzPct val="100000"/>
              <a:buChar char="•"/>
            </a:pPr>
            <a:r>
              <a:rPr lang="en-US" sz="825" dirty="0">
                <a:solidFill>
                  <a:srgbClr val="FFFFFF"/>
                </a:solidFill>
                <a:latin typeface="Arial" pitchFamily="34" charset="0"/>
                <a:ea typeface="Arial" pitchFamily="34" charset="-122"/>
                <a:cs typeface="Arial" pitchFamily="34" charset="-120"/>
              </a:rPr>
              <a:t>Strategy: Grassroots adoption + unmatched peer benchmarking</a:t>
            </a:r>
            <a:endParaRPr lang="en-US" sz="825" dirty="0"/>
          </a:p>
          <a:p>
            <a:pPr algn="l" marL="66675" indent="-66675">
              <a:lnSpc>
                <a:spcPts val="1155"/>
              </a:lnSpc>
              <a:spcAft>
                <a:spcPts val="600"/>
              </a:spcAft>
              <a:buSzPct val="100000"/>
              <a:buChar char="•"/>
            </a:pPr>
            <a:r>
              <a:rPr lang="en-US" sz="825" b="1" dirty="0">
                <a:solidFill>
                  <a:srgbClr val="01A9DB"/>
                </a:solidFill>
                <a:latin typeface="Arial" pitchFamily="34" charset="0"/>
                <a:ea typeface="Arial" pitchFamily="34" charset="-122"/>
                <a:cs typeface="Arial" pitchFamily="34" charset="-120"/>
              </a:rPr>
              <a:t>Target:</a:t>
            </a:r>
            <a:pPr algn="l" indent="0" marL="0">
              <a:lnSpc>
                <a:spcPts val="1155"/>
              </a:lnSpc>
              <a:spcAft>
                <a:spcPts val="600"/>
              </a:spcAft>
              <a:buNone/>
            </a:pPr>
            <a:r>
              <a:rPr lang="en-US" sz="825" dirty="0">
                <a:solidFill>
                  <a:srgbClr val="FFFFFF"/>
                </a:solidFill>
                <a:latin typeface="Arial" pitchFamily="34" charset="0"/>
                <a:ea typeface="Arial" pitchFamily="34" charset="-122"/>
                <a:cs typeface="Arial" pitchFamily="34" charset="-120"/>
              </a:rPr>
              <a:t> 500K+ free → 10K+ paying → $20-40M+ ARR</a:t>
            </a:r>
            <a:endParaRPr lang="en-US" sz="825" dirty="0"/>
          </a:p>
          <a:p>
            <a:pPr algn="l" marL="66675" indent="-66675">
              <a:lnSpc>
                <a:spcPts val="1155"/>
              </a:lnSpc>
              <a:spcAft>
                <a:spcPts val="600"/>
              </a:spcAft>
              <a:buSzPct val="100000"/>
              <a:buChar char="•"/>
            </a:pPr>
            <a:r>
              <a:rPr lang="en-US" sz="825" dirty="0">
                <a:solidFill>
                  <a:srgbClr val="FFFFFF"/>
                </a:solidFill>
                <a:latin typeface="Arial" pitchFamily="34" charset="0"/>
                <a:ea typeface="Arial" pitchFamily="34" charset="-122"/>
                <a:cs typeface="Arial" pitchFamily="34" charset="-120"/>
              </a:rPr>
              <a:t>Expand: Finance, IT, HR, Support operations</a:t>
            </a:r>
            <a:endParaRPr lang="en-US" sz="825" dirty="0"/>
          </a:p>
        </p:txBody>
      </p:sp>
      <p:sp>
        <p:nvSpPr>
          <p:cNvPr id="21" name="Text 16"/>
          <p:cNvSpPr/>
          <p:nvPr/>
        </p:nvSpPr>
        <p:spPr>
          <a:xfrm>
            <a:off x="8733234" y="4743450"/>
            <a:ext cx="108085"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4741164" cy="304800"/>
          </a:xfrm>
          <a:prstGeom prst="rect">
            <a:avLst/>
          </a:prstGeom>
          <a:noFill/>
          <a:ln/>
        </p:spPr>
        <p:txBody>
          <a:bodyPr wrap="square" lIns="0" tIns="0" rIns="0" bIns="0" rtlCol="0" anchor="t"/>
          <a:lstStyle/>
          <a:p>
            <a:pPr algn="l" indent="0" marL="0">
              <a:lnSpc>
                <a:spcPts val="2400"/>
              </a:lnSpc>
              <a:spcAft>
                <a:spcPts val="300"/>
              </a:spcAft>
              <a:buNone/>
            </a:pPr>
            <a:r>
              <a:rPr lang="en-US" sz="2400" b="1" dirty="0">
                <a:solidFill>
                  <a:srgbClr val="07253D"/>
                </a:solidFill>
                <a:latin typeface="Arial" pitchFamily="34" charset="0"/>
                <a:ea typeface="Arial" pitchFamily="34" charset="-122"/>
                <a:cs typeface="Arial" pitchFamily="34" charset="-120"/>
              </a:rPr>
              <a:t>Expansion &amp; Retention Strategy</a:t>
            </a:r>
            <a:endParaRPr lang="en-US" sz="2400" dirty="0"/>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indent="0" marL="0">
              <a:buNone/>
            </a:pPr>
            <a:endParaRPr lang="en-US" dirty="0"/>
          </a:p>
        </p:txBody>
      </p:sp>
      <p:sp>
        <p:nvSpPr>
          <p:cNvPr id="6" name="Text 4"/>
          <p:cNvSpPr/>
          <p:nvPr/>
        </p:nvSpPr>
        <p:spPr>
          <a:xfrm>
            <a:off x="381000" y="1879402"/>
            <a:ext cx="4574027" cy="186630"/>
          </a:xfrm>
          <a:prstGeom prst="rect">
            <a:avLst/>
          </a:prstGeom>
          <a:noFill/>
          <a:ln/>
        </p:spPr>
        <p:txBody>
          <a:bodyPr wrap="square" lIns="0" tIns="0" rIns="0" bIns="0" rtlCol="0" anchor="t"/>
          <a:lstStyle/>
          <a:p>
            <a:pPr algn="l" indent="0" marL="0">
              <a:lnSpc>
                <a:spcPts val="1470"/>
              </a:lnSpc>
              <a:spcAft>
                <a:spcPts val="900"/>
              </a:spcAft>
              <a:buNone/>
            </a:pPr>
            <a:r>
              <a:rPr lang="en-US" sz="1050" b="1" dirty="0">
                <a:solidFill>
                  <a:srgbClr val="01A9DB"/>
                </a:solidFill>
                <a:latin typeface="Arial" pitchFamily="34" charset="0"/>
                <a:ea typeface="Arial" pitchFamily="34" charset="-122"/>
                <a:cs typeface="Arial" pitchFamily="34" charset="-120"/>
              </a:rPr>
              <a:t>Expansion Revenue Levers</a:t>
            </a:r>
            <a:endParaRPr lang="en-US" sz="1050" dirty="0"/>
          </a:p>
        </p:txBody>
      </p:sp>
      <p:sp>
        <p:nvSpPr>
          <p:cNvPr id="7" name="Text 5"/>
          <p:cNvSpPr/>
          <p:nvPr/>
        </p:nvSpPr>
        <p:spPr>
          <a:xfrm>
            <a:off x="381000" y="2332732"/>
            <a:ext cx="1905000" cy="350490"/>
          </a:xfrm>
          <a:prstGeom prst="roundRect">
            <a:avLst>
              <a:gd name="adj" fmla="val 10870"/>
            </a:avLst>
          </a:prstGeom>
          <a:solidFill>
            <a:srgbClr val="07253D"/>
          </a:solidFill>
          <a:ln/>
        </p:spPr>
        <p:txBody>
          <a:bodyPr wrap="square" rtlCol="0" anchor="ctr"/>
          <a:lstStyle/>
          <a:p>
            <a:pPr indent="0" marL="0">
              <a:buNone/>
            </a:pPr>
            <a:endParaRPr lang="en-US" dirty="0"/>
          </a:p>
        </p:txBody>
      </p:sp>
      <p:sp>
        <p:nvSpPr>
          <p:cNvPr id="8" name="Text 6"/>
          <p:cNvSpPr/>
          <p:nvPr/>
        </p:nvSpPr>
        <p:spPr>
          <a:xfrm>
            <a:off x="533400" y="2427982"/>
            <a:ext cx="1632204" cy="159990"/>
          </a:xfrm>
          <a:prstGeom prst="rect">
            <a:avLst/>
          </a:prstGeom>
          <a:noFill/>
          <a:ln/>
        </p:spPr>
        <p:txBody>
          <a:bodyPr wrap="square" lIns="0" tIns="0" rIns="0" bIns="0" rtlCol="0" anchor="t"/>
          <a:lstStyle/>
          <a:p>
            <a:pPr algn="l" indent="0" marL="0">
              <a:lnSpc>
                <a:spcPts val="1260"/>
              </a:lnSpc>
              <a:buNone/>
            </a:pPr>
            <a:r>
              <a:rPr lang="en-US" sz="900" b="1" dirty="0">
                <a:solidFill>
                  <a:srgbClr val="01A9DB"/>
                </a:solidFill>
                <a:latin typeface="Arial" pitchFamily="34" charset="0"/>
                <a:ea typeface="Arial" pitchFamily="34" charset="-122"/>
                <a:cs typeface="Arial" pitchFamily="34" charset="-120"/>
              </a:rPr>
              <a:t>Explore → Mine</a:t>
            </a:r>
            <a:endParaRPr lang="en-US" sz="900" dirty="0"/>
          </a:p>
        </p:txBody>
      </p:sp>
      <p:sp>
        <p:nvSpPr>
          <p:cNvPr id="9" name="Text 7"/>
          <p:cNvSpPr/>
          <p:nvPr/>
        </p:nvSpPr>
        <p:spPr>
          <a:xfrm>
            <a:off x="2400300" y="2374553"/>
            <a:ext cx="388924" cy="266700"/>
          </a:xfrm>
          <a:prstGeom prst="rect">
            <a:avLst/>
          </a:prstGeom>
          <a:noFill/>
          <a:ln/>
        </p:spPr>
        <p:txBody>
          <a:bodyPr wrap="square" lIns="0" tIns="0" rIns="0" bIns="0" rtlCol="0" anchor="t"/>
          <a:lstStyle/>
          <a:p>
            <a:pPr algn="l" indent="0" marL="0">
              <a:lnSpc>
                <a:spcPts val="2100"/>
              </a:lnSpc>
              <a:buNone/>
            </a:pPr>
            <a:r>
              <a:rPr lang="en-US" sz="1500" b="1" dirty="0">
                <a:solidFill>
                  <a:srgbClr val="01A9DB"/>
                </a:solidFill>
                <a:latin typeface="Arial" pitchFamily="34" charset="0"/>
                <a:ea typeface="Arial" pitchFamily="34" charset="-122"/>
                <a:cs typeface="Arial" pitchFamily="34" charset="-120"/>
              </a:rPr>
              <a:t>60%</a:t>
            </a:r>
            <a:endParaRPr lang="en-US" sz="1500" dirty="0"/>
          </a:p>
        </p:txBody>
      </p:sp>
      <p:sp>
        <p:nvSpPr>
          <p:cNvPr id="10" name="Text 8"/>
          <p:cNvSpPr/>
          <p:nvPr/>
        </p:nvSpPr>
        <p:spPr>
          <a:xfrm>
            <a:off x="2895898" y="2434679"/>
            <a:ext cx="516895" cy="146596"/>
          </a:xfrm>
          <a:prstGeom prst="rect">
            <a:avLst/>
          </a:prstGeom>
          <a:noFill/>
          <a:ln/>
        </p:spPr>
        <p:txBody>
          <a:bodyPr wrap="square" lIns="0" tIns="0" rIns="0" bIns="0" rtlCol="0" anchor="t"/>
          <a:lstStyle/>
          <a:p>
            <a:pPr algn="l" indent="0" marL="0">
              <a:lnSpc>
                <a:spcPts val="1155"/>
              </a:lnSpc>
              <a:buNone/>
            </a:pPr>
            <a:r>
              <a:rPr lang="en-US" sz="825" dirty="0">
                <a:solidFill>
                  <a:srgbClr val="44546A"/>
                </a:solidFill>
                <a:latin typeface="Arial" pitchFamily="34" charset="0"/>
                <a:ea typeface="Arial" pitchFamily="34" charset="-122"/>
                <a:cs typeface="Arial" pitchFamily="34" charset="-120"/>
              </a:rPr>
              <a:t>conversion</a:t>
            </a:r>
            <a:endParaRPr lang="en-US" sz="825" dirty="0"/>
          </a:p>
        </p:txBody>
      </p:sp>
      <p:sp>
        <p:nvSpPr>
          <p:cNvPr id="11" name="Text 9"/>
          <p:cNvSpPr/>
          <p:nvPr/>
        </p:nvSpPr>
        <p:spPr>
          <a:xfrm>
            <a:off x="381000" y="2759422"/>
            <a:ext cx="1905000" cy="350490"/>
          </a:xfrm>
          <a:prstGeom prst="roundRect">
            <a:avLst>
              <a:gd name="adj" fmla="val 10870"/>
            </a:avLst>
          </a:prstGeom>
          <a:solidFill>
            <a:srgbClr val="07253D"/>
          </a:solidFill>
          <a:ln/>
        </p:spPr>
        <p:txBody>
          <a:bodyPr wrap="square" rtlCol="0" anchor="ctr"/>
          <a:lstStyle/>
          <a:p>
            <a:pPr indent="0" marL="0">
              <a:buNone/>
            </a:pPr>
            <a:endParaRPr lang="en-US" dirty="0"/>
          </a:p>
        </p:txBody>
      </p:sp>
      <p:sp>
        <p:nvSpPr>
          <p:cNvPr id="12" name="Text 10"/>
          <p:cNvSpPr/>
          <p:nvPr/>
        </p:nvSpPr>
        <p:spPr>
          <a:xfrm>
            <a:off x="533400" y="2854672"/>
            <a:ext cx="1632204" cy="159990"/>
          </a:xfrm>
          <a:prstGeom prst="rect">
            <a:avLst/>
          </a:prstGeom>
          <a:noFill/>
          <a:ln/>
        </p:spPr>
        <p:txBody>
          <a:bodyPr wrap="square" lIns="0" tIns="0" rIns="0" bIns="0" rtlCol="0" anchor="t"/>
          <a:lstStyle/>
          <a:p>
            <a:pPr algn="l" indent="0" marL="0">
              <a:lnSpc>
                <a:spcPts val="1260"/>
              </a:lnSpc>
              <a:buNone/>
            </a:pPr>
            <a:r>
              <a:rPr lang="en-US" sz="900" b="1" dirty="0">
                <a:solidFill>
                  <a:srgbClr val="01A9DB"/>
                </a:solidFill>
                <a:latin typeface="Arial" pitchFamily="34" charset="0"/>
                <a:ea typeface="Arial" pitchFamily="34" charset="-122"/>
                <a:cs typeface="Arial" pitchFamily="34" charset="-120"/>
              </a:rPr>
              <a:t>Mine → Design</a:t>
            </a:r>
            <a:endParaRPr lang="en-US" sz="900" dirty="0"/>
          </a:p>
        </p:txBody>
      </p:sp>
      <p:sp>
        <p:nvSpPr>
          <p:cNvPr id="13" name="Text 11"/>
          <p:cNvSpPr/>
          <p:nvPr/>
        </p:nvSpPr>
        <p:spPr>
          <a:xfrm>
            <a:off x="2400300" y="2801243"/>
            <a:ext cx="388924" cy="266700"/>
          </a:xfrm>
          <a:prstGeom prst="rect">
            <a:avLst/>
          </a:prstGeom>
          <a:noFill/>
          <a:ln/>
        </p:spPr>
        <p:txBody>
          <a:bodyPr wrap="square" lIns="0" tIns="0" rIns="0" bIns="0" rtlCol="0" anchor="t"/>
          <a:lstStyle/>
          <a:p>
            <a:pPr algn="l" indent="0" marL="0">
              <a:lnSpc>
                <a:spcPts val="2100"/>
              </a:lnSpc>
              <a:buNone/>
            </a:pPr>
            <a:r>
              <a:rPr lang="en-US" sz="1500" b="1" dirty="0">
                <a:solidFill>
                  <a:srgbClr val="01A9DB"/>
                </a:solidFill>
                <a:latin typeface="Arial" pitchFamily="34" charset="0"/>
                <a:ea typeface="Arial" pitchFamily="34" charset="-122"/>
                <a:cs typeface="Arial" pitchFamily="34" charset="-120"/>
              </a:rPr>
              <a:t>40%</a:t>
            </a:r>
            <a:endParaRPr lang="en-US" sz="1500" dirty="0"/>
          </a:p>
        </p:txBody>
      </p:sp>
      <p:sp>
        <p:nvSpPr>
          <p:cNvPr id="14" name="Text 12"/>
          <p:cNvSpPr/>
          <p:nvPr/>
        </p:nvSpPr>
        <p:spPr>
          <a:xfrm>
            <a:off x="2895898" y="2861370"/>
            <a:ext cx="516895" cy="146596"/>
          </a:xfrm>
          <a:prstGeom prst="rect">
            <a:avLst/>
          </a:prstGeom>
          <a:noFill/>
          <a:ln/>
        </p:spPr>
        <p:txBody>
          <a:bodyPr wrap="square" lIns="0" tIns="0" rIns="0" bIns="0" rtlCol="0" anchor="t"/>
          <a:lstStyle/>
          <a:p>
            <a:pPr algn="l" indent="0" marL="0">
              <a:lnSpc>
                <a:spcPts val="1155"/>
              </a:lnSpc>
              <a:buNone/>
            </a:pPr>
            <a:r>
              <a:rPr lang="en-US" sz="825" dirty="0">
                <a:solidFill>
                  <a:srgbClr val="44546A"/>
                </a:solidFill>
                <a:latin typeface="Arial" pitchFamily="34" charset="0"/>
                <a:ea typeface="Arial" pitchFamily="34" charset="-122"/>
                <a:cs typeface="Arial" pitchFamily="34" charset="-120"/>
              </a:rPr>
              <a:t>conversion</a:t>
            </a:r>
            <a:endParaRPr lang="en-US" sz="825" dirty="0"/>
          </a:p>
        </p:txBody>
      </p:sp>
      <p:sp>
        <p:nvSpPr>
          <p:cNvPr id="15" name="Text 13"/>
          <p:cNvSpPr/>
          <p:nvPr/>
        </p:nvSpPr>
        <p:spPr>
          <a:xfrm>
            <a:off x="381000" y="3186113"/>
            <a:ext cx="1905000" cy="350490"/>
          </a:xfrm>
          <a:prstGeom prst="roundRect">
            <a:avLst>
              <a:gd name="adj" fmla="val 10870"/>
            </a:avLst>
          </a:prstGeom>
          <a:solidFill>
            <a:srgbClr val="07253D"/>
          </a:solidFill>
          <a:ln/>
        </p:spPr>
        <p:txBody>
          <a:bodyPr wrap="square" rtlCol="0" anchor="ctr"/>
          <a:lstStyle/>
          <a:p>
            <a:pPr indent="0" marL="0">
              <a:buNone/>
            </a:pPr>
            <a:endParaRPr lang="en-US" dirty="0"/>
          </a:p>
        </p:txBody>
      </p:sp>
      <p:sp>
        <p:nvSpPr>
          <p:cNvPr id="16" name="Text 14"/>
          <p:cNvSpPr/>
          <p:nvPr/>
        </p:nvSpPr>
        <p:spPr>
          <a:xfrm>
            <a:off x="533400" y="3281363"/>
            <a:ext cx="1632204" cy="159990"/>
          </a:xfrm>
          <a:prstGeom prst="rect">
            <a:avLst/>
          </a:prstGeom>
          <a:noFill/>
          <a:ln/>
        </p:spPr>
        <p:txBody>
          <a:bodyPr wrap="square" lIns="0" tIns="0" rIns="0" bIns="0" rtlCol="0" anchor="t"/>
          <a:lstStyle/>
          <a:p>
            <a:pPr algn="l" indent="0" marL="0">
              <a:lnSpc>
                <a:spcPts val="1260"/>
              </a:lnSpc>
              <a:buNone/>
            </a:pPr>
            <a:r>
              <a:rPr lang="en-US" sz="900" b="1" dirty="0">
                <a:solidFill>
                  <a:srgbClr val="01A9DB"/>
                </a:solidFill>
                <a:latin typeface="Arial" pitchFamily="34" charset="0"/>
                <a:ea typeface="Arial" pitchFamily="34" charset="-122"/>
                <a:cs typeface="Arial" pitchFamily="34" charset="-120"/>
              </a:rPr>
              <a:t>Design → Manage</a:t>
            </a:r>
            <a:endParaRPr lang="en-US" sz="900" dirty="0"/>
          </a:p>
        </p:txBody>
      </p:sp>
      <p:sp>
        <p:nvSpPr>
          <p:cNvPr id="17" name="Text 15"/>
          <p:cNvSpPr/>
          <p:nvPr/>
        </p:nvSpPr>
        <p:spPr>
          <a:xfrm>
            <a:off x="2400300" y="3227933"/>
            <a:ext cx="388924" cy="266700"/>
          </a:xfrm>
          <a:prstGeom prst="rect">
            <a:avLst/>
          </a:prstGeom>
          <a:noFill/>
          <a:ln/>
        </p:spPr>
        <p:txBody>
          <a:bodyPr wrap="square" lIns="0" tIns="0" rIns="0" bIns="0" rtlCol="0" anchor="t"/>
          <a:lstStyle/>
          <a:p>
            <a:pPr algn="l" indent="0" marL="0">
              <a:lnSpc>
                <a:spcPts val="2100"/>
              </a:lnSpc>
              <a:buNone/>
            </a:pPr>
            <a:r>
              <a:rPr lang="en-US" sz="1500" b="1" dirty="0">
                <a:solidFill>
                  <a:srgbClr val="01A9DB"/>
                </a:solidFill>
                <a:latin typeface="Arial" pitchFamily="34" charset="0"/>
                <a:ea typeface="Arial" pitchFamily="34" charset="-122"/>
                <a:cs typeface="Arial" pitchFamily="34" charset="-120"/>
              </a:rPr>
              <a:t>50%</a:t>
            </a:r>
            <a:endParaRPr lang="en-US" sz="1500" dirty="0"/>
          </a:p>
        </p:txBody>
      </p:sp>
      <p:sp>
        <p:nvSpPr>
          <p:cNvPr id="18" name="Text 16"/>
          <p:cNvSpPr/>
          <p:nvPr/>
        </p:nvSpPr>
        <p:spPr>
          <a:xfrm>
            <a:off x="2895898" y="3288060"/>
            <a:ext cx="516895" cy="146596"/>
          </a:xfrm>
          <a:prstGeom prst="rect">
            <a:avLst/>
          </a:prstGeom>
          <a:noFill/>
          <a:ln/>
        </p:spPr>
        <p:txBody>
          <a:bodyPr wrap="square" lIns="0" tIns="0" rIns="0" bIns="0" rtlCol="0" anchor="t"/>
          <a:lstStyle/>
          <a:p>
            <a:pPr algn="l" indent="0" marL="0">
              <a:lnSpc>
                <a:spcPts val="1155"/>
              </a:lnSpc>
              <a:buNone/>
            </a:pPr>
            <a:r>
              <a:rPr lang="en-US" sz="825" dirty="0">
                <a:solidFill>
                  <a:srgbClr val="44546A"/>
                </a:solidFill>
                <a:latin typeface="Arial" pitchFamily="34" charset="0"/>
                <a:ea typeface="Arial" pitchFamily="34" charset="-122"/>
                <a:cs typeface="Arial" pitchFamily="34" charset="-120"/>
              </a:rPr>
              <a:t>conversion</a:t>
            </a:r>
            <a:endParaRPr lang="en-US" sz="825" dirty="0"/>
          </a:p>
        </p:txBody>
      </p:sp>
      <p:sp>
        <p:nvSpPr>
          <p:cNvPr id="19" name="Text 17"/>
          <p:cNvSpPr/>
          <p:nvPr/>
        </p:nvSpPr>
        <p:spPr>
          <a:xfrm>
            <a:off x="381000" y="3650903"/>
            <a:ext cx="4484340" cy="337096"/>
          </a:xfrm>
          <a:prstGeom prst="roundRect">
            <a:avLst>
              <a:gd name="adj" fmla="val 11302"/>
            </a:avLst>
          </a:prstGeom>
          <a:solidFill>
            <a:srgbClr val="F5F7FA"/>
          </a:solidFill>
          <a:ln/>
        </p:spPr>
        <p:txBody>
          <a:bodyPr wrap="square" rtlCol="0" anchor="ctr"/>
          <a:lstStyle/>
          <a:p>
            <a:pPr indent="0" marL="0">
              <a:buNone/>
            </a:pPr>
            <a:endParaRPr lang="en-US" dirty="0"/>
          </a:p>
        </p:txBody>
      </p:sp>
      <p:sp>
        <p:nvSpPr>
          <p:cNvPr id="20" name="Text 18"/>
          <p:cNvSpPr/>
          <p:nvPr/>
        </p:nvSpPr>
        <p:spPr>
          <a:xfrm>
            <a:off x="495300" y="3746153"/>
            <a:ext cx="4340855" cy="146596"/>
          </a:xfrm>
          <a:prstGeom prst="rect">
            <a:avLst/>
          </a:prstGeom>
          <a:noFill/>
          <a:ln/>
        </p:spPr>
        <p:txBody>
          <a:bodyPr wrap="square" lIns="0" tIns="0" rIns="0" bIns="0" rtlCol="0" anchor="t"/>
          <a:lstStyle/>
          <a:p>
            <a:pPr algn="l" indent="0" marL="0">
              <a:lnSpc>
                <a:spcPts val="1155"/>
              </a:lnSpc>
              <a:buNone/>
            </a:pPr>
            <a:r>
              <a:rPr lang="en-US" sz="825" b="1" dirty="0">
                <a:solidFill>
                  <a:srgbClr val="07253D"/>
                </a:solidFill>
                <a:latin typeface="Arial" pitchFamily="34" charset="0"/>
                <a:ea typeface="Arial" pitchFamily="34" charset="-122"/>
                <a:cs typeface="Arial" pitchFamily="34" charset="-120"/>
              </a:rPr>
              <a:t>Cross-team adoption:</a:t>
            </a:r>
            <a:pPr algn="l" indent="0" marL="0">
              <a:lnSpc>
                <a:spcPts val="1155"/>
              </a:lnSpc>
              <a:buNone/>
            </a:pPr>
            <a:r>
              <a:rPr lang="en-US" sz="825" dirty="0">
                <a:solidFill>
                  <a:srgbClr val="07253D"/>
                </a:solidFill>
                <a:latin typeface="Arial" pitchFamily="34" charset="0"/>
                <a:ea typeface="Arial" pitchFamily="34" charset="-122"/>
                <a:cs typeface="Arial" pitchFamily="34" charset="-120"/>
              </a:rPr>
              <a:t> Finance, Operations, HR teams using Helm independently</a:t>
            </a:r>
            <a:endParaRPr lang="en-US" sz="825" dirty="0"/>
          </a:p>
        </p:txBody>
      </p:sp>
      <p:sp>
        <p:nvSpPr>
          <p:cNvPr id="21" name="Text 19"/>
          <p:cNvSpPr/>
          <p:nvPr/>
        </p:nvSpPr>
        <p:spPr>
          <a:xfrm>
            <a:off x="5093940" y="1458516"/>
            <a:ext cx="3742441" cy="186630"/>
          </a:xfrm>
          <a:prstGeom prst="rect">
            <a:avLst/>
          </a:prstGeom>
          <a:noFill/>
          <a:ln/>
        </p:spPr>
        <p:txBody>
          <a:bodyPr wrap="square" lIns="0" tIns="0" rIns="0" bIns="0" rtlCol="0" anchor="t"/>
          <a:lstStyle/>
          <a:p>
            <a:pPr algn="l" indent="0" marL="0">
              <a:lnSpc>
                <a:spcPts val="1470"/>
              </a:lnSpc>
              <a:spcAft>
                <a:spcPts val="900"/>
              </a:spcAft>
              <a:buNone/>
            </a:pPr>
            <a:r>
              <a:rPr lang="en-US" sz="1050" b="1" dirty="0">
                <a:solidFill>
                  <a:srgbClr val="01A9DB"/>
                </a:solidFill>
                <a:latin typeface="Arial" pitchFamily="34" charset="0"/>
                <a:ea typeface="Arial" pitchFamily="34" charset="-122"/>
                <a:cs typeface="Arial" pitchFamily="34" charset="-120"/>
              </a:rPr>
              <a:t>Network Effects &amp; Retention</a:t>
            </a:r>
            <a:endParaRPr lang="en-US" sz="1050" dirty="0"/>
          </a:p>
        </p:txBody>
      </p:sp>
      <p:sp>
        <p:nvSpPr>
          <p:cNvPr id="22" name="Text 20"/>
          <p:cNvSpPr/>
          <p:nvPr/>
        </p:nvSpPr>
        <p:spPr>
          <a:xfrm>
            <a:off x="5093940" y="1911846"/>
            <a:ext cx="3669060" cy="2497038"/>
          </a:xfrm>
          <a:prstGeom prst="roundRect">
            <a:avLst>
              <a:gd name="adj" fmla="val 2289"/>
            </a:avLst>
          </a:prstGeom>
          <a:solidFill>
            <a:srgbClr val="07253D"/>
          </a:solidFill>
          <a:ln/>
        </p:spPr>
        <p:txBody>
          <a:bodyPr wrap="square" rtlCol="0" anchor="ctr"/>
          <a:lstStyle/>
          <a:p>
            <a:pPr indent="0" marL="0">
              <a:buNone/>
            </a:pPr>
            <a:endParaRPr lang="en-US" dirty="0"/>
          </a:p>
        </p:txBody>
      </p:sp>
      <p:sp>
        <p:nvSpPr>
          <p:cNvPr id="23" name="Text 21"/>
          <p:cNvSpPr/>
          <p:nvPr/>
        </p:nvSpPr>
        <p:spPr>
          <a:xfrm>
            <a:off x="5246340" y="2064246"/>
            <a:ext cx="3431545" cy="146596"/>
          </a:xfrm>
          <a:prstGeom prst="rect">
            <a:avLst/>
          </a:prstGeom>
          <a:noFill/>
          <a:ln/>
        </p:spPr>
        <p:txBody>
          <a:bodyPr wrap="square" lIns="0" tIns="0" rIns="0" bIns="0" rtlCol="0" anchor="t"/>
          <a:lstStyle/>
          <a:p>
            <a:pPr algn="l" indent="0" marL="0">
              <a:lnSpc>
                <a:spcPts val="1155"/>
              </a:lnSpc>
              <a:spcAft>
                <a:spcPts val="300"/>
              </a:spcAft>
              <a:buNone/>
            </a:pPr>
            <a:r>
              <a:rPr lang="en-US" sz="825" dirty="0">
                <a:solidFill>
                  <a:srgbClr val="FFFFFF"/>
                </a:solidFill>
                <a:latin typeface="Arial" pitchFamily="34" charset="0"/>
                <a:ea typeface="Arial" pitchFamily="34" charset="-122"/>
                <a:cs typeface="Arial" pitchFamily="34" charset="-120"/>
              </a:rPr>
              <a:t>Peer Benchmarking NDR</a:t>
            </a:r>
            <a:endParaRPr lang="en-US" sz="825" dirty="0"/>
          </a:p>
        </p:txBody>
      </p:sp>
      <p:sp>
        <p:nvSpPr>
          <p:cNvPr id="24" name="Text 22"/>
          <p:cNvSpPr/>
          <p:nvPr/>
        </p:nvSpPr>
        <p:spPr>
          <a:xfrm>
            <a:off x="5246340" y="2248942"/>
            <a:ext cx="3431545" cy="426690"/>
          </a:xfrm>
          <a:prstGeom prst="rect">
            <a:avLst/>
          </a:prstGeom>
          <a:noFill/>
          <a:ln/>
        </p:spPr>
        <p:txBody>
          <a:bodyPr wrap="square" lIns="0" tIns="0" rIns="0" bIns="0" rtlCol="0" anchor="t"/>
          <a:lstStyle/>
          <a:p>
            <a:pPr algn="l" indent="0" marL="0">
              <a:lnSpc>
                <a:spcPts val="3360"/>
              </a:lnSpc>
              <a:buNone/>
            </a:pPr>
            <a:r>
              <a:rPr lang="en-US" sz="2400" b="1" dirty="0">
                <a:solidFill>
                  <a:srgbClr val="01A9DB"/>
                </a:solidFill>
                <a:latin typeface="Arial" pitchFamily="34" charset="0"/>
                <a:ea typeface="Arial" pitchFamily="34" charset="-122"/>
                <a:cs typeface="Arial" pitchFamily="34" charset="-120"/>
              </a:rPr>
              <a:t>130-180%</a:t>
            </a:r>
            <a:endParaRPr lang="en-US" sz="2400" dirty="0"/>
          </a:p>
        </p:txBody>
      </p:sp>
      <p:sp>
        <p:nvSpPr>
          <p:cNvPr id="25" name="Text 23"/>
          <p:cNvSpPr/>
          <p:nvPr/>
        </p:nvSpPr>
        <p:spPr>
          <a:xfrm>
            <a:off x="5246340" y="2694682"/>
            <a:ext cx="3431545"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FFFFFF"/>
                </a:solidFill>
                <a:latin typeface="Arial" pitchFamily="34" charset="0"/>
                <a:ea typeface="Arial" pitchFamily="34" charset="-122"/>
                <a:cs typeface="Arial" pitchFamily="34" charset="-120"/>
              </a:rPr>
              <a:t>Driven by expansion revenue</a:t>
            </a:r>
            <a:endParaRPr lang="en-US" sz="750" dirty="0"/>
          </a:p>
        </p:txBody>
      </p:sp>
      <p:sp>
        <p:nvSpPr>
          <p:cNvPr id="26" name="Text 24"/>
          <p:cNvSpPr/>
          <p:nvPr/>
        </p:nvSpPr>
        <p:spPr>
          <a:xfrm>
            <a:off x="5246340" y="2961382"/>
            <a:ext cx="3431545" cy="146596"/>
          </a:xfrm>
          <a:prstGeom prst="rect">
            <a:avLst/>
          </a:prstGeom>
          <a:noFill/>
          <a:ln/>
        </p:spPr>
        <p:txBody>
          <a:bodyPr wrap="square" lIns="0" tIns="0" rIns="0" bIns="0" rtlCol="0" anchor="t"/>
          <a:lstStyle/>
          <a:p>
            <a:pPr algn="l" indent="0" marL="0">
              <a:lnSpc>
                <a:spcPts val="1155"/>
              </a:lnSpc>
              <a:spcAft>
                <a:spcPts val="300"/>
              </a:spcAft>
              <a:buNone/>
            </a:pPr>
            <a:r>
              <a:rPr lang="en-US" sz="825" dirty="0">
                <a:solidFill>
                  <a:srgbClr val="FFFFFF"/>
                </a:solidFill>
                <a:latin typeface="Arial" pitchFamily="34" charset="0"/>
                <a:ea typeface="Arial" pitchFamily="34" charset="-122"/>
                <a:cs typeface="Arial" pitchFamily="34" charset="-120"/>
              </a:rPr>
              <a:t>Fleet Learning</a:t>
            </a:r>
            <a:endParaRPr lang="en-US" sz="825" dirty="0"/>
          </a:p>
        </p:txBody>
      </p:sp>
      <p:sp>
        <p:nvSpPr>
          <p:cNvPr id="27" name="Text 25"/>
          <p:cNvSpPr/>
          <p:nvPr/>
        </p:nvSpPr>
        <p:spPr>
          <a:xfrm>
            <a:off x="5246340" y="3146078"/>
            <a:ext cx="3431545" cy="31998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Every new customer makes product smarter for all (true network effects)</a:t>
            </a:r>
            <a:endParaRPr lang="en-US" sz="900" dirty="0"/>
          </a:p>
        </p:txBody>
      </p:sp>
      <p:sp>
        <p:nvSpPr>
          <p:cNvPr id="28" name="Text 26"/>
          <p:cNvSpPr/>
          <p:nvPr/>
        </p:nvSpPr>
        <p:spPr>
          <a:xfrm>
            <a:off x="5246340" y="3599408"/>
            <a:ext cx="3431545" cy="146596"/>
          </a:xfrm>
          <a:prstGeom prst="rect">
            <a:avLst/>
          </a:prstGeom>
          <a:noFill/>
          <a:ln/>
        </p:spPr>
        <p:txBody>
          <a:bodyPr wrap="square" lIns="0" tIns="0" rIns="0" bIns="0" rtlCol="0" anchor="t"/>
          <a:lstStyle/>
          <a:p>
            <a:pPr algn="l" indent="0" marL="0">
              <a:lnSpc>
                <a:spcPts val="1155"/>
              </a:lnSpc>
              <a:spcAft>
                <a:spcPts val="300"/>
              </a:spcAft>
              <a:buNone/>
            </a:pPr>
            <a:r>
              <a:rPr lang="en-US" sz="825" dirty="0">
                <a:solidFill>
                  <a:srgbClr val="FFFFFF"/>
                </a:solidFill>
                <a:latin typeface="Arial" pitchFamily="34" charset="0"/>
                <a:ea typeface="Arial" pitchFamily="34" charset="-122"/>
                <a:cs typeface="Arial" pitchFamily="34" charset="-120"/>
              </a:rPr>
              <a:t>Viral Coefficient Target</a:t>
            </a:r>
            <a:endParaRPr lang="en-US" sz="825" dirty="0"/>
          </a:p>
        </p:txBody>
      </p:sp>
      <p:sp>
        <p:nvSpPr>
          <p:cNvPr id="29" name="Text 27"/>
          <p:cNvSpPr/>
          <p:nvPr/>
        </p:nvSpPr>
        <p:spPr>
          <a:xfrm>
            <a:off x="5246340" y="3784104"/>
            <a:ext cx="3431545" cy="319980"/>
          </a:xfrm>
          <a:prstGeom prst="rect">
            <a:avLst/>
          </a:prstGeom>
          <a:noFill/>
          <a:ln/>
        </p:spPr>
        <p:txBody>
          <a:bodyPr wrap="square" lIns="0" tIns="0" rIns="0" bIns="0" rtlCol="0" anchor="t"/>
          <a:lstStyle/>
          <a:p>
            <a:pPr algn="l" indent="0" marL="0">
              <a:lnSpc>
                <a:spcPts val="2520"/>
              </a:lnSpc>
              <a:buNone/>
            </a:pPr>
            <a:r>
              <a:rPr lang="en-US" sz="1800" b="1" dirty="0">
                <a:solidFill>
                  <a:srgbClr val="01A9DB"/>
                </a:solidFill>
                <a:latin typeface="Arial" pitchFamily="34" charset="0"/>
                <a:ea typeface="Arial" pitchFamily="34" charset="-122"/>
                <a:cs typeface="Arial" pitchFamily="34" charset="-120"/>
              </a:rPr>
              <a:t>NPS 50+</a:t>
            </a:r>
            <a:endParaRPr lang="en-US" sz="1800" dirty="0"/>
          </a:p>
        </p:txBody>
      </p:sp>
      <p:sp>
        <p:nvSpPr>
          <p:cNvPr id="30" name="Text 28"/>
          <p:cNvSpPr/>
          <p:nvPr/>
        </p:nvSpPr>
        <p:spPr>
          <a:xfrm>
            <a:off x="5246340" y="4123134"/>
            <a:ext cx="3431545"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FFFFFF"/>
                </a:solidFill>
                <a:latin typeface="Arial" pitchFamily="34" charset="0"/>
                <a:ea typeface="Arial" pitchFamily="34" charset="-122"/>
                <a:cs typeface="Arial" pitchFamily="34" charset="-120"/>
              </a:rPr>
              <a:t>Industry benchmarks incentivize sharing</a:t>
            </a:r>
            <a:endParaRPr lang="en-US" sz="750" dirty="0"/>
          </a:p>
        </p:txBody>
      </p:sp>
      <p:sp>
        <p:nvSpPr>
          <p:cNvPr id="31" name="Text 29"/>
          <p:cNvSpPr/>
          <p:nvPr/>
        </p:nvSpPr>
        <p:spPr>
          <a:xfrm>
            <a:off x="8740229" y="4743450"/>
            <a:ext cx="100950"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FB4100"/>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4284536" cy="304800"/>
          </a:xfrm>
          <a:prstGeom prst="rect">
            <a:avLst/>
          </a:prstGeom>
          <a:noFill/>
          <a:ln/>
        </p:spPr>
        <p:txBody>
          <a:bodyPr wrap="square" lIns="0" tIns="0" rIns="0" bIns="0" rtlCol="0" anchor="t"/>
          <a:lstStyle/>
          <a:p>
            <a:pPr algn="l" indent="0" marL="0">
              <a:lnSpc>
                <a:spcPts val="2400"/>
              </a:lnSpc>
              <a:spcAft>
                <a:spcPts val="300"/>
              </a:spcAft>
              <a:buNone/>
            </a:pPr>
            <a:r>
              <a:rPr lang="en-US" sz="2400" b="1" dirty="0">
                <a:solidFill>
                  <a:srgbClr val="07253D"/>
                </a:solidFill>
                <a:latin typeface="Arial" pitchFamily="34" charset="0"/>
                <a:ea typeface="Arial" pitchFamily="34" charset="-122"/>
                <a:cs typeface="Arial" pitchFamily="34" charset="-120"/>
              </a:rPr>
              <a:t>Traction &amp; Early Validation</a:t>
            </a:r>
            <a:endParaRPr lang="en-US" sz="2400" dirty="0"/>
          </a:p>
        </p:txBody>
      </p:sp>
      <p:sp>
        <p:nvSpPr>
          <p:cNvPr id="5" name="Text 3"/>
          <p:cNvSpPr/>
          <p:nvPr/>
        </p:nvSpPr>
        <p:spPr>
          <a:xfrm>
            <a:off x="381000" y="609600"/>
            <a:ext cx="762000" cy="38100"/>
          </a:xfrm>
          <a:prstGeom prst="rect">
            <a:avLst/>
          </a:prstGeom>
          <a:solidFill>
            <a:srgbClr val="FB4100"/>
          </a:solidFill>
          <a:ln/>
        </p:spPr>
        <p:txBody>
          <a:bodyPr wrap="square" rtlCol="0" anchor="ctr"/>
          <a:lstStyle/>
          <a:p>
            <a:pPr indent="0" marL="0">
              <a:buNone/>
            </a:pPr>
            <a:endParaRPr lang="en-US" dirty="0"/>
          </a:p>
        </p:txBody>
      </p:sp>
      <p:sp>
        <p:nvSpPr>
          <p:cNvPr id="6" name="Text 4"/>
          <p:cNvSpPr/>
          <p:nvPr/>
        </p:nvSpPr>
        <p:spPr>
          <a:xfrm>
            <a:off x="381000" y="1785045"/>
            <a:ext cx="3669060" cy="1062930"/>
          </a:xfrm>
          <a:prstGeom prst="roundRect">
            <a:avLst>
              <a:gd name="adj" fmla="val 5377"/>
            </a:avLst>
          </a:prstGeom>
          <a:solidFill>
            <a:srgbClr val="FEF3F0"/>
          </a:solidFill>
          <a:ln w="9525">
            <a:solidFill>
              <a:srgbClr val="FB4100"/>
            </a:solidFill>
          </a:ln>
        </p:spPr>
        <p:txBody>
          <a:bodyPr wrap="square" rtlCol="0" anchor="ctr"/>
          <a:lstStyle/>
          <a:p>
            <a:pPr indent="0" marL="0">
              <a:buNone/>
            </a:pPr>
            <a:endParaRPr lang="en-US" dirty="0"/>
          </a:p>
        </p:txBody>
      </p:sp>
      <p:sp>
        <p:nvSpPr>
          <p:cNvPr id="7" name="Text 5"/>
          <p:cNvSpPr/>
          <p:nvPr/>
        </p:nvSpPr>
        <p:spPr>
          <a:xfrm>
            <a:off x="542925" y="1946970"/>
            <a:ext cx="3412114" cy="186630"/>
          </a:xfrm>
          <a:prstGeom prst="rect">
            <a:avLst/>
          </a:prstGeom>
          <a:noFill/>
          <a:ln/>
        </p:spPr>
        <p:txBody>
          <a:bodyPr wrap="square" lIns="0" tIns="0" rIns="0" bIns="0" rtlCol="0" anchor="t"/>
          <a:lstStyle/>
          <a:p>
            <a:pPr algn="l" indent="0" marL="0">
              <a:lnSpc>
                <a:spcPts val="1470"/>
              </a:lnSpc>
              <a:spcAft>
                <a:spcPts val="750"/>
              </a:spcAft>
              <a:buNone/>
            </a:pPr>
            <a:r>
              <a:rPr lang="en-US" sz="1050" b="1" dirty="0">
                <a:solidFill>
                  <a:srgbClr val="FB4100"/>
                </a:solidFill>
                <a:latin typeface="Arial" pitchFamily="34" charset="0"/>
                <a:ea typeface="Arial" pitchFamily="34" charset="-122"/>
                <a:cs typeface="Arial" pitchFamily="34" charset="-120"/>
              </a:rPr>
              <a:t>Product Status</a:t>
            </a:r>
            <a:endParaRPr lang="en-US" sz="1050" dirty="0"/>
          </a:p>
        </p:txBody>
      </p:sp>
      <p:sp>
        <p:nvSpPr>
          <p:cNvPr id="8" name="Text 6"/>
          <p:cNvSpPr/>
          <p:nvPr/>
        </p:nvSpPr>
        <p:spPr>
          <a:xfrm>
            <a:off x="542925" y="2228850"/>
            <a:ext cx="3345210" cy="457200"/>
          </a:xfrm>
          <a:prstGeom prst="rect">
            <a:avLst/>
          </a:prstGeom>
          <a:noFill/>
          <a:ln/>
        </p:spPr>
        <p:txBody>
          <a:bodyPr wrap="square" lIns="76200" tIns="0" rIns="0" bIns="0" rtlCol="0" anchor="t"/>
          <a:lstStyle/>
          <a:p>
            <a:pPr algn="l" marL="76200" indent="-76200">
              <a:lnSpc>
                <a:spcPts val="1350"/>
              </a:lnSpc>
              <a:spcAft>
                <a:spcPts val="600"/>
              </a:spcAft>
              <a:buSzPct val="100000"/>
              <a:buChar char="•"/>
            </a:pPr>
            <a:r>
              <a:rPr lang="en-US" sz="900" b="1" dirty="0">
                <a:solidFill>
                  <a:srgbClr val="07253D"/>
                </a:solidFill>
                <a:latin typeface="Arial" pitchFamily="34" charset="0"/>
                <a:ea typeface="Arial" pitchFamily="34" charset="-122"/>
                <a:cs typeface="Arial" pitchFamily="34" charset="-120"/>
              </a:rPr>
              <a:t>[To fill in]:</a:t>
            </a:r>
            <a:pPr algn="l" indent="0" marL="0">
              <a:lnSpc>
                <a:spcPts val="1350"/>
              </a:lnSpc>
              <a:spcAft>
                <a:spcPts val="600"/>
              </a:spcAft>
              <a:buNone/>
            </a:pPr>
            <a:r>
              <a:rPr lang="en-US" sz="900" dirty="0">
                <a:solidFill>
                  <a:srgbClr val="44546A"/>
                </a:solidFill>
                <a:latin typeface="Arial" pitchFamily="34" charset="0"/>
                <a:ea typeface="Arial" pitchFamily="34" charset="-122"/>
                <a:cs typeface="Arial" pitchFamily="34" charset="-120"/>
              </a:rPr>
              <a:t> MVP status, beta users, pilot customers</a:t>
            </a:r>
            <a:endParaRPr lang="en-US" sz="900" dirty="0"/>
          </a:p>
          <a:p>
            <a:pPr algn="l" marL="76200" indent="-76200">
              <a:lnSpc>
                <a:spcPts val="1350"/>
              </a:lnSpc>
              <a:spcAft>
                <a:spcPts val="600"/>
              </a:spcAft>
              <a:buSzPct val="100000"/>
              <a:buChar char="•"/>
            </a:pPr>
            <a:r>
              <a:rPr lang="en-US" sz="900" b="1" dirty="0">
                <a:solidFill>
                  <a:srgbClr val="07253D"/>
                </a:solidFill>
                <a:latin typeface="Arial" pitchFamily="34" charset="0"/>
                <a:ea typeface="Arial" pitchFamily="34" charset="-122"/>
                <a:cs typeface="Arial" pitchFamily="34" charset="-120"/>
              </a:rPr>
              <a:t>[To fill in]:</a:t>
            </a:r>
            <a:pPr algn="l" indent="0" marL="0">
              <a:lnSpc>
                <a:spcPts val="1350"/>
              </a:lnSpc>
              <a:spcAft>
                <a:spcPts val="600"/>
              </a:spcAft>
              <a:buNone/>
            </a:pPr>
            <a:r>
              <a:rPr lang="en-US" sz="900" dirty="0">
                <a:solidFill>
                  <a:srgbClr val="44546A"/>
                </a:solidFill>
                <a:latin typeface="Arial" pitchFamily="34" charset="0"/>
                <a:ea typeface="Arial" pitchFamily="34" charset="-122"/>
                <a:cs typeface="Arial" pitchFamily="34" charset="-120"/>
              </a:rPr>
              <a:t> User signups or waitlist size</a:t>
            </a:r>
            <a:endParaRPr lang="en-US" sz="900" dirty="0"/>
          </a:p>
        </p:txBody>
      </p:sp>
      <p:sp>
        <p:nvSpPr>
          <p:cNvPr id="9" name="Text 7"/>
          <p:cNvSpPr/>
          <p:nvPr/>
        </p:nvSpPr>
        <p:spPr>
          <a:xfrm>
            <a:off x="381000" y="3152775"/>
            <a:ext cx="3669060" cy="929580"/>
          </a:xfrm>
          <a:prstGeom prst="roundRect">
            <a:avLst>
              <a:gd name="adj" fmla="val 6148"/>
            </a:avLst>
          </a:prstGeom>
          <a:solidFill>
            <a:srgbClr val="07253D"/>
          </a:solidFill>
          <a:ln/>
        </p:spPr>
        <p:txBody>
          <a:bodyPr wrap="square" rtlCol="0" anchor="ctr"/>
          <a:lstStyle/>
          <a:p>
            <a:pPr indent="0" marL="0">
              <a:buNone/>
            </a:pPr>
            <a:endParaRPr lang="en-US" dirty="0"/>
          </a:p>
        </p:txBody>
      </p:sp>
      <p:sp>
        <p:nvSpPr>
          <p:cNvPr id="10" name="Text 8"/>
          <p:cNvSpPr/>
          <p:nvPr/>
        </p:nvSpPr>
        <p:spPr>
          <a:xfrm>
            <a:off x="533400" y="3305175"/>
            <a:ext cx="3431545" cy="186630"/>
          </a:xfrm>
          <a:prstGeom prst="rect">
            <a:avLst/>
          </a:prstGeom>
          <a:noFill/>
          <a:ln/>
        </p:spPr>
        <p:txBody>
          <a:bodyPr wrap="square" lIns="0" tIns="0" rIns="0" bIns="0" rtlCol="0" anchor="t"/>
          <a:lstStyle/>
          <a:p>
            <a:pPr algn="l" indent="0" marL="0">
              <a:lnSpc>
                <a:spcPts val="1470"/>
              </a:lnSpc>
              <a:spcAft>
                <a:spcPts val="750"/>
              </a:spcAft>
              <a:buNone/>
            </a:pPr>
            <a:r>
              <a:rPr lang="en-US" sz="1050" b="1" dirty="0">
                <a:solidFill>
                  <a:srgbClr val="01A9DB"/>
                </a:solidFill>
                <a:latin typeface="Arial" pitchFamily="34" charset="0"/>
                <a:ea typeface="Arial" pitchFamily="34" charset="-122"/>
                <a:cs typeface="Arial" pitchFamily="34" charset="-120"/>
              </a:rPr>
              <a:t>Product Demonstration</a:t>
            </a:r>
            <a:endParaRPr lang="en-US" sz="1050" dirty="0"/>
          </a:p>
        </p:txBody>
      </p:sp>
      <p:sp>
        <p:nvSpPr>
          <p:cNvPr id="11" name="Text 9"/>
          <p:cNvSpPr/>
          <p:nvPr/>
        </p:nvSpPr>
        <p:spPr>
          <a:xfrm>
            <a:off x="533400" y="3587055"/>
            <a:ext cx="3431545" cy="342900"/>
          </a:xfrm>
          <a:prstGeom prst="rect">
            <a:avLst/>
          </a:prstGeom>
          <a:noFill/>
          <a:ln/>
        </p:spPr>
        <p:txBody>
          <a:bodyPr wrap="square" lIns="0" tIns="0" rIns="0" bIns="0" rtlCol="0" anchor="t"/>
          <a:lstStyle/>
          <a:p>
            <a:pPr algn="l" indent="0" marL="0">
              <a:lnSpc>
                <a:spcPts val="1350"/>
              </a:lnSpc>
              <a:buNone/>
            </a:pPr>
            <a:r>
              <a:rPr lang="en-US" sz="900" b="1" dirty="0">
                <a:solidFill>
                  <a:srgbClr val="01A9DB"/>
                </a:solidFill>
                <a:latin typeface="Arial" pitchFamily="34" charset="0"/>
                <a:ea typeface="Arial" pitchFamily="34" charset="-122"/>
                <a:cs typeface="Arial" pitchFamily="34" charset="-120"/>
              </a:rPr>
              <a:t>Radar UI Prototype:</a:t>
            </a:r>
            <a:pPr algn="l" indent="0" marL="0">
              <a:lnSpc>
                <a:spcPts val="1350"/>
              </a:lnSpc>
              <a:buNone/>
            </a:pPr>
            <a:r>
              <a:rPr lang="en-US" sz="900" dirty="0">
                <a:solidFill>
                  <a:srgbClr val="FFFFFF"/>
                </a:solidFill>
                <a:latin typeface="Arial" pitchFamily="34" charset="0"/>
                <a:ea typeface="Arial" pitchFamily="34" charset="-122"/>
                <a:cs typeface="Arial" pitchFamily="34" charset="-120"/>
              </a:rPr>
              <a:t> Interactive visualization of real-time decision patterns (Mine module capability)</a:t>
            </a:r>
            <a:endParaRPr lang="en-US" sz="900" dirty="0"/>
          </a:p>
        </p:txBody>
      </p:sp>
      <p:sp>
        <p:nvSpPr>
          <p:cNvPr id="12" name="Text 10"/>
          <p:cNvSpPr/>
          <p:nvPr/>
        </p:nvSpPr>
        <p:spPr>
          <a:xfrm>
            <a:off x="4278660" y="1751856"/>
            <a:ext cx="4574027" cy="186630"/>
          </a:xfrm>
          <a:prstGeom prst="rect">
            <a:avLst/>
          </a:prstGeom>
          <a:noFill/>
          <a:ln/>
        </p:spPr>
        <p:txBody>
          <a:bodyPr wrap="square" lIns="0" tIns="0" rIns="0" bIns="0" rtlCol="0" anchor="t"/>
          <a:lstStyle/>
          <a:p>
            <a:pPr algn="l" indent="0" marL="0">
              <a:lnSpc>
                <a:spcPts val="1470"/>
              </a:lnSpc>
              <a:spcAft>
                <a:spcPts val="900"/>
              </a:spcAft>
              <a:buNone/>
            </a:pPr>
            <a:r>
              <a:rPr lang="en-US" sz="1050" b="1" dirty="0">
                <a:solidFill>
                  <a:srgbClr val="01A9DB"/>
                </a:solidFill>
                <a:latin typeface="Arial" pitchFamily="34" charset="0"/>
                <a:ea typeface="Arial" pitchFamily="34" charset="-122"/>
                <a:cs typeface="Arial" pitchFamily="34" charset="-120"/>
              </a:rPr>
              <a:t>Triple Validation Framework</a:t>
            </a:r>
            <a:endParaRPr lang="en-US" sz="1050" dirty="0"/>
          </a:p>
        </p:txBody>
      </p:sp>
      <p:sp>
        <p:nvSpPr>
          <p:cNvPr id="13" name="Text 11"/>
          <p:cNvSpPr/>
          <p:nvPr/>
        </p:nvSpPr>
        <p:spPr>
          <a:xfrm>
            <a:off x="4278660" y="2205186"/>
            <a:ext cx="4484340" cy="573286"/>
          </a:xfrm>
          <a:prstGeom prst="roundRect">
            <a:avLst>
              <a:gd name="adj" fmla="val 9969"/>
            </a:avLst>
          </a:prstGeom>
          <a:solidFill>
            <a:srgbClr val="F5F7FA"/>
          </a:solidFill>
          <a:ln/>
        </p:spPr>
        <p:txBody>
          <a:bodyPr wrap="square" rtlCol="0" anchor="ctr"/>
          <a:lstStyle/>
          <a:p>
            <a:pPr indent="0" marL="0">
              <a:buNone/>
            </a:pPr>
            <a:endParaRPr lang="en-US" dirty="0"/>
          </a:p>
        </p:txBody>
      </p:sp>
      <p:sp>
        <p:nvSpPr>
          <p:cNvPr id="14" name="Shape 12"/>
          <p:cNvSpPr/>
          <p:nvPr/>
        </p:nvSpPr>
        <p:spPr>
          <a:xfrm>
            <a:off x="4297710" y="2205186"/>
            <a:ext cx="0" cy="573286"/>
          </a:xfrm>
          <a:prstGeom prst="line">
            <a:avLst/>
          </a:prstGeom>
          <a:noFill/>
          <a:ln w="38100">
            <a:solidFill>
              <a:srgbClr val="01A9DB"/>
            </a:solidFill>
            <a:prstDash val="solid"/>
          </a:ln>
        </p:spPr>
      </p:sp>
      <p:sp>
        <p:nvSpPr>
          <p:cNvPr id="15" name="Text 13"/>
          <p:cNvSpPr/>
          <p:nvPr/>
        </p:nvSpPr>
        <p:spPr>
          <a:xfrm>
            <a:off x="4450110" y="2319486"/>
            <a:ext cx="4263131"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07253D"/>
                </a:solidFill>
                <a:latin typeface="Arial" pitchFamily="34" charset="0"/>
                <a:ea typeface="Arial" pitchFamily="34" charset="-122"/>
                <a:cs typeface="Arial" pitchFamily="34" charset="-120"/>
              </a:rPr>
              <a:t>Customer Conversations</a:t>
            </a:r>
            <a:endParaRPr lang="en-US" sz="900" dirty="0"/>
          </a:p>
        </p:txBody>
      </p:sp>
      <p:sp>
        <p:nvSpPr>
          <p:cNvPr id="16" name="Text 14"/>
          <p:cNvSpPr/>
          <p:nvPr/>
        </p:nvSpPr>
        <p:spPr>
          <a:xfrm>
            <a:off x="4450110" y="2517577"/>
            <a:ext cx="4263131" cy="146596"/>
          </a:xfrm>
          <a:prstGeom prst="rect">
            <a:avLst/>
          </a:prstGeom>
          <a:noFill/>
          <a:ln/>
        </p:spPr>
        <p:txBody>
          <a:bodyPr wrap="square" lIns="0" tIns="0" rIns="0" bIns="0" rtlCol="0" anchor="t"/>
          <a:lstStyle/>
          <a:p>
            <a:pPr algn="l" indent="0" marL="0">
              <a:lnSpc>
                <a:spcPts val="1155"/>
              </a:lnSpc>
              <a:buNone/>
            </a:pPr>
            <a:r>
              <a:rPr lang="en-US" sz="825" dirty="0">
                <a:solidFill>
                  <a:srgbClr val="44546A"/>
                </a:solidFill>
                <a:latin typeface="Arial" pitchFamily="34" charset="0"/>
                <a:ea typeface="Arial" pitchFamily="34" charset="-122"/>
                <a:cs typeface="Arial" pitchFamily="34" charset="-120"/>
              </a:rPr>
              <a:t>Service leaders report urgent need for governance + transparency</a:t>
            </a:r>
            <a:endParaRPr lang="en-US" sz="825" dirty="0"/>
          </a:p>
        </p:txBody>
      </p:sp>
      <p:sp>
        <p:nvSpPr>
          <p:cNvPr id="17" name="Text 15"/>
          <p:cNvSpPr/>
          <p:nvPr/>
        </p:nvSpPr>
        <p:spPr>
          <a:xfrm>
            <a:off x="4278660" y="2873722"/>
            <a:ext cx="4484340" cy="573286"/>
          </a:xfrm>
          <a:prstGeom prst="roundRect">
            <a:avLst>
              <a:gd name="adj" fmla="val 9969"/>
            </a:avLst>
          </a:prstGeom>
          <a:solidFill>
            <a:srgbClr val="F5F7FA"/>
          </a:solidFill>
          <a:ln/>
        </p:spPr>
        <p:txBody>
          <a:bodyPr wrap="square" rtlCol="0" anchor="ctr"/>
          <a:lstStyle/>
          <a:p>
            <a:pPr indent="0" marL="0">
              <a:buNone/>
            </a:pPr>
            <a:endParaRPr lang="en-US" dirty="0"/>
          </a:p>
        </p:txBody>
      </p:sp>
      <p:sp>
        <p:nvSpPr>
          <p:cNvPr id="18" name="Shape 16"/>
          <p:cNvSpPr/>
          <p:nvPr/>
        </p:nvSpPr>
        <p:spPr>
          <a:xfrm>
            <a:off x="4297710" y="2873722"/>
            <a:ext cx="0" cy="573286"/>
          </a:xfrm>
          <a:prstGeom prst="line">
            <a:avLst/>
          </a:prstGeom>
          <a:noFill/>
          <a:ln w="38100">
            <a:solidFill>
              <a:srgbClr val="01A9DB"/>
            </a:solidFill>
            <a:prstDash val="solid"/>
          </a:ln>
        </p:spPr>
      </p:sp>
      <p:sp>
        <p:nvSpPr>
          <p:cNvPr id="19" name="Text 17"/>
          <p:cNvSpPr/>
          <p:nvPr/>
        </p:nvSpPr>
        <p:spPr>
          <a:xfrm>
            <a:off x="4450110" y="2988022"/>
            <a:ext cx="4263131"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07253D"/>
                </a:solidFill>
                <a:latin typeface="Arial" pitchFamily="34" charset="0"/>
                <a:ea typeface="Arial" pitchFamily="34" charset="-122"/>
                <a:cs typeface="Arial" pitchFamily="34" charset="-120"/>
              </a:rPr>
              <a:t>Our Own Products</a:t>
            </a:r>
            <a:endParaRPr lang="en-US" sz="900" dirty="0"/>
          </a:p>
        </p:txBody>
      </p:sp>
      <p:sp>
        <p:nvSpPr>
          <p:cNvPr id="20" name="Text 18"/>
          <p:cNvSpPr/>
          <p:nvPr/>
        </p:nvSpPr>
        <p:spPr>
          <a:xfrm>
            <a:off x="4450110" y="3186113"/>
            <a:ext cx="4263131" cy="146596"/>
          </a:xfrm>
          <a:prstGeom prst="rect">
            <a:avLst/>
          </a:prstGeom>
          <a:noFill/>
          <a:ln/>
        </p:spPr>
        <p:txBody>
          <a:bodyPr wrap="square" lIns="0" tIns="0" rIns="0" bIns="0" rtlCol="0" anchor="t"/>
          <a:lstStyle/>
          <a:p>
            <a:pPr algn="l" indent="0" marL="0">
              <a:lnSpc>
                <a:spcPts val="1155"/>
              </a:lnSpc>
              <a:buNone/>
            </a:pPr>
            <a:r>
              <a:rPr lang="en-US" sz="825" dirty="0">
                <a:solidFill>
                  <a:srgbClr val="44546A"/>
                </a:solidFill>
                <a:latin typeface="Arial" pitchFamily="34" charset="0"/>
                <a:ea typeface="Arial" pitchFamily="34" charset="-122"/>
                <a:cs typeface="Arial" pitchFamily="34" charset="-120"/>
              </a:rPr>
              <a:t>MAX, Claude Code show teams hitting management constraint daily</a:t>
            </a:r>
            <a:endParaRPr lang="en-US" sz="825" dirty="0"/>
          </a:p>
        </p:txBody>
      </p:sp>
      <p:sp>
        <p:nvSpPr>
          <p:cNvPr id="21" name="Text 19"/>
          <p:cNvSpPr/>
          <p:nvPr/>
        </p:nvSpPr>
        <p:spPr>
          <a:xfrm>
            <a:off x="4278660" y="3542258"/>
            <a:ext cx="4484340" cy="573286"/>
          </a:xfrm>
          <a:prstGeom prst="roundRect">
            <a:avLst>
              <a:gd name="adj" fmla="val 9969"/>
            </a:avLst>
          </a:prstGeom>
          <a:solidFill>
            <a:srgbClr val="F5F7FA"/>
          </a:solidFill>
          <a:ln/>
        </p:spPr>
        <p:txBody>
          <a:bodyPr wrap="square" rtlCol="0" anchor="ctr"/>
          <a:lstStyle/>
          <a:p>
            <a:pPr indent="0" marL="0">
              <a:buNone/>
            </a:pPr>
            <a:endParaRPr lang="en-US" dirty="0"/>
          </a:p>
        </p:txBody>
      </p:sp>
      <p:sp>
        <p:nvSpPr>
          <p:cNvPr id="22" name="Shape 20"/>
          <p:cNvSpPr/>
          <p:nvPr/>
        </p:nvSpPr>
        <p:spPr>
          <a:xfrm>
            <a:off x="4297710" y="3542258"/>
            <a:ext cx="0" cy="573286"/>
          </a:xfrm>
          <a:prstGeom prst="line">
            <a:avLst/>
          </a:prstGeom>
          <a:noFill/>
          <a:ln w="38100">
            <a:solidFill>
              <a:srgbClr val="01A9DB"/>
            </a:solidFill>
            <a:prstDash val="solid"/>
          </a:ln>
        </p:spPr>
      </p:sp>
      <p:sp>
        <p:nvSpPr>
          <p:cNvPr id="23" name="Text 21"/>
          <p:cNvSpPr/>
          <p:nvPr/>
        </p:nvSpPr>
        <p:spPr>
          <a:xfrm>
            <a:off x="4450110" y="3656558"/>
            <a:ext cx="4263131"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07253D"/>
                </a:solidFill>
                <a:latin typeface="Arial" pitchFamily="34" charset="0"/>
                <a:ea typeface="Arial" pitchFamily="34" charset="-122"/>
                <a:cs typeface="Arial" pitchFamily="34" charset="-120"/>
              </a:rPr>
              <a:t>Market Validation</a:t>
            </a:r>
            <a:endParaRPr lang="en-US" sz="900" dirty="0"/>
          </a:p>
        </p:txBody>
      </p:sp>
      <p:sp>
        <p:nvSpPr>
          <p:cNvPr id="24" name="Text 22"/>
          <p:cNvSpPr/>
          <p:nvPr/>
        </p:nvSpPr>
        <p:spPr>
          <a:xfrm>
            <a:off x="4450110" y="3854648"/>
            <a:ext cx="4263131" cy="146596"/>
          </a:xfrm>
          <a:prstGeom prst="rect">
            <a:avLst/>
          </a:prstGeom>
          <a:noFill/>
          <a:ln/>
        </p:spPr>
        <p:txBody>
          <a:bodyPr wrap="square" lIns="0" tIns="0" rIns="0" bIns="0" rtlCol="0" anchor="t"/>
          <a:lstStyle/>
          <a:p>
            <a:pPr algn="l" indent="0" marL="0">
              <a:lnSpc>
                <a:spcPts val="1155"/>
              </a:lnSpc>
              <a:buNone/>
            </a:pPr>
            <a:r>
              <a:rPr lang="en-US" sz="825" dirty="0">
                <a:solidFill>
                  <a:srgbClr val="44546A"/>
                </a:solidFill>
                <a:latin typeface="Arial" pitchFamily="34" charset="0"/>
                <a:ea typeface="Arial" pitchFamily="34" charset="-122"/>
                <a:cs typeface="Arial" pitchFamily="34" charset="-120"/>
              </a:rPr>
              <a:t>Ed Sim, Gartner, Forrester publishing same thesis (industry converging)</a:t>
            </a:r>
            <a:endParaRPr lang="en-US" sz="825" dirty="0"/>
          </a:p>
        </p:txBody>
      </p:sp>
      <p:sp>
        <p:nvSpPr>
          <p:cNvPr id="25" name="Text 23"/>
          <p:cNvSpPr/>
          <p:nvPr/>
        </p:nvSpPr>
        <p:spPr>
          <a:xfrm>
            <a:off x="8733234" y="4743450"/>
            <a:ext cx="108085"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4284536" cy="304800"/>
          </a:xfrm>
          <a:prstGeom prst="rect">
            <a:avLst/>
          </a:prstGeom>
          <a:noFill/>
          <a:ln/>
        </p:spPr>
        <p:txBody>
          <a:bodyPr wrap="square" lIns="0" tIns="0" rIns="0" bIns="0" rtlCol="0" anchor="t"/>
          <a:lstStyle/>
          <a:p>
            <a:pPr algn="l" indent="0" marL="0">
              <a:lnSpc>
                <a:spcPts val="2400"/>
              </a:lnSpc>
              <a:spcAft>
                <a:spcPts val="300"/>
              </a:spcAft>
              <a:buNone/>
            </a:pPr>
            <a:r>
              <a:rPr lang="en-US" sz="2400" b="1" dirty="0">
                <a:solidFill>
                  <a:srgbClr val="07253D"/>
                </a:solidFill>
                <a:latin typeface="Arial" pitchFamily="34" charset="0"/>
                <a:ea typeface="Arial" pitchFamily="34" charset="-122"/>
                <a:cs typeface="Arial" pitchFamily="34" charset="-120"/>
              </a:rPr>
              <a:t>Product Roadmap</a:t>
            </a:r>
            <a:endParaRPr lang="en-US" sz="2400" dirty="0"/>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indent="0" marL="0">
              <a:buNone/>
            </a:pPr>
            <a:endParaRPr lang="en-US" dirty="0"/>
          </a:p>
        </p:txBody>
      </p:sp>
      <p:sp>
        <p:nvSpPr>
          <p:cNvPr id="6" name="Text 4"/>
          <p:cNvSpPr/>
          <p:nvPr/>
        </p:nvSpPr>
        <p:spPr>
          <a:xfrm>
            <a:off x="381000" y="952500"/>
            <a:ext cx="1981200" cy="3962400"/>
          </a:xfrm>
          <a:prstGeom prst="roundRect">
            <a:avLst>
              <a:gd name="adj" fmla="val 3846"/>
            </a:avLst>
          </a:prstGeom>
          <a:solidFill>
            <a:srgbClr val="07253D"/>
          </a:solidFill>
          <a:ln/>
        </p:spPr>
        <p:txBody>
          <a:bodyPr wrap="square" rtlCol="0" anchor="ctr"/>
          <a:lstStyle/>
          <a:p>
            <a:pPr indent="0" marL="0">
              <a:buNone/>
            </a:pPr>
            <a:endParaRPr lang="en-US" dirty="0"/>
          </a:p>
        </p:txBody>
      </p:sp>
      <p:sp>
        <p:nvSpPr>
          <p:cNvPr id="7" name="Text 5"/>
          <p:cNvSpPr/>
          <p:nvPr/>
        </p:nvSpPr>
        <p:spPr>
          <a:xfrm>
            <a:off x="514350" y="2331839"/>
            <a:ext cx="1714500" cy="247650"/>
          </a:xfrm>
          <a:prstGeom prst="roundRect">
            <a:avLst>
              <a:gd name="adj" fmla="val 15385"/>
            </a:avLst>
          </a:prstGeom>
          <a:solidFill>
            <a:srgbClr val="FB4100"/>
          </a:solidFill>
          <a:ln/>
        </p:spPr>
        <p:txBody>
          <a:bodyPr wrap="square" rtlCol="0" anchor="ctr"/>
          <a:lstStyle/>
          <a:p>
            <a:pPr indent="0" marL="0">
              <a:buNone/>
            </a:pPr>
            <a:endParaRPr lang="en-US" dirty="0"/>
          </a:p>
        </p:txBody>
      </p:sp>
      <p:sp>
        <p:nvSpPr>
          <p:cNvPr id="8" name="Text 6"/>
          <p:cNvSpPr/>
          <p:nvPr/>
        </p:nvSpPr>
        <p:spPr>
          <a:xfrm>
            <a:off x="609600" y="2388989"/>
            <a:ext cx="155448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Q1 2026</a:t>
            </a:r>
            <a:endParaRPr lang="en-US" sz="750" dirty="0"/>
          </a:p>
        </p:txBody>
      </p:sp>
      <p:sp>
        <p:nvSpPr>
          <p:cNvPr id="9" name="Text 7"/>
          <p:cNvSpPr/>
          <p:nvPr/>
        </p:nvSpPr>
        <p:spPr>
          <a:xfrm>
            <a:off x="514350" y="2827139"/>
            <a:ext cx="1748790"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01A9DB"/>
                </a:solidFill>
                <a:latin typeface="Arial" pitchFamily="34" charset="0"/>
                <a:ea typeface="Arial" pitchFamily="34" charset="-122"/>
                <a:cs typeface="Arial" pitchFamily="34" charset="-120"/>
              </a:rPr>
              <a:t>Current Release</a:t>
            </a:r>
            <a:endParaRPr lang="en-US" sz="1050" dirty="0"/>
          </a:p>
        </p:txBody>
      </p:sp>
      <p:sp>
        <p:nvSpPr>
          <p:cNvPr id="10" name="Text 8"/>
          <p:cNvSpPr/>
          <p:nvPr/>
        </p:nvSpPr>
        <p:spPr>
          <a:xfrm>
            <a:off x="514350" y="3242370"/>
            <a:ext cx="1748790" cy="293191"/>
          </a:xfrm>
          <a:prstGeom prst="rect">
            <a:avLst/>
          </a:prstGeom>
          <a:noFill/>
          <a:ln/>
        </p:spPr>
        <p:txBody>
          <a:bodyPr wrap="square" lIns="0" tIns="0" rIns="0" bIns="0" rtlCol="0" anchor="t"/>
          <a:lstStyle/>
          <a:p>
            <a:pPr algn="l" indent="0" marL="0">
              <a:lnSpc>
                <a:spcPts val="1155"/>
              </a:lnSpc>
              <a:buNone/>
            </a:pPr>
            <a:r>
              <a:rPr lang="en-US" sz="825" dirty="0">
                <a:solidFill>
                  <a:srgbClr val="FFFFFF"/>
                </a:solidFill>
                <a:latin typeface="Arial" pitchFamily="34" charset="0"/>
                <a:ea typeface="Arial" pitchFamily="34" charset="-122"/>
                <a:cs typeface="Arial" pitchFamily="34" charset="-120"/>
              </a:rPr>
              <a:t>[To fill in]: MVP feature set and current capabilities shipped</a:t>
            </a:r>
            <a:endParaRPr lang="en-US" sz="825" dirty="0"/>
          </a:p>
        </p:txBody>
      </p:sp>
      <p:sp>
        <p:nvSpPr>
          <p:cNvPr id="11" name="Text 9"/>
          <p:cNvSpPr/>
          <p:nvPr/>
        </p:nvSpPr>
        <p:spPr>
          <a:xfrm>
            <a:off x="2514600" y="952500"/>
            <a:ext cx="1981200" cy="3962400"/>
          </a:xfrm>
          <a:prstGeom prst="roundRect">
            <a:avLst>
              <a:gd name="adj" fmla="val 3846"/>
            </a:avLst>
          </a:prstGeom>
          <a:solidFill>
            <a:srgbClr val="07253D"/>
          </a:solidFill>
          <a:ln/>
        </p:spPr>
        <p:txBody>
          <a:bodyPr wrap="square" rtlCol="0" anchor="ctr"/>
          <a:lstStyle/>
          <a:p>
            <a:pPr indent="0" marL="0">
              <a:buNone/>
            </a:pPr>
            <a:endParaRPr lang="en-US" dirty="0"/>
          </a:p>
        </p:txBody>
      </p:sp>
      <p:sp>
        <p:nvSpPr>
          <p:cNvPr id="12" name="Text 10"/>
          <p:cNvSpPr/>
          <p:nvPr/>
        </p:nvSpPr>
        <p:spPr>
          <a:xfrm>
            <a:off x="2647950" y="2331839"/>
            <a:ext cx="1714500" cy="247650"/>
          </a:xfrm>
          <a:prstGeom prst="roundRect">
            <a:avLst>
              <a:gd name="adj" fmla="val 15385"/>
            </a:avLst>
          </a:prstGeom>
          <a:solidFill>
            <a:srgbClr val="01A9DB"/>
          </a:solidFill>
          <a:ln/>
        </p:spPr>
        <p:txBody>
          <a:bodyPr wrap="square" rtlCol="0" anchor="ctr"/>
          <a:lstStyle/>
          <a:p>
            <a:pPr indent="0" marL="0">
              <a:buNone/>
            </a:pPr>
            <a:endParaRPr lang="en-US" dirty="0"/>
          </a:p>
        </p:txBody>
      </p:sp>
      <p:sp>
        <p:nvSpPr>
          <p:cNvPr id="13" name="Text 11"/>
          <p:cNvSpPr/>
          <p:nvPr/>
        </p:nvSpPr>
        <p:spPr>
          <a:xfrm>
            <a:off x="2743200" y="2388989"/>
            <a:ext cx="155448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Q2-Q3 2026</a:t>
            </a:r>
            <a:endParaRPr lang="en-US" sz="750" dirty="0"/>
          </a:p>
        </p:txBody>
      </p:sp>
      <p:sp>
        <p:nvSpPr>
          <p:cNvPr id="14" name="Text 12"/>
          <p:cNvSpPr/>
          <p:nvPr/>
        </p:nvSpPr>
        <p:spPr>
          <a:xfrm>
            <a:off x="2647950" y="2827139"/>
            <a:ext cx="1748790"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01A9DB"/>
                </a:solidFill>
                <a:latin typeface="Arial" pitchFamily="34" charset="0"/>
                <a:ea typeface="Arial" pitchFamily="34" charset="-122"/>
                <a:cs typeface="Arial" pitchFamily="34" charset="-120"/>
              </a:rPr>
              <a:t>Near-Term</a:t>
            </a:r>
            <a:endParaRPr lang="en-US" sz="1050" dirty="0"/>
          </a:p>
        </p:txBody>
      </p:sp>
      <p:sp>
        <p:nvSpPr>
          <p:cNvPr id="15" name="Text 13"/>
          <p:cNvSpPr/>
          <p:nvPr/>
        </p:nvSpPr>
        <p:spPr>
          <a:xfrm>
            <a:off x="2647950" y="3242370"/>
            <a:ext cx="1748790" cy="293191"/>
          </a:xfrm>
          <a:prstGeom prst="rect">
            <a:avLst/>
          </a:prstGeom>
          <a:noFill/>
          <a:ln/>
        </p:spPr>
        <p:txBody>
          <a:bodyPr wrap="square" lIns="0" tIns="0" rIns="0" bIns="0" rtlCol="0" anchor="t"/>
          <a:lstStyle/>
          <a:p>
            <a:pPr algn="l" indent="0" marL="0">
              <a:lnSpc>
                <a:spcPts val="1155"/>
              </a:lnSpc>
              <a:buNone/>
            </a:pPr>
            <a:r>
              <a:rPr lang="en-US" sz="825" dirty="0">
                <a:solidFill>
                  <a:srgbClr val="FFFFFF"/>
                </a:solidFill>
                <a:latin typeface="Arial" pitchFamily="34" charset="0"/>
                <a:ea typeface="Arial" pitchFamily="34" charset="-122"/>
                <a:cs typeface="Arial" pitchFamily="34" charset="-120"/>
              </a:rPr>
              <a:t>[To fill in]: Key features and customer feedback integration</a:t>
            </a:r>
            <a:endParaRPr lang="en-US" sz="825" dirty="0"/>
          </a:p>
        </p:txBody>
      </p:sp>
      <p:sp>
        <p:nvSpPr>
          <p:cNvPr id="16" name="Text 14"/>
          <p:cNvSpPr/>
          <p:nvPr/>
        </p:nvSpPr>
        <p:spPr>
          <a:xfrm>
            <a:off x="4648200" y="952500"/>
            <a:ext cx="1981200" cy="3962400"/>
          </a:xfrm>
          <a:prstGeom prst="roundRect">
            <a:avLst>
              <a:gd name="adj" fmla="val 3846"/>
            </a:avLst>
          </a:prstGeom>
          <a:solidFill>
            <a:srgbClr val="07253D"/>
          </a:solidFill>
          <a:ln/>
        </p:spPr>
        <p:txBody>
          <a:bodyPr wrap="square" rtlCol="0" anchor="ctr"/>
          <a:lstStyle/>
          <a:p>
            <a:pPr indent="0" marL="0">
              <a:buNone/>
            </a:pPr>
            <a:endParaRPr lang="en-US" dirty="0"/>
          </a:p>
        </p:txBody>
      </p:sp>
      <p:sp>
        <p:nvSpPr>
          <p:cNvPr id="17" name="Text 15"/>
          <p:cNvSpPr/>
          <p:nvPr/>
        </p:nvSpPr>
        <p:spPr>
          <a:xfrm>
            <a:off x="4781550" y="2331839"/>
            <a:ext cx="1714500" cy="247650"/>
          </a:xfrm>
          <a:prstGeom prst="roundRect">
            <a:avLst>
              <a:gd name="adj" fmla="val 15385"/>
            </a:avLst>
          </a:prstGeom>
          <a:solidFill>
            <a:srgbClr val="01A9DB"/>
          </a:solidFill>
          <a:ln/>
        </p:spPr>
        <p:txBody>
          <a:bodyPr wrap="square" rtlCol="0" anchor="ctr"/>
          <a:lstStyle/>
          <a:p>
            <a:pPr indent="0" marL="0">
              <a:buNone/>
            </a:pPr>
            <a:endParaRPr lang="en-US" dirty="0"/>
          </a:p>
        </p:txBody>
      </p:sp>
      <p:sp>
        <p:nvSpPr>
          <p:cNvPr id="18" name="Text 16"/>
          <p:cNvSpPr/>
          <p:nvPr/>
        </p:nvSpPr>
        <p:spPr>
          <a:xfrm>
            <a:off x="4876800" y="2388989"/>
            <a:ext cx="155448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Q4 '26 - Q2 '27</a:t>
            </a:r>
            <a:endParaRPr lang="en-US" sz="750" dirty="0"/>
          </a:p>
        </p:txBody>
      </p:sp>
      <p:sp>
        <p:nvSpPr>
          <p:cNvPr id="19" name="Text 17"/>
          <p:cNvSpPr/>
          <p:nvPr/>
        </p:nvSpPr>
        <p:spPr>
          <a:xfrm>
            <a:off x="4781550" y="2827139"/>
            <a:ext cx="1748790"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01A9DB"/>
                </a:solidFill>
                <a:latin typeface="Arial" pitchFamily="34" charset="0"/>
                <a:ea typeface="Arial" pitchFamily="34" charset="-122"/>
                <a:cs typeface="Arial" pitchFamily="34" charset="-120"/>
              </a:rPr>
              <a:t>Mid-Term</a:t>
            </a:r>
            <a:endParaRPr lang="en-US" sz="1050" dirty="0"/>
          </a:p>
        </p:txBody>
      </p:sp>
      <p:sp>
        <p:nvSpPr>
          <p:cNvPr id="20" name="Text 18"/>
          <p:cNvSpPr/>
          <p:nvPr/>
        </p:nvSpPr>
        <p:spPr>
          <a:xfrm>
            <a:off x="4781550" y="3242370"/>
            <a:ext cx="1748790" cy="293191"/>
          </a:xfrm>
          <a:prstGeom prst="rect">
            <a:avLst/>
          </a:prstGeom>
          <a:noFill/>
          <a:ln/>
        </p:spPr>
        <p:txBody>
          <a:bodyPr wrap="square" lIns="0" tIns="0" rIns="0" bIns="0" rtlCol="0" anchor="t"/>
          <a:lstStyle/>
          <a:p>
            <a:pPr algn="l" indent="0" marL="0">
              <a:lnSpc>
                <a:spcPts val="1155"/>
              </a:lnSpc>
              <a:buNone/>
            </a:pPr>
            <a:r>
              <a:rPr lang="en-US" sz="825" dirty="0">
                <a:solidFill>
                  <a:srgbClr val="FFFFFF"/>
                </a:solidFill>
                <a:latin typeface="Arial" pitchFamily="34" charset="0"/>
                <a:ea typeface="Arial" pitchFamily="34" charset="-122"/>
                <a:cs typeface="Arial" pitchFamily="34" charset="-120"/>
              </a:rPr>
              <a:t>[To fill in]: New module capabilities and vertical specialization deepening</a:t>
            </a:r>
            <a:endParaRPr lang="en-US" sz="825" dirty="0"/>
          </a:p>
        </p:txBody>
      </p:sp>
      <p:sp>
        <p:nvSpPr>
          <p:cNvPr id="21" name="Text 19"/>
          <p:cNvSpPr/>
          <p:nvPr/>
        </p:nvSpPr>
        <p:spPr>
          <a:xfrm>
            <a:off x="6781800" y="952500"/>
            <a:ext cx="1981200" cy="3962400"/>
          </a:xfrm>
          <a:prstGeom prst="roundRect">
            <a:avLst>
              <a:gd name="adj" fmla="val 3846"/>
            </a:avLst>
          </a:prstGeom>
          <a:solidFill>
            <a:srgbClr val="07253D"/>
          </a:solidFill>
          <a:ln/>
        </p:spPr>
        <p:txBody>
          <a:bodyPr wrap="square" rtlCol="0" anchor="ctr"/>
          <a:lstStyle/>
          <a:p>
            <a:pPr indent="0" marL="0">
              <a:buNone/>
            </a:pPr>
            <a:endParaRPr lang="en-US" dirty="0"/>
          </a:p>
        </p:txBody>
      </p:sp>
      <p:sp>
        <p:nvSpPr>
          <p:cNvPr id="22" name="Text 20"/>
          <p:cNvSpPr/>
          <p:nvPr/>
        </p:nvSpPr>
        <p:spPr>
          <a:xfrm>
            <a:off x="6915150" y="2331839"/>
            <a:ext cx="1714500" cy="247650"/>
          </a:xfrm>
          <a:prstGeom prst="roundRect">
            <a:avLst>
              <a:gd name="adj" fmla="val 15385"/>
            </a:avLst>
          </a:prstGeom>
          <a:solidFill>
            <a:srgbClr val="01A9DB"/>
          </a:solidFill>
          <a:ln/>
        </p:spPr>
        <p:txBody>
          <a:bodyPr wrap="square" rtlCol="0" anchor="ctr"/>
          <a:lstStyle/>
          <a:p>
            <a:pPr indent="0" marL="0">
              <a:buNone/>
            </a:pPr>
            <a:endParaRPr lang="en-US" dirty="0"/>
          </a:p>
        </p:txBody>
      </p:sp>
      <p:sp>
        <p:nvSpPr>
          <p:cNvPr id="23" name="Text 21"/>
          <p:cNvSpPr/>
          <p:nvPr/>
        </p:nvSpPr>
        <p:spPr>
          <a:xfrm>
            <a:off x="7010400" y="2388989"/>
            <a:ext cx="155448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2027+</a:t>
            </a:r>
            <a:endParaRPr lang="en-US" sz="750" dirty="0"/>
          </a:p>
        </p:txBody>
      </p:sp>
      <p:sp>
        <p:nvSpPr>
          <p:cNvPr id="24" name="Text 22"/>
          <p:cNvSpPr/>
          <p:nvPr/>
        </p:nvSpPr>
        <p:spPr>
          <a:xfrm>
            <a:off x="6915150" y="2827139"/>
            <a:ext cx="1748790"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01A9DB"/>
                </a:solidFill>
                <a:latin typeface="Arial" pitchFamily="34" charset="0"/>
                <a:ea typeface="Arial" pitchFamily="34" charset="-122"/>
                <a:cs typeface="Arial" pitchFamily="34" charset="-120"/>
              </a:rPr>
              <a:t>Long-Term</a:t>
            </a:r>
            <a:endParaRPr lang="en-US" sz="1050" dirty="0"/>
          </a:p>
        </p:txBody>
      </p:sp>
      <p:sp>
        <p:nvSpPr>
          <p:cNvPr id="25" name="Text 23"/>
          <p:cNvSpPr/>
          <p:nvPr/>
        </p:nvSpPr>
        <p:spPr>
          <a:xfrm>
            <a:off x="6915150" y="3242370"/>
            <a:ext cx="1748790" cy="293191"/>
          </a:xfrm>
          <a:prstGeom prst="rect">
            <a:avLst/>
          </a:prstGeom>
          <a:noFill/>
          <a:ln/>
        </p:spPr>
        <p:txBody>
          <a:bodyPr wrap="square" lIns="0" tIns="0" rIns="0" bIns="0" rtlCol="0" anchor="t"/>
          <a:lstStyle/>
          <a:p>
            <a:pPr algn="l" indent="0" marL="0">
              <a:lnSpc>
                <a:spcPts val="1155"/>
              </a:lnSpc>
              <a:buNone/>
            </a:pPr>
            <a:r>
              <a:rPr lang="en-US" sz="825" dirty="0">
                <a:solidFill>
                  <a:srgbClr val="FFFFFF"/>
                </a:solidFill>
                <a:latin typeface="Arial" pitchFamily="34" charset="0"/>
                <a:ea typeface="Arial" pitchFamily="34" charset="-122"/>
                <a:cs typeface="Arial" pitchFamily="34" charset="-120"/>
              </a:rPr>
              <a:t>[To fill in]: Enterprise features and expansion to adjacent verticals</a:t>
            </a:r>
            <a:endParaRPr lang="en-US" sz="825" dirty="0"/>
          </a:p>
        </p:txBody>
      </p:sp>
      <p:sp>
        <p:nvSpPr>
          <p:cNvPr id="26" name="Text 24"/>
          <p:cNvSpPr/>
          <p:nvPr/>
        </p:nvSpPr>
        <p:spPr>
          <a:xfrm>
            <a:off x="8733234" y="4743450"/>
            <a:ext cx="108085"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FB4100"/>
          </a:solidFill>
          <a:ln/>
        </p:spPr>
        <p:txBody>
          <a:bodyPr wrap="square" rtlCol="0" anchor="ctr"/>
          <a:lstStyle/>
          <a:p>
            <a:pPr indent="0" marL="0">
              <a:buNone/>
            </a:pPr>
            <a:endParaRPr lang="en-US" dirty="0"/>
          </a:p>
        </p:txBody>
      </p:sp>
      <p:sp>
        <p:nvSpPr>
          <p:cNvPr id="3" name="Text 1"/>
          <p:cNvSpPr/>
          <p:nvPr/>
        </p:nvSpPr>
        <p:spPr>
          <a:xfrm>
            <a:off x="8515350" y="228600"/>
            <a:ext cx="330327" cy="159990"/>
          </a:xfrm>
          <a:prstGeom prst="rect">
            <a:avLst/>
          </a:prstGeom>
          <a:noFill/>
          <a:ln/>
        </p:spPr>
        <p:txBody>
          <a:bodyPr wrap="square" lIns="0" tIns="0" rIns="0" bIns="0" rtlCol="0" anchor="t"/>
          <a:lstStyle/>
          <a:p>
            <a:pPr algn="l" indent="0" marL="0">
              <a:lnSpc>
                <a:spcPts val="1260"/>
              </a:lnSpc>
              <a:buNone/>
            </a:pPr>
            <a:r>
              <a:rPr lang="en-US" sz="900" b="1" dirty="0">
                <a:solidFill>
                  <a:srgbClr val="07253D"/>
                </a:solidFill>
                <a:latin typeface="Arial" pitchFamily="34" charset="0"/>
                <a:ea typeface="Arial" pitchFamily="34" charset="-122"/>
                <a:cs typeface="Arial" pitchFamily="34" charset="-120"/>
              </a:rPr>
              <a:t>HELM</a:t>
            </a:r>
            <a:endParaRPr lang="en-US" sz="900" dirty="0"/>
          </a:p>
        </p:txBody>
      </p:sp>
      <p:sp>
        <p:nvSpPr>
          <p:cNvPr id="4" name="Text 2"/>
          <p:cNvSpPr/>
          <p:nvPr/>
        </p:nvSpPr>
        <p:spPr>
          <a:xfrm>
            <a:off x="381000" y="266700"/>
            <a:ext cx="4284536" cy="304800"/>
          </a:xfrm>
          <a:prstGeom prst="rect">
            <a:avLst/>
          </a:prstGeom>
          <a:noFill/>
          <a:ln/>
        </p:spPr>
        <p:txBody>
          <a:bodyPr wrap="square" lIns="0" tIns="0" rIns="0" bIns="0" rtlCol="0" anchor="t"/>
          <a:lstStyle/>
          <a:p>
            <a:pPr algn="l" indent="0" marL="0">
              <a:lnSpc>
                <a:spcPts val="2400"/>
              </a:lnSpc>
              <a:spcAft>
                <a:spcPts val="300"/>
              </a:spcAft>
              <a:buNone/>
            </a:pPr>
            <a:r>
              <a:rPr lang="en-US" sz="2400" b="1" dirty="0">
                <a:solidFill>
                  <a:srgbClr val="07253D"/>
                </a:solidFill>
                <a:latin typeface="Arial" pitchFamily="34" charset="0"/>
                <a:ea typeface="Arial" pitchFamily="34" charset="-122"/>
                <a:cs typeface="Arial" pitchFamily="34" charset="-120"/>
              </a:rPr>
              <a:t>The Ask</a:t>
            </a:r>
            <a:endParaRPr lang="en-US" sz="2400" dirty="0"/>
          </a:p>
        </p:txBody>
      </p:sp>
      <p:sp>
        <p:nvSpPr>
          <p:cNvPr id="5" name="Text 3"/>
          <p:cNvSpPr/>
          <p:nvPr/>
        </p:nvSpPr>
        <p:spPr>
          <a:xfrm>
            <a:off x="381000" y="609600"/>
            <a:ext cx="762000" cy="38100"/>
          </a:xfrm>
          <a:prstGeom prst="rect">
            <a:avLst/>
          </a:prstGeom>
          <a:solidFill>
            <a:srgbClr val="FB4100"/>
          </a:solidFill>
          <a:ln/>
        </p:spPr>
        <p:txBody>
          <a:bodyPr wrap="square" rtlCol="0" anchor="ctr"/>
          <a:lstStyle/>
          <a:p>
            <a:pPr indent="0" marL="0">
              <a:buNone/>
            </a:pPr>
            <a:endParaRPr lang="en-US" dirty="0"/>
          </a:p>
        </p:txBody>
      </p:sp>
      <p:sp>
        <p:nvSpPr>
          <p:cNvPr id="6" name="Text 4"/>
          <p:cNvSpPr/>
          <p:nvPr/>
        </p:nvSpPr>
        <p:spPr>
          <a:xfrm>
            <a:off x="381000" y="1921371"/>
            <a:ext cx="3261420" cy="2024509"/>
          </a:xfrm>
          <a:prstGeom prst="roundRect">
            <a:avLst>
              <a:gd name="adj" fmla="val 3764"/>
            </a:avLst>
          </a:prstGeom>
          <a:solidFill>
            <a:srgbClr val="07253D"/>
          </a:solidFill>
          <a:ln/>
        </p:spPr>
        <p:txBody>
          <a:bodyPr wrap="square" rtlCol="0" anchor="ctr"/>
          <a:lstStyle/>
          <a:p>
            <a:pPr indent="0" marL="0">
              <a:buNone/>
            </a:pPr>
            <a:endParaRPr lang="en-US" dirty="0"/>
          </a:p>
        </p:txBody>
      </p:sp>
      <p:sp>
        <p:nvSpPr>
          <p:cNvPr id="7" name="Text 5"/>
          <p:cNvSpPr/>
          <p:nvPr/>
        </p:nvSpPr>
        <p:spPr>
          <a:xfrm>
            <a:off x="571500" y="2111871"/>
            <a:ext cx="2938028" cy="186630"/>
          </a:xfrm>
          <a:prstGeom prst="rect">
            <a:avLst/>
          </a:prstGeom>
          <a:noFill/>
          <a:ln/>
        </p:spPr>
        <p:txBody>
          <a:bodyPr wrap="square" lIns="0" tIns="0" rIns="0" bIns="0" rtlCol="0" anchor="t"/>
          <a:lstStyle/>
          <a:p>
            <a:pPr algn="l" indent="0" marL="0">
              <a:lnSpc>
                <a:spcPts val="1470"/>
              </a:lnSpc>
              <a:spcAft>
                <a:spcPts val="1200"/>
              </a:spcAft>
              <a:buNone/>
            </a:pPr>
            <a:r>
              <a:rPr lang="en-US" sz="1050" b="1" dirty="0">
                <a:solidFill>
                  <a:srgbClr val="FB4100"/>
                </a:solidFill>
                <a:latin typeface="Arial" pitchFamily="34" charset="0"/>
                <a:ea typeface="Arial" pitchFamily="34" charset="-122"/>
                <a:cs typeface="Arial" pitchFamily="34" charset="-120"/>
              </a:rPr>
              <a:t>Funding Request</a:t>
            </a:r>
            <a:endParaRPr lang="en-US" sz="1050" dirty="0"/>
          </a:p>
        </p:txBody>
      </p:sp>
      <p:sp>
        <p:nvSpPr>
          <p:cNvPr id="8" name="Text 6"/>
          <p:cNvSpPr/>
          <p:nvPr/>
        </p:nvSpPr>
        <p:spPr>
          <a:xfrm>
            <a:off x="571500" y="2450902"/>
            <a:ext cx="2938028" cy="146596"/>
          </a:xfrm>
          <a:prstGeom prst="rect">
            <a:avLst/>
          </a:prstGeom>
          <a:noFill/>
          <a:ln/>
        </p:spPr>
        <p:txBody>
          <a:bodyPr wrap="square" lIns="0" tIns="0" rIns="0" bIns="0" rtlCol="0" anchor="t"/>
          <a:lstStyle/>
          <a:p>
            <a:pPr algn="l" indent="0" marL="0">
              <a:lnSpc>
                <a:spcPts val="1155"/>
              </a:lnSpc>
              <a:spcAft>
                <a:spcPts val="300"/>
              </a:spcAft>
              <a:buNone/>
            </a:pPr>
            <a:r>
              <a:rPr lang="en-US" sz="825" dirty="0">
                <a:solidFill>
                  <a:srgbClr val="FFFFFF"/>
                </a:solidFill>
                <a:latin typeface="Arial" pitchFamily="34" charset="0"/>
                <a:ea typeface="Arial" pitchFamily="34" charset="-122"/>
                <a:cs typeface="Arial" pitchFamily="34" charset="-120"/>
              </a:rPr>
              <a:t>Amount Sought</a:t>
            </a:r>
            <a:endParaRPr lang="en-US" sz="825" dirty="0"/>
          </a:p>
        </p:txBody>
      </p:sp>
      <p:sp>
        <p:nvSpPr>
          <p:cNvPr id="9" name="Text 7"/>
          <p:cNvSpPr/>
          <p:nvPr/>
        </p:nvSpPr>
        <p:spPr>
          <a:xfrm>
            <a:off x="571500" y="2635597"/>
            <a:ext cx="2938028" cy="373261"/>
          </a:xfrm>
          <a:prstGeom prst="rect">
            <a:avLst/>
          </a:prstGeom>
          <a:noFill/>
          <a:ln/>
        </p:spPr>
        <p:txBody>
          <a:bodyPr wrap="square" lIns="0" tIns="0" rIns="0" bIns="0" rtlCol="0" anchor="t"/>
          <a:lstStyle/>
          <a:p>
            <a:pPr algn="l" indent="0" marL="0">
              <a:lnSpc>
                <a:spcPts val="2940"/>
              </a:lnSpc>
              <a:buNone/>
            </a:pPr>
            <a:r>
              <a:rPr lang="en-US" sz="2100" b="1" dirty="0">
                <a:solidFill>
                  <a:srgbClr val="01A9DB"/>
                </a:solidFill>
                <a:latin typeface="Arial" pitchFamily="34" charset="0"/>
                <a:ea typeface="Arial" pitchFamily="34" charset="-122"/>
                <a:cs typeface="Arial" pitchFamily="34" charset="-120"/>
              </a:rPr>
              <a:t>[To fill in]</a:t>
            </a:r>
            <a:endParaRPr lang="en-US" sz="2100" dirty="0"/>
          </a:p>
        </p:txBody>
      </p:sp>
      <p:sp>
        <p:nvSpPr>
          <p:cNvPr id="10" name="Text 8"/>
          <p:cNvSpPr/>
          <p:nvPr/>
        </p:nvSpPr>
        <p:spPr>
          <a:xfrm>
            <a:off x="571500" y="3199358"/>
            <a:ext cx="2938028" cy="146596"/>
          </a:xfrm>
          <a:prstGeom prst="rect">
            <a:avLst/>
          </a:prstGeom>
          <a:noFill/>
          <a:ln/>
        </p:spPr>
        <p:txBody>
          <a:bodyPr wrap="square" lIns="0" tIns="0" rIns="0" bIns="0" rtlCol="0" anchor="t"/>
          <a:lstStyle/>
          <a:p>
            <a:pPr algn="l" indent="0" marL="0">
              <a:lnSpc>
                <a:spcPts val="1155"/>
              </a:lnSpc>
              <a:spcAft>
                <a:spcPts val="300"/>
              </a:spcAft>
              <a:buNone/>
            </a:pPr>
            <a:r>
              <a:rPr lang="en-US" sz="825" dirty="0">
                <a:solidFill>
                  <a:srgbClr val="FFFFFF"/>
                </a:solidFill>
                <a:latin typeface="Arial" pitchFamily="34" charset="0"/>
                <a:ea typeface="Arial" pitchFamily="34" charset="-122"/>
                <a:cs typeface="Arial" pitchFamily="34" charset="-120"/>
              </a:rPr>
              <a:t>Round Structure</a:t>
            </a:r>
            <a:endParaRPr lang="en-US" sz="825" dirty="0"/>
          </a:p>
        </p:txBody>
      </p:sp>
      <p:sp>
        <p:nvSpPr>
          <p:cNvPr id="11" name="Text 9"/>
          <p:cNvSpPr/>
          <p:nvPr/>
        </p:nvSpPr>
        <p:spPr>
          <a:xfrm>
            <a:off x="571500" y="3384054"/>
            <a:ext cx="2938028"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[To fill in]</a:t>
            </a:r>
            <a:endParaRPr lang="en-US" sz="1050" dirty="0"/>
          </a:p>
        </p:txBody>
      </p:sp>
      <p:sp>
        <p:nvSpPr>
          <p:cNvPr id="12" name="Text 10"/>
          <p:cNvSpPr/>
          <p:nvPr/>
        </p:nvSpPr>
        <p:spPr>
          <a:xfrm>
            <a:off x="571500" y="3608784"/>
            <a:ext cx="2938028"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FFFFFF"/>
                </a:solidFill>
                <a:latin typeface="Arial" pitchFamily="34" charset="0"/>
                <a:ea typeface="Arial" pitchFamily="34" charset="-122"/>
                <a:cs typeface="Arial" pitchFamily="34" charset="-120"/>
              </a:rPr>
              <a:t>SAFE, priced, etc.</a:t>
            </a:r>
            <a:endParaRPr lang="en-US" sz="825" dirty="0"/>
          </a:p>
        </p:txBody>
      </p:sp>
      <p:sp>
        <p:nvSpPr>
          <p:cNvPr id="13" name="Text 11"/>
          <p:cNvSpPr/>
          <p:nvPr/>
        </p:nvSpPr>
        <p:spPr>
          <a:xfrm>
            <a:off x="3871020" y="1923157"/>
            <a:ext cx="4891980" cy="1110407"/>
          </a:xfrm>
          <a:prstGeom prst="roundRect">
            <a:avLst>
              <a:gd name="adj" fmla="val 5147"/>
            </a:avLst>
          </a:prstGeom>
          <a:solidFill>
            <a:srgbClr val="F5F7FA"/>
          </a:solidFill>
          <a:ln/>
        </p:spPr>
        <p:txBody>
          <a:bodyPr wrap="square" rtlCol="0" anchor="ctr"/>
          <a:lstStyle/>
          <a:p>
            <a:pPr indent="0" marL="0">
              <a:buNone/>
            </a:pPr>
            <a:endParaRPr lang="en-US" dirty="0"/>
          </a:p>
        </p:txBody>
      </p:sp>
      <p:sp>
        <p:nvSpPr>
          <p:cNvPr id="14" name="Shape 12"/>
          <p:cNvSpPr/>
          <p:nvPr/>
        </p:nvSpPr>
        <p:spPr>
          <a:xfrm>
            <a:off x="3890070" y="1923157"/>
            <a:ext cx="0" cy="1110407"/>
          </a:xfrm>
          <a:prstGeom prst="line">
            <a:avLst/>
          </a:prstGeom>
          <a:noFill/>
          <a:ln w="38100">
            <a:solidFill>
              <a:srgbClr val="01A9DB"/>
            </a:solidFill>
            <a:prstDash val="solid"/>
          </a:ln>
        </p:spPr>
      </p:sp>
      <p:sp>
        <p:nvSpPr>
          <p:cNvPr id="15" name="Text 13"/>
          <p:cNvSpPr/>
          <p:nvPr/>
        </p:nvSpPr>
        <p:spPr>
          <a:xfrm>
            <a:off x="4061520" y="2075557"/>
            <a:ext cx="4640062" cy="186630"/>
          </a:xfrm>
          <a:prstGeom prst="rect">
            <a:avLst/>
          </a:prstGeom>
          <a:noFill/>
          <a:ln/>
        </p:spPr>
        <p:txBody>
          <a:bodyPr wrap="square" lIns="0" tIns="0" rIns="0" bIns="0" rtlCol="0" anchor="t"/>
          <a:lstStyle/>
          <a:p>
            <a:pPr algn="l" indent="0" marL="0">
              <a:lnSpc>
                <a:spcPts val="1470"/>
              </a:lnSpc>
              <a:spcAft>
                <a:spcPts val="900"/>
              </a:spcAft>
              <a:buNone/>
            </a:pPr>
            <a:r>
              <a:rPr lang="en-US" sz="1050" b="1" dirty="0">
                <a:solidFill>
                  <a:srgbClr val="01A9DB"/>
                </a:solidFill>
                <a:latin typeface="Arial" pitchFamily="34" charset="0"/>
                <a:ea typeface="Arial" pitchFamily="34" charset="-122"/>
                <a:cs typeface="Arial" pitchFamily="34" charset="-120"/>
              </a:rPr>
              <a:t>Use of Funds</a:t>
            </a:r>
            <a:endParaRPr lang="en-US" sz="1050" dirty="0"/>
          </a:p>
        </p:txBody>
      </p:sp>
      <p:sp>
        <p:nvSpPr>
          <p:cNvPr id="16" name="Text 14"/>
          <p:cNvSpPr/>
          <p:nvPr/>
        </p:nvSpPr>
        <p:spPr>
          <a:xfrm>
            <a:off x="4047626" y="2376488"/>
            <a:ext cx="1417097" cy="319980"/>
          </a:xfrm>
          <a:prstGeom prst="rect">
            <a:avLst/>
          </a:prstGeom>
          <a:noFill/>
          <a:ln/>
        </p:spPr>
        <p:txBody>
          <a:bodyPr wrap="square" lIns="0" tIns="0" rIns="0" bIns="0" rtlCol="0" anchor="t"/>
          <a:lstStyle/>
          <a:p>
            <a:pPr algn="ctr" indent="0" marL="0">
              <a:lnSpc>
                <a:spcPts val="2520"/>
              </a:lnSpc>
              <a:buNone/>
            </a:pPr>
            <a:r>
              <a:rPr lang="en-US" sz="1800" b="1" dirty="0">
                <a:solidFill>
                  <a:srgbClr val="01A9DB"/>
                </a:solidFill>
                <a:latin typeface="Arial" pitchFamily="34" charset="0"/>
                <a:ea typeface="Arial" pitchFamily="34" charset="-122"/>
                <a:cs typeface="Arial" pitchFamily="34" charset="-120"/>
              </a:rPr>
              <a:t>[X]%</a:t>
            </a:r>
            <a:endParaRPr lang="en-US" sz="1800" dirty="0"/>
          </a:p>
        </p:txBody>
      </p:sp>
      <p:sp>
        <p:nvSpPr>
          <p:cNvPr id="17" name="Text 15"/>
          <p:cNvSpPr/>
          <p:nvPr/>
        </p:nvSpPr>
        <p:spPr>
          <a:xfrm>
            <a:off x="4047626" y="2734568"/>
            <a:ext cx="1417097"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44546A"/>
                </a:solidFill>
                <a:latin typeface="Arial" pitchFamily="34" charset="0"/>
                <a:ea typeface="Arial" pitchFamily="34" charset="-122"/>
                <a:cs typeface="Arial" pitchFamily="34" charset="-120"/>
              </a:rPr>
              <a:t>Engineering/Product</a:t>
            </a:r>
            <a:endParaRPr lang="en-US" sz="825" dirty="0"/>
          </a:p>
        </p:txBody>
      </p:sp>
      <p:sp>
        <p:nvSpPr>
          <p:cNvPr id="18" name="Text 16"/>
          <p:cNvSpPr/>
          <p:nvPr/>
        </p:nvSpPr>
        <p:spPr>
          <a:xfrm>
            <a:off x="5627437" y="2376488"/>
            <a:ext cx="1417097" cy="319980"/>
          </a:xfrm>
          <a:prstGeom prst="rect">
            <a:avLst/>
          </a:prstGeom>
          <a:noFill/>
          <a:ln/>
        </p:spPr>
        <p:txBody>
          <a:bodyPr wrap="square" lIns="0" tIns="0" rIns="0" bIns="0" rtlCol="0" anchor="t"/>
          <a:lstStyle/>
          <a:p>
            <a:pPr algn="ctr" indent="0" marL="0">
              <a:lnSpc>
                <a:spcPts val="2520"/>
              </a:lnSpc>
              <a:buNone/>
            </a:pPr>
            <a:r>
              <a:rPr lang="en-US" sz="1800" b="1" dirty="0">
                <a:solidFill>
                  <a:srgbClr val="01A9DB"/>
                </a:solidFill>
                <a:latin typeface="Arial" pitchFamily="34" charset="0"/>
                <a:ea typeface="Arial" pitchFamily="34" charset="-122"/>
                <a:cs typeface="Arial" pitchFamily="34" charset="-120"/>
              </a:rPr>
              <a:t>[X]%</a:t>
            </a:r>
            <a:endParaRPr lang="en-US" sz="1800" dirty="0"/>
          </a:p>
        </p:txBody>
      </p:sp>
      <p:sp>
        <p:nvSpPr>
          <p:cNvPr id="19" name="Text 17"/>
          <p:cNvSpPr/>
          <p:nvPr/>
        </p:nvSpPr>
        <p:spPr>
          <a:xfrm>
            <a:off x="5627437" y="2734568"/>
            <a:ext cx="1417097"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44546A"/>
                </a:solidFill>
                <a:latin typeface="Arial" pitchFamily="34" charset="0"/>
                <a:ea typeface="Arial" pitchFamily="34" charset="-122"/>
                <a:cs typeface="Arial" pitchFamily="34" charset="-120"/>
              </a:rPr>
              <a:t>Sales &amp; Marketing</a:t>
            </a:r>
            <a:endParaRPr lang="en-US" sz="825" dirty="0"/>
          </a:p>
        </p:txBody>
      </p:sp>
      <p:sp>
        <p:nvSpPr>
          <p:cNvPr id="20" name="Text 18"/>
          <p:cNvSpPr/>
          <p:nvPr/>
        </p:nvSpPr>
        <p:spPr>
          <a:xfrm>
            <a:off x="7207248" y="2376488"/>
            <a:ext cx="1417097" cy="319980"/>
          </a:xfrm>
          <a:prstGeom prst="rect">
            <a:avLst/>
          </a:prstGeom>
          <a:noFill/>
          <a:ln/>
        </p:spPr>
        <p:txBody>
          <a:bodyPr wrap="square" lIns="0" tIns="0" rIns="0" bIns="0" rtlCol="0" anchor="t"/>
          <a:lstStyle/>
          <a:p>
            <a:pPr algn="ctr" indent="0" marL="0">
              <a:lnSpc>
                <a:spcPts val="2520"/>
              </a:lnSpc>
              <a:buNone/>
            </a:pPr>
            <a:r>
              <a:rPr lang="en-US" sz="1800" b="1" dirty="0">
                <a:solidFill>
                  <a:srgbClr val="01A9DB"/>
                </a:solidFill>
                <a:latin typeface="Arial" pitchFamily="34" charset="0"/>
                <a:ea typeface="Arial" pitchFamily="34" charset="-122"/>
                <a:cs typeface="Arial" pitchFamily="34" charset="-120"/>
              </a:rPr>
              <a:t>[X]%</a:t>
            </a:r>
            <a:endParaRPr lang="en-US" sz="1800" dirty="0"/>
          </a:p>
        </p:txBody>
      </p:sp>
      <p:sp>
        <p:nvSpPr>
          <p:cNvPr id="21" name="Text 19"/>
          <p:cNvSpPr/>
          <p:nvPr/>
        </p:nvSpPr>
        <p:spPr>
          <a:xfrm>
            <a:off x="7207248" y="2734568"/>
            <a:ext cx="1417097"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44546A"/>
                </a:solidFill>
                <a:latin typeface="Arial" pitchFamily="34" charset="0"/>
                <a:ea typeface="Arial" pitchFamily="34" charset="-122"/>
                <a:cs typeface="Arial" pitchFamily="34" charset="-120"/>
              </a:rPr>
              <a:t>Operations</a:t>
            </a:r>
            <a:endParaRPr lang="en-US" sz="825" dirty="0"/>
          </a:p>
        </p:txBody>
      </p:sp>
      <p:sp>
        <p:nvSpPr>
          <p:cNvPr id="22" name="Text 20"/>
          <p:cNvSpPr/>
          <p:nvPr/>
        </p:nvSpPr>
        <p:spPr>
          <a:xfrm>
            <a:off x="3871020" y="3185964"/>
            <a:ext cx="4891980" cy="758130"/>
          </a:xfrm>
          <a:prstGeom prst="roundRect">
            <a:avLst>
              <a:gd name="adj" fmla="val 7538"/>
            </a:avLst>
          </a:prstGeom>
          <a:solidFill>
            <a:srgbClr val="F5F7FA"/>
          </a:solidFill>
          <a:ln/>
        </p:spPr>
        <p:txBody>
          <a:bodyPr wrap="square" rtlCol="0" anchor="ctr"/>
          <a:lstStyle/>
          <a:p>
            <a:pPr indent="0" marL="0">
              <a:buNone/>
            </a:pPr>
            <a:endParaRPr lang="en-US" dirty="0"/>
          </a:p>
        </p:txBody>
      </p:sp>
      <p:sp>
        <p:nvSpPr>
          <p:cNvPr id="23" name="Shape 21"/>
          <p:cNvSpPr/>
          <p:nvPr/>
        </p:nvSpPr>
        <p:spPr>
          <a:xfrm>
            <a:off x="3890070" y="3185964"/>
            <a:ext cx="0" cy="758130"/>
          </a:xfrm>
          <a:prstGeom prst="line">
            <a:avLst/>
          </a:prstGeom>
          <a:noFill/>
          <a:ln w="38100">
            <a:solidFill>
              <a:srgbClr val="01A9DB"/>
            </a:solidFill>
            <a:prstDash val="solid"/>
          </a:ln>
        </p:spPr>
      </p:sp>
      <p:sp>
        <p:nvSpPr>
          <p:cNvPr id="24" name="Text 22"/>
          <p:cNvSpPr/>
          <p:nvPr/>
        </p:nvSpPr>
        <p:spPr>
          <a:xfrm>
            <a:off x="4061520" y="3338364"/>
            <a:ext cx="4640062" cy="186630"/>
          </a:xfrm>
          <a:prstGeom prst="rect">
            <a:avLst/>
          </a:prstGeom>
          <a:noFill/>
          <a:ln/>
        </p:spPr>
        <p:txBody>
          <a:bodyPr wrap="square" lIns="0" tIns="0" rIns="0" bIns="0" rtlCol="0" anchor="t"/>
          <a:lstStyle/>
          <a:p>
            <a:pPr algn="l" indent="0" marL="0">
              <a:lnSpc>
                <a:spcPts val="1470"/>
              </a:lnSpc>
              <a:spcAft>
                <a:spcPts val="750"/>
              </a:spcAft>
              <a:buNone/>
            </a:pPr>
            <a:r>
              <a:rPr lang="en-US" sz="1050" b="1" dirty="0">
                <a:solidFill>
                  <a:srgbClr val="01A9DB"/>
                </a:solidFill>
                <a:latin typeface="Arial" pitchFamily="34" charset="0"/>
                <a:ea typeface="Arial" pitchFamily="34" charset="-122"/>
                <a:cs typeface="Arial" pitchFamily="34" charset="-120"/>
              </a:rPr>
              <a:t>Key Milestones</a:t>
            </a:r>
            <a:endParaRPr lang="en-US" sz="1050" dirty="0"/>
          </a:p>
        </p:txBody>
      </p:sp>
      <p:sp>
        <p:nvSpPr>
          <p:cNvPr id="25" name="Text 23"/>
          <p:cNvSpPr/>
          <p:nvPr/>
        </p:nvSpPr>
        <p:spPr>
          <a:xfrm>
            <a:off x="4061520" y="3620244"/>
            <a:ext cx="4640062" cy="171450"/>
          </a:xfrm>
          <a:prstGeom prst="rect">
            <a:avLst/>
          </a:prstGeom>
          <a:noFill/>
          <a:ln/>
        </p:spPr>
        <p:txBody>
          <a:bodyPr wrap="square" lIns="0" tIns="0" rIns="0" bIns="0" rtlCol="0" anchor="t"/>
          <a:lstStyle/>
          <a:p>
            <a:pPr algn="l" indent="0" marL="0">
              <a:lnSpc>
                <a:spcPts val="1350"/>
              </a:lnSpc>
              <a:buNone/>
            </a:pPr>
            <a:r>
              <a:rPr lang="en-US" sz="900" b="1" dirty="0">
                <a:solidFill>
                  <a:srgbClr val="07253D"/>
                </a:solidFill>
                <a:latin typeface="Arial" pitchFamily="34" charset="0"/>
                <a:ea typeface="Arial" pitchFamily="34" charset="-122"/>
                <a:cs typeface="Arial" pitchFamily="34" charset="-120"/>
              </a:rPr>
              <a:t>[To fill in]:</a:t>
            </a:r>
            <a:pPr algn="l" indent="0" marL="0">
              <a:lnSpc>
                <a:spcPts val="1350"/>
              </a:lnSpc>
              <a:buNone/>
            </a:pPr>
            <a:r>
              <a:rPr lang="en-US" sz="900" dirty="0">
                <a:solidFill>
                  <a:srgbClr val="44546A"/>
                </a:solidFill>
                <a:latin typeface="Arial" pitchFamily="34" charset="0"/>
                <a:ea typeface="Arial" pitchFamily="34" charset="-122"/>
                <a:cs typeface="Arial" pitchFamily="34" charset="-120"/>
              </a:rPr>
              <a:t> 3-4 major objectives and targets</a:t>
            </a:r>
            <a:endParaRPr lang="en-US" sz="900" dirty="0"/>
          </a:p>
        </p:txBody>
      </p:sp>
      <p:sp>
        <p:nvSpPr>
          <p:cNvPr id="26" name="Text 24"/>
          <p:cNvSpPr/>
          <p:nvPr/>
        </p:nvSpPr>
        <p:spPr>
          <a:xfrm>
            <a:off x="8733234" y="4743450"/>
            <a:ext cx="108085" cy="133350"/>
          </a:xfrm>
          <a:prstGeom prst="rect">
            <a:avLst/>
          </a:prstGeom>
          <a:noFill/>
          <a:ln/>
        </p:spPr>
        <p:txBody>
          <a:bodyPr wrap="square" lIns="0" tIns="0" rIns="0" bIns="0" rtlCol="0" anchor="t"/>
          <a:lstStyle/>
          <a:p>
            <a:pPr algn="l" indent="0" marL="0">
              <a:lnSpc>
                <a:spcPts val="1050"/>
              </a:lnSpc>
              <a:buNone/>
            </a:pPr>
            <a:r>
              <a:rPr lang="en-US" sz="750" dirty="0">
                <a:solidFill>
                  <a:srgbClr val="44546A"/>
                </a:solidFill>
                <a:latin typeface="Arial" pitchFamily="34" charset="0"/>
                <a:ea typeface="Arial" pitchFamily="34" charset="-122"/>
                <a:cs typeface="Arial" pitchFamily="34" charset="-120"/>
              </a:rPr>
              <a:t>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4800" y="228600"/>
            <a:ext cx="502322"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HELM</a:t>
            </a:r>
            <a:endParaRPr lang="en-US" sz="1050" dirty="0"/>
          </a:p>
        </p:txBody>
      </p:sp>
      <p:sp>
        <p:nvSpPr>
          <p:cNvPr id="3" name="Text 1"/>
          <p:cNvSpPr/>
          <p:nvPr/>
        </p:nvSpPr>
        <p:spPr>
          <a:xfrm>
            <a:off x="304800" y="434280"/>
            <a:ext cx="502322"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01A9DB"/>
                </a:solidFill>
                <a:latin typeface="Arial" pitchFamily="34" charset="0"/>
                <a:ea typeface="Arial" pitchFamily="34" charset="-122"/>
                <a:cs typeface="Arial" pitchFamily="34" charset="-120"/>
              </a:rPr>
              <a:t>by Synaptic</a:t>
            </a:r>
            <a:endParaRPr lang="en-US" sz="750" dirty="0"/>
          </a:p>
        </p:txBody>
      </p:sp>
      <p:sp>
        <p:nvSpPr>
          <p:cNvPr id="4" name="Text 2"/>
          <p:cNvSpPr/>
          <p:nvPr/>
        </p:nvSpPr>
        <p:spPr>
          <a:xfrm>
            <a:off x="1157002" y="1006078"/>
            <a:ext cx="6829997" cy="411361"/>
          </a:xfrm>
          <a:prstGeom prst="rect">
            <a:avLst/>
          </a:prstGeom>
          <a:noFill/>
          <a:ln/>
        </p:spPr>
        <p:txBody>
          <a:bodyPr wrap="square" lIns="0" tIns="0" rIns="0" bIns="0" rtlCol="0" anchor="t"/>
          <a:lstStyle/>
          <a:p>
            <a:pPr algn="ctr" indent="0" marL="0">
              <a:lnSpc>
                <a:spcPts val="3240"/>
              </a:lnSpc>
              <a:spcAft>
                <a:spcPts val="1800"/>
              </a:spcAft>
              <a:buNone/>
            </a:pPr>
            <a:r>
              <a:rPr lang="en-US" sz="2700" b="1" dirty="0">
                <a:solidFill>
                  <a:srgbClr val="FFFFFF"/>
                </a:solidFill>
                <a:latin typeface="Arial" pitchFamily="34" charset="0"/>
                <a:ea typeface="Arial" pitchFamily="34" charset="-122"/>
                <a:cs typeface="Arial" pitchFamily="34" charset="-120"/>
              </a:rPr>
              <a:t>Building the Future of Agent Governance</a:t>
            </a:r>
            <a:endParaRPr lang="en-US" sz="2700" dirty="0"/>
          </a:p>
        </p:txBody>
      </p:sp>
      <p:sp>
        <p:nvSpPr>
          <p:cNvPr id="5" name="Text 3"/>
          <p:cNvSpPr/>
          <p:nvPr/>
        </p:nvSpPr>
        <p:spPr>
          <a:xfrm>
            <a:off x="857250" y="1798439"/>
            <a:ext cx="7429500" cy="1020812"/>
          </a:xfrm>
          <a:prstGeom prst="roundRect">
            <a:avLst>
              <a:gd name="adj" fmla="val 7465"/>
            </a:avLst>
          </a:prstGeom>
          <a:solidFill>
            <a:srgbClr val="01A9DB">
              <a:alpha val="15000"/>
            </a:srgbClr>
          </a:solidFill>
          <a:ln/>
        </p:spPr>
        <p:txBody>
          <a:bodyPr wrap="square" rtlCol="0" anchor="ctr"/>
          <a:lstStyle/>
          <a:p>
            <a:pPr indent="0" marL="0">
              <a:buNone/>
            </a:pPr>
            <a:endParaRPr lang="en-US" dirty="0"/>
          </a:p>
        </p:txBody>
      </p:sp>
      <p:sp>
        <p:nvSpPr>
          <p:cNvPr id="6" name="Shape 4"/>
          <p:cNvSpPr/>
          <p:nvPr/>
        </p:nvSpPr>
        <p:spPr>
          <a:xfrm>
            <a:off x="876300" y="1798439"/>
            <a:ext cx="0" cy="1020812"/>
          </a:xfrm>
          <a:prstGeom prst="line">
            <a:avLst/>
          </a:prstGeom>
          <a:noFill/>
          <a:ln w="38100">
            <a:solidFill>
              <a:srgbClr val="01A9DB"/>
            </a:solidFill>
            <a:prstDash val="solid"/>
          </a:ln>
        </p:spPr>
      </p:sp>
      <p:sp>
        <p:nvSpPr>
          <p:cNvPr id="7" name="Text 5"/>
          <p:cNvSpPr/>
          <p:nvPr/>
        </p:nvSpPr>
        <p:spPr>
          <a:xfrm>
            <a:off x="1093470" y="1988939"/>
            <a:ext cx="6995160" cy="639812"/>
          </a:xfrm>
          <a:prstGeom prst="rect">
            <a:avLst/>
          </a:prstGeom>
          <a:noFill/>
          <a:ln/>
        </p:spPr>
        <p:txBody>
          <a:bodyPr wrap="square" lIns="0" tIns="0" rIns="0" bIns="0" rtlCol="0" anchor="t"/>
          <a:lstStyle/>
          <a:p>
            <a:pPr algn="ctr" indent="0" marL="0">
              <a:lnSpc>
                <a:spcPts val="1680"/>
              </a:lnSpc>
              <a:buNone/>
            </a:pPr>
            <a:r>
              <a:rPr lang="en-US" sz="1050" i="1" dirty="0">
                <a:solidFill>
                  <a:srgbClr val="FFFFFF"/>
                </a:solidFill>
                <a:latin typeface="Arial" pitchFamily="34" charset="0"/>
                <a:ea typeface="Arial" pitchFamily="34" charset="-122"/>
                <a:cs typeface="Arial" pitchFamily="34" charset="-120"/>
              </a:rPr>
              <a:t>"Helm is building the decision intelligence infrastructure for the service industry—a world where every decision is understood, every agent is governed by human wisdom, and every outcome drives continuous organizational learning."</a:t>
            </a:r>
            <a:endParaRPr lang="en-US" sz="1050" dirty="0"/>
          </a:p>
        </p:txBody>
      </p:sp>
      <p:sp>
        <p:nvSpPr>
          <p:cNvPr id="8" name="Text 6"/>
          <p:cNvSpPr/>
          <p:nvPr/>
        </p:nvSpPr>
        <p:spPr>
          <a:xfrm>
            <a:off x="1238250" y="3238351"/>
            <a:ext cx="6667500" cy="898922"/>
          </a:xfrm>
          <a:prstGeom prst="roundRect">
            <a:avLst>
              <a:gd name="adj" fmla="val 6358"/>
            </a:avLst>
          </a:prstGeom>
          <a:solidFill>
            <a:srgbClr val="FB4100">
              <a:alpha val="90000"/>
            </a:srgbClr>
          </a:solidFill>
          <a:ln/>
        </p:spPr>
        <p:txBody>
          <a:bodyPr wrap="square" rtlCol="0" anchor="ctr"/>
          <a:lstStyle/>
          <a:p>
            <a:pPr indent="0" marL="0">
              <a:buNone/>
            </a:pPr>
            <a:endParaRPr lang="en-US" dirty="0"/>
          </a:p>
        </p:txBody>
      </p:sp>
      <p:sp>
        <p:nvSpPr>
          <p:cNvPr id="9" name="Text 7"/>
          <p:cNvSpPr/>
          <p:nvPr/>
        </p:nvSpPr>
        <p:spPr>
          <a:xfrm>
            <a:off x="1404747" y="3390751"/>
            <a:ext cx="6334506" cy="186630"/>
          </a:xfrm>
          <a:prstGeom prst="rect">
            <a:avLst/>
          </a:prstGeom>
          <a:noFill/>
          <a:ln/>
        </p:spPr>
        <p:txBody>
          <a:bodyPr wrap="square" lIns="0" tIns="0" rIns="0" bIns="0" rtlCol="0" anchor="t"/>
          <a:lstStyle/>
          <a:p>
            <a:pPr algn="ctr" indent="0" marL="0">
              <a:lnSpc>
                <a:spcPts val="1470"/>
              </a:lnSpc>
              <a:spcAft>
                <a:spcPts val="900"/>
              </a:spcAft>
              <a:buNone/>
            </a:pPr>
            <a:r>
              <a:rPr lang="en-US" sz="1050" b="1" dirty="0">
                <a:solidFill>
                  <a:srgbClr val="FFFFFF"/>
                </a:solidFill>
                <a:latin typeface="Arial" pitchFamily="34" charset="0"/>
                <a:ea typeface="Arial" pitchFamily="34" charset="-122"/>
                <a:cs typeface="Arial" pitchFamily="34" charset="-120"/>
              </a:rPr>
              <a:t>Why Now</a:t>
            </a:r>
            <a:endParaRPr lang="en-US" sz="1050" dirty="0"/>
          </a:p>
        </p:txBody>
      </p:sp>
      <p:sp>
        <p:nvSpPr>
          <p:cNvPr id="10" name="Text 8"/>
          <p:cNvSpPr/>
          <p:nvPr/>
        </p:nvSpPr>
        <p:spPr>
          <a:xfrm>
            <a:off x="1448208" y="3691682"/>
            <a:ext cx="1901506" cy="293191"/>
          </a:xfrm>
          <a:prstGeom prst="rect">
            <a:avLst/>
          </a:prstGeom>
          <a:noFill/>
          <a:ln/>
        </p:spPr>
        <p:txBody>
          <a:bodyPr wrap="square" lIns="0" tIns="0" rIns="0" bIns="0" rtlCol="0" anchor="t"/>
          <a:lstStyle/>
          <a:p>
            <a:pPr algn="ctr" indent="0" marL="0">
              <a:lnSpc>
                <a:spcPts val="1155"/>
              </a:lnSpc>
              <a:buNone/>
            </a:pPr>
            <a:r>
              <a:rPr lang="en-US" sz="825" dirty="0">
                <a:solidFill>
                  <a:srgbClr val="FFFFFF"/>
                </a:solidFill>
                <a:latin typeface="Arial" pitchFamily="34" charset="0"/>
                <a:ea typeface="Arial" pitchFamily="34" charset="-122"/>
                <a:cs typeface="Arial" pitchFamily="34" charset="-120"/>
              </a:rPr>
              <a:t>40% of enterprise apps getting agents by end of 2026</a:t>
            </a:r>
            <a:endParaRPr lang="en-US" sz="825" dirty="0"/>
          </a:p>
        </p:txBody>
      </p:sp>
      <p:sp>
        <p:nvSpPr>
          <p:cNvPr id="11" name="Text 9"/>
          <p:cNvSpPr/>
          <p:nvPr/>
        </p:nvSpPr>
        <p:spPr>
          <a:xfrm>
            <a:off x="3777868" y="3691682"/>
            <a:ext cx="1789777" cy="293191"/>
          </a:xfrm>
          <a:prstGeom prst="rect">
            <a:avLst/>
          </a:prstGeom>
          <a:noFill/>
          <a:ln/>
        </p:spPr>
        <p:txBody>
          <a:bodyPr wrap="square" lIns="0" tIns="0" rIns="0" bIns="0" rtlCol="0" anchor="t"/>
          <a:lstStyle/>
          <a:p>
            <a:pPr algn="ctr" indent="0" marL="0">
              <a:lnSpc>
                <a:spcPts val="1155"/>
              </a:lnSpc>
              <a:buNone/>
            </a:pPr>
            <a:r>
              <a:rPr lang="en-US" sz="825" dirty="0">
                <a:solidFill>
                  <a:srgbClr val="FFFFFF"/>
                </a:solidFill>
                <a:latin typeface="Arial" pitchFamily="34" charset="0"/>
                <a:ea typeface="Arial" pitchFamily="34" charset="-122"/>
                <a:cs typeface="Arial" pitchFamily="34" charset="-120"/>
              </a:rPr>
              <a:t>Market need for governance infrastructure is acute</a:t>
            </a:r>
            <a:endParaRPr lang="en-US" sz="825" dirty="0"/>
          </a:p>
        </p:txBody>
      </p:sp>
      <p:sp>
        <p:nvSpPr>
          <p:cNvPr id="12" name="Text 10"/>
          <p:cNvSpPr/>
          <p:nvPr/>
        </p:nvSpPr>
        <p:spPr>
          <a:xfrm>
            <a:off x="5997814" y="3691682"/>
            <a:ext cx="1696114" cy="293191"/>
          </a:xfrm>
          <a:prstGeom prst="rect">
            <a:avLst/>
          </a:prstGeom>
          <a:noFill/>
          <a:ln/>
        </p:spPr>
        <p:txBody>
          <a:bodyPr wrap="square" lIns="0" tIns="0" rIns="0" bIns="0" rtlCol="0" anchor="t"/>
          <a:lstStyle/>
          <a:p>
            <a:pPr algn="ctr" indent="0" marL="0">
              <a:lnSpc>
                <a:spcPts val="1155"/>
              </a:lnSpc>
              <a:buNone/>
            </a:pPr>
            <a:r>
              <a:rPr lang="en-US" sz="825" dirty="0">
                <a:solidFill>
                  <a:srgbClr val="FFFFFF"/>
                </a:solidFill>
                <a:latin typeface="Arial" pitchFamily="34" charset="0"/>
                <a:ea typeface="Arial" pitchFamily="34" charset="-122"/>
                <a:cs typeface="Arial" pitchFamily="34" charset="-120"/>
              </a:rPr>
              <a:t>Category crystallizing as essential infrastructure</a:t>
            </a:r>
            <a:endParaRPr lang="en-US" sz="825" dirty="0"/>
          </a:p>
        </p:txBody>
      </p:sp>
      <p:sp>
        <p:nvSpPr>
          <p:cNvPr id="13" name="Text 11"/>
          <p:cNvSpPr/>
          <p:nvPr/>
        </p:nvSpPr>
        <p:spPr>
          <a:xfrm>
            <a:off x="8733234" y="4743450"/>
            <a:ext cx="108085" cy="133350"/>
          </a:xfrm>
          <a:prstGeom prst="rect">
            <a:avLst/>
          </a:prstGeom>
          <a:noFill/>
          <a:ln/>
        </p:spPr>
        <p:txBody>
          <a:bodyPr wrap="square" lIns="0" tIns="0" rIns="0" bIns="0" rtlCol="0" anchor="t"/>
          <a:lstStyle/>
          <a:p>
            <a:pPr algn="l" indent="0" marL="0">
              <a:lnSpc>
                <a:spcPts val="1050"/>
              </a:lnSpc>
              <a:buNone/>
            </a:pPr>
            <a:r>
              <a:rPr lang="en-US" sz="750" dirty="0">
                <a:solidFill>
                  <a:srgbClr val="FFFFFF"/>
                </a:solidFill>
                <a:latin typeface="Arial" pitchFamily="34" charset="0"/>
                <a:ea typeface="Arial" pitchFamily="34" charset="-122"/>
                <a:cs typeface="Arial" pitchFamily="34" charset="-120"/>
              </a:rPr>
              <a:t>15</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Helm - Executive Agent for Service Leaders</dc:title>
  <dc:subject>Seed Extension Round - January 2026</dc:subject>
  <dc:creator>Synaptic Era</dc:creator>
  <cp:lastModifiedBy>Synaptic Era</cp:lastModifiedBy>
  <cp:revision>1</cp:revision>
  <dcterms:created xsi:type="dcterms:W3CDTF">2026-01-06T00:41:15Z</dcterms:created>
  <dcterms:modified xsi:type="dcterms:W3CDTF">2026-01-06T00:41:15Z</dcterms:modified>
</cp:coreProperties>
</file>