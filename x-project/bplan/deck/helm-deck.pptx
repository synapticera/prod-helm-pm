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Helm by Synaptic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1A9DB"/>
                </a:solidFill>
              </a:rPr>
              <a:t>Executive Agent for Service Leaders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Give service leaders the insight and control they need to evolve their operations with confidence and impact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The AI Agent Explosion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Market Inflection &amp; Customer Service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AI agents entering every business process: $640B+ opportunity emerging (Gartner 2026)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Service leaders face the most complex deployment challenge: orchestrating agents across Salesforce, Microsoft, SAP, custom systems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Salesforce Service Cloud: 70K+ customers, $9B in revenue (~$125K ACV), massive installed base ready for agent governance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Customer pain: "How do I design agents? Control them? Measure ROI? How do I govern them?"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The AI Deployment Crisis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Why 90% of Agent Investments Fail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Agents designed in silos without understanding customer context or operational impact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No orchestration layer: agents create chaos, contradictory decisions, poor customer experience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Black-box governance: impossible to understand why agents made decisions, audit for compliance, or correct course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No learning mechanism: each agent is a standalone project, no continuous improvement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Result: 7-10x cost overrun, 18-24 month delays, 70% of projects abandoned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Market Evolution &amp; Category Leadership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Establishing "Executive Agent" as the Dominant Category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Gartner 2026: Decision Intelligence #1 on AI Hype Cycle (moving into mainstream adoption)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Analyst consensus: Service leaders will buy an orchestration + governance layer first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"Executive Agent" category emerging: distinct from process automation or low-code platforms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First-mover advantage: establish brand, shape market definition, lock in customers before category saturation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Helm's Unique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Four-Module Journey from Discovery to Continuous Improvement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Helm.Explore: Understand your current operations and data without integrations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Helm.Mine: Design agents with context-aware intelligence and decision visibility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Helm.Manage: Deploy agents with governance, audit trails, and compliance controls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Helm.Improve: Continuous learning from cross-customer benchmarks and outcomes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Four-Module Monetization Journey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Use Case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Unit Economics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Explore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Data audit &amp; agent design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$30-50K per engagement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Mine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Agent design &amp; optimization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$75-150K per implementation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Manage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Governance, audit, deployment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$100-250K annually per org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Improve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Fleet learning &amp; benchmarking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$50-100K annually per org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The Unfair 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Four Defensible Moats in an Emerging Category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828800" cy="73152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AI-Native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</a:rPr>
              <a:t>Built for agents from day one, not bolted-on legacy tech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1828800" cy="73152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Independence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</a:rPr>
              <a:t>Works across Salesforce, Microsoft, SAP, custom systems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1828800" cy="73152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Data 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</a:rPr>
              <a:t>Fleet learning from peer benchmarks drives continuous improvement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463040"/>
            <a:ext cx="1828800" cy="73152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First-Mover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</a:rPr>
              <a:t>Establish brand leadership before category saturation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5-Year Financial Trajectory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Avg. Customer Value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2026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$2.5M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8-12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$210K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2027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$12M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35-50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$280K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2028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$35M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85-110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$350K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2029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$70M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150-200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$400K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2030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$120M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250-300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$425K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Unit Economics &amp; Path to Profitability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57400"/>
                <a:gridCol w="205740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7253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CAC (blended)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$35K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$28K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$22K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LTV (Year 5)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$850K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$1.2M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$1.5M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LTV:CAC Ratio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24:1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43:1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68:1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Payback Period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18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14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11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Gross Margin 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65%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72%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</a:rPr>
                        <a:t>78%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Three-Phase Market Expansion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Go-to-Market Strategy: Vertical Specialization Then Horizontal Scaling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1: Beachhead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(2026-2027)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Salesforce Service Cloud customers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Vertical: Fortune 1000 in Financial Services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Land &amp; expand within installed 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1463040"/>
            <a:ext cx="2560320" cy="54864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2: Multi-Cloud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(2027-2028)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21031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Microsoft Dynamics + custom CRM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Expand to mid-market (500-2000 employees)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Cross-vertical momentum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2560320" cy="54864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3: Horizontal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(2028+)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Enterprise and SMB horizontally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New verticals: Healthcare, Retail, Manufacturing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Market leadership position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Expansion &amp; Retention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Driving Revenue Growth and Defensibility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Module expansion within existing customers (Explore → Mine → Manage → Improve)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Seat expansion and organizational scaling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Data Network Effects: customers benefit from benchmarks and learnings from peer fleet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High NPS &amp; retention: solving mission-critical problem with measurable ROI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Expected NRR: 140-160% by Year 3 (strong land-and-expand economics)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Traction &amp; Early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4100"/>
                </a:solidFill>
              </a:rPr>
              <a:t>[To fill in with current metrics]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MVP status • Beta users/pilots • Signups/waitlist • Early revenue/LOIs • Customer testimonials • Case studies • Usage metrics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Product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4100"/>
                </a:solidFill>
              </a:rPr>
              <a:t>[To fill in with quarterly capabilities]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Q1 2026 • Q2-Q3 2026 • Q4 2026-Q2 2027 • 2027+ long-term vision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53D"/>
                </a:solidFill>
              </a:rPr>
              <a:t>The 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4100"/>
                </a:solidFill>
              </a:rPr>
              <a:t>[To fill in with funding details]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Funding amount • Round structure • Use of funds • Key milestones • Runway • Series A timing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1A9DB"/>
                </a:solidFill>
              </a:rPr>
              <a:t>Long-Term Vision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Establish Helm as the dominant "Executive Agent" platform, enabling service leaders globally to orchestrate AI with confidence, governance, and continuous improvement.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A9DB"/>
                </a:solidFill>
              </a:rPr>
              <a:t>helmbysynaptic.com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2026-01-05T23:55:50Z</dcterms:created>
  <dcterms:modified xsi:type="dcterms:W3CDTF">2026-01-05T23:55:50Z</dcterms:modified>
</cp:coreProperties>
</file>